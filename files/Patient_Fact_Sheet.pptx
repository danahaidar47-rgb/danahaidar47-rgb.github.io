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9181"/>
    <p:restoredTop sz="94610"/>
  </p:normalViewPr>
  <p:slideViewPr>
    <p:cSldViewPr snapToGrid="0" snapToObjects="1">
      <p:cViewPr>
        <p:scale>
          <a:sx n="123" d="100"/>
          <a:sy n="123" d="100"/>
        </p:scale>
        <p:origin x="624" y="10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4572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3D30"/>
        </a:solidFill>
        <a:effectLst/>
      </p:bgPr>
    </p:bg>
    <p:spTree>
      <p:nvGrpSpPr>
        <p:cNvPr id="1" name=""/>
        <p:cNvGrpSpPr/>
        <p:nvPr/>
      </p:nvGrpSpPr>
      <p:grpSpPr>
        <a:xfrm>
          <a:off x="0" y="0"/>
          <a:ext cx="0" cy="0"/>
          <a:chOff x="0" y="0"/>
          <a:chExt cx="0" cy="0"/>
        </a:xfrm>
      </p:grpSpPr>
      <p:sp>
        <p:nvSpPr>
          <p:cNvPr id="6" name="Text 4"/>
          <p:cNvSpPr/>
          <p:nvPr/>
        </p:nvSpPr>
        <p:spPr>
          <a:xfrm>
            <a:off x="548640" y="457200"/>
            <a:ext cx="7315200" cy="228600"/>
          </a:xfrm>
          <a:prstGeom prst="rect">
            <a:avLst/>
          </a:prstGeom>
          <a:noFill/>
          <a:ln/>
        </p:spPr>
        <p:txBody>
          <a:bodyPr wrap="square" lIns="0" tIns="0" rIns="0" bIns="0" rtlCol="0" anchor="ctr"/>
          <a:lstStyle/>
          <a:p>
            <a:pPr marL="0" indent="0" algn="l">
              <a:buNone/>
            </a:pPr>
            <a:r>
              <a:rPr lang="en-US" sz="850" b="1" kern="0" spc="200" dirty="0">
                <a:solidFill>
                  <a:srgbClr val="7BBFAA"/>
                </a:solidFill>
                <a:latin typeface="Calibri" pitchFamily="34" charset="0"/>
                <a:ea typeface="Calibri" pitchFamily="34" charset="-122"/>
                <a:cs typeface="Calibri" pitchFamily="34" charset="-120"/>
              </a:rPr>
              <a:t>KNOWLEDGE MOBILIZATION TOOLKIT</a:t>
            </a:r>
            <a:endParaRPr lang="en-US" sz="850" dirty="0"/>
          </a:p>
        </p:txBody>
      </p:sp>
      <p:sp>
        <p:nvSpPr>
          <p:cNvPr id="7" name="Text 5"/>
          <p:cNvSpPr/>
          <p:nvPr/>
        </p:nvSpPr>
        <p:spPr>
          <a:xfrm>
            <a:off x="548640" y="804672"/>
            <a:ext cx="7132320" cy="1737360"/>
          </a:xfrm>
          <a:prstGeom prst="rect">
            <a:avLst/>
          </a:prstGeom>
          <a:noFill/>
          <a:ln/>
        </p:spPr>
        <p:txBody>
          <a:bodyPr wrap="square" lIns="0" tIns="0" rIns="0" bIns="0" rtlCol="0" anchor="ctr"/>
          <a:lstStyle/>
          <a:p>
            <a:pPr marL="0" indent="0" algn="l">
              <a:buNone/>
            </a:pPr>
            <a:r>
              <a:rPr lang="en-US" sz="3800" b="1" dirty="0">
                <a:solidFill>
                  <a:srgbClr val="FFFFFF"/>
                </a:solidFill>
                <a:latin typeface="Georgia" pitchFamily="34" charset="0"/>
                <a:ea typeface="Georgia" pitchFamily="34" charset="-122"/>
                <a:cs typeface="Georgia" pitchFamily="34" charset="-120"/>
              </a:rPr>
              <a:t>Patient Fact Sheet:</a:t>
            </a:r>
            <a:endParaRPr lang="en-US" sz="3800" dirty="0"/>
          </a:p>
          <a:p>
            <a:pPr marL="0" indent="0" algn="l">
              <a:buNone/>
            </a:pPr>
            <a:r>
              <a:rPr lang="en-US" sz="3800" b="1" dirty="0">
                <a:solidFill>
                  <a:srgbClr val="FFFFFF"/>
                </a:solidFill>
                <a:latin typeface="Georgia" pitchFamily="34" charset="0"/>
                <a:ea typeface="Georgia" pitchFamily="34" charset="-122"/>
                <a:cs typeface="Georgia" pitchFamily="34" charset="-120"/>
              </a:rPr>
              <a:t>Ovarian Cancer Detection</a:t>
            </a:r>
            <a:endParaRPr lang="en-US" sz="3800" dirty="0"/>
          </a:p>
        </p:txBody>
      </p:sp>
      <p:sp>
        <p:nvSpPr>
          <p:cNvPr id="8" name="Text 6"/>
          <p:cNvSpPr/>
          <p:nvPr/>
        </p:nvSpPr>
        <p:spPr>
          <a:xfrm>
            <a:off x="548640" y="2633472"/>
            <a:ext cx="7315200" cy="548640"/>
          </a:xfrm>
          <a:prstGeom prst="rect">
            <a:avLst/>
          </a:prstGeom>
          <a:noFill/>
          <a:ln/>
        </p:spPr>
        <p:txBody>
          <a:bodyPr wrap="square" lIns="0" tIns="0" rIns="0" bIns="0" rtlCol="0" anchor="ctr"/>
          <a:lstStyle/>
          <a:p>
            <a:pPr marL="0" indent="0" algn="l">
              <a:buNone/>
            </a:pPr>
            <a:r>
              <a:rPr lang="en-US" sz="1300" dirty="0">
                <a:solidFill>
                  <a:srgbClr val="A8D9C8"/>
                </a:solidFill>
                <a:latin typeface="Calibri" pitchFamily="34" charset="0"/>
                <a:ea typeface="Calibri" pitchFamily="34" charset="-122"/>
                <a:cs typeface="Calibri" pitchFamily="34" charset="-120"/>
              </a:rPr>
              <a:t>What every woman should know about screening, the Pap test, symptoms, and when to seek care</a:t>
            </a:r>
            <a:endParaRPr lang="en-US" sz="1300" dirty="0"/>
          </a:p>
        </p:txBody>
      </p:sp>
      <p:sp>
        <p:nvSpPr>
          <p:cNvPr id="9" name="Shape 7"/>
          <p:cNvSpPr/>
          <p:nvPr/>
        </p:nvSpPr>
        <p:spPr>
          <a:xfrm>
            <a:off x="548640" y="3291840"/>
            <a:ext cx="1463040" cy="36576"/>
          </a:xfrm>
          <a:prstGeom prst="rect">
            <a:avLst/>
          </a:prstGeom>
          <a:solidFill>
            <a:srgbClr val="1D9E75"/>
          </a:solidFill>
          <a:ln w="12700">
            <a:solidFill>
              <a:srgbClr val="1D9E75"/>
            </a:solidFill>
            <a:prstDash val="solid"/>
          </a:ln>
        </p:spPr>
        <p:txBody>
          <a:bodyPr/>
          <a:lstStyle/>
          <a:p>
            <a:endParaRPr lang="en-US"/>
          </a:p>
        </p:txBody>
      </p:sp>
      <p:sp>
        <p:nvSpPr>
          <p:cNvPr id="10" name="Shape 8"/>
          <p:cNvSpPr/>
          <p:nvPr/>
        </p:nvSpPr>
        <p:spPr>
          <a:xfrm>
            <a:off x="548640" y="3493008"/>
            <a:ext cx="2697480" cy="365760"/>
          </a:xfrm>
          <a:prstGeom prst="rect">
            <a:avLst/>
          </a:prstGeom>
          <a:solidFill>
            <a:srgbClr val="0A5C46"/>
          </a:solidFill>
          <a:ln w="12700">
            <a:solidFill>
              <a:srgbClr val="0A5C46"/>
            </a:solidFill>
            <a:prstDash val="solid"/>
          </a:ln>
        </p:spPr>
        <p:txBody>
          <a:bodyPr/>
          <a:lstStyle/>
          <a:p>
            <a:endParaRPr lang="en-US"/>
          </a:p>
        </p:txBody>
      </p:sp>
      <p:sp>
        <p:nvSpPr>
          <p:cNvPr id="11" name="Text 9"/>
          <p:cNvSpPr/>
          <p:nvPr/>
        </p:nvSpPr>
        <p:spPr>
          <a:xfrm>
            <a:off x="548640" y="3493008"/>
            <a:ext cx="2697480" cy="365760"/>
          </a:xfrm>
          <a:prstGeom prst="rect">
            <a:avLst/>
          </a:prstGeom>
          <a:noFill/>
          <a:ln/>
        </p:spPr>
        <p:txBody>
          <a:bodyPr wrap="square" lIns="0" tIns="0" rIns="0" bIns="0" rtlCol="0" anchor="ctr"/>
          <a:lstStyle/>
          <a:p>
            <a:pPr marL="0" indent="0" algn="ctr">
              <a:buNone/>
            </a:pPr>
            <a:r>
              <a:rPr lang="en-US" sz="1000" dirty="0">
                <a:solidFill>
                  <a:srgbClr val="A8D9C8"/>
                </a:solidFill>
                <a:latin typeface="Calibri" pitchFamily="34" charset="0"/>
                <a:ea typeface="Calibri" pitchFamily="34" charset="-122"/>
                <a:cs typeface="Calibri" pitchFamily="34" charset="-120"/>
              </a:rPr>
              <a:t>1. What the Pap test screens for</a:t>
            </a:r>
            <a:endParaRPr lang="en-US" sz="1000" dirty="0"/>
          </a:p>
        </p:txBody>
      </p:sp>
      <p:sp>
        <p:nvSpPr>
          <p:cNvPr id="12" name="Shape 10"/>
          <p:cNvSpPr/>
          <p:nvPr/>
        </p:nvSpPr>
        <p:spPr>
          <a:xfrm>
            <a:off x="3401568" y="3493008"/>
            <a:ext cx="2697480" cy="365760"/>
          </a:xfrm>
          <a:prstGeom prst="rect">
            <a:avLst/>
          </a:prstGeom>
          <a:solidFill>
            <a:srgbClr val="0A5C46"/>
          </a:solidFill>
          <a:ln w="12700">
            <a:solidFill>
              <a:srgbClr val="0A5C46"/>
            </a:solidFill>
            <a:prstDash val="solid"/>
          </a:ln>
        </p:spPr>
        <p:txBody>
          <a:bodyPr/>
          <a:lstStyle/>
          <a:p>
            <a:endParaRPr lang="en-US"/>
          </a:p>
        </p:txBody>
      </p:sp>
      <p:sp>
        <p:nvSpPr>
          <p:cNvPr id="13" name="Text 11"/>
          <p:cNvSpPr/>
          <p:nvPr/>
        </p:nvSpPr>
        <p:spPr>
          <a:xfrm>
            <a:off x="3401568" y="3493008"/>
            <a:ext cx="2697480" cy="365760"/>
          </a:xfrm>
          <a:prstGeom prst="rect">
            <a:avLst/>
          </a:prstGeom>
          <a:noFill/>
          <a:ln/>
        </p:spPr>
        <p:txBody>
          <a:bodyPr wrap="square" lIns="0" tIns="0" rIns="0" bIns="0" rtlCol="0" anchor="ctr"/>
          <a:lstStyle/>
          <a:p>
            <a:pPr marL="0" indent="0" algn="ctr">
              <a:buNone/>
            </a:pPr>
            <a:r>
              <a:rPr lang="en-US" sz="1000" dirty="0">
                <a:solidFill>
                  <a:srgbClr val="A8D9C8"/>
                </a:solidFill>
                <a:latin typeface="Calibri" pitchFamily="34" charset="0"/>
                <a:ea typeface="Calibri" pitchFamily="34" charset="-122"/>
                <a:cs typeface="Calibri" pitchFamily="34" charset="-120"/>
              </a:rPr>
              <a:t>2. No routine ovarian screening</a:t>
            </a:r>
            <a:endParaRPr lang="en-US" sz="1000" dirty="0"/>
          </a:p>
        </p:txBody>
      </p:sp>
      <p:sp>
        <p:nvSpPr>
          <p:cNvPr id="14" name="Shape 12"/>
          <p:cNvSpPr/>
          <p:nvPr/>
        </p:nvSpPr>
        <p:spPr>
          <a:xfrm>
            <a:off x="6254496" y="3493008"/>
            <a:ext cx="2697480" cy="365760"/>
          </a:xfrm>
          <a:prstGeom prst="rect">
            <a:avLst/>
          </a:prstGeom>
          <a:solidFill>
            <a:srgbClr val="0A5C46"/>
          </a:solidFill>
          <a:ln w="12700">
            <a:solidFill>
              <a:srgbClr val="0A5C46"/>
            </a:solidFill>
            <a:prstDash val="solid"/>
          </a:ln>
        </p:spPr>
        <p:txBody>
          <a:bodyPr/>
          <a:lstStyle/>
          <a:p>
            <a:endParaRPr lang="en-US"/>
          </a:p>
        </p:txBody>
      </p:sp>
      <p:sp>
        <p:nvSpPr>
          <p:cNvPr id="15" name="Text 13"/>
          <p:cNvSpPr/>
          <p:nvPr/>
        </p:nvSpPr>
        <p:spPr>
          <a:xfrm>
            <a:off x="6254496" y="3493008"/>
            <a:ext cx="2697480" cy="365760"/>
          </a:xfrm>
          <a:prstGeom prst="rect">
            <a:avLst/>
          </a:prstGeom>
          <a:noFill/>
          <a:ln/>
        </p:spPr>
        <p:txBody>
          <a:bodyPr wrap="square" lIns="0" tIns="0" rIns="0" bIns="0" rtlCol="0" anchor="ctr"/>
          <a:lstStyle/>
          <a:p>
            <a:pPr marL="0" indent="0" algn="ctr">
              <a:buNone/>
            </a:pPr>
            <a:r>
              <a:rPr lang="en-US" sz="1000" dirty="0">
                <a:solidFill>
                  <a:srgbClr val="A8D9C8"/>
                </a:solidFill>
                <a:latin typeface="Calibri" pitchFamily="34" charset="0"/>
                <a:ea typeface="Calibri" pitchFamily="34" charset="-122"/>
                <a:cs typeface="Calibri" pitchFamily="34" charset="-120"/>
              </a:rPr>
              <a:t>3. How detection works</a:t>
            </a:r>
            <a:endParaRPr lang="en-US" sz="1000" dirty="0"/>
          </a:p>
        </p:txBody>
      </p:sp>
      <p:sp>
        <p:nvSpPr>
          <p:cNvPr id="16" name="Shape 14"/>
          <p:cNvSpPr/>
          <p:nvPr/>
        </p:nvSpPr>
        <p:spPr>
          <a:xfrm>
            <a:off x="548640" y="3968496"/>
            <a:ext cx="2697480" cy="365760"/>
          </a:xfrm>
          <a:prstGeom prst="rect">
            <a:avLst/>
          </a:prstGeom>
          <a:solidFill>
            <a:srgbClr val="0A5C46"/>
          </a:solidFill>
          <a:ln w="12700">
            <a:solidFill>
              <a:srgbClr val="0A5C46"/>
            </a:solidFill>
            <a:prstDash val="solid"/>
          </a:ln>
        </p:spPr>
        <p:txBody>
          <a:bodyPr/>
          <a:lstStyle/>
          <a:p>
            <a:endParaRPr lang="en-US"/>
          </a:p>
        </p:txBody>
      </p:sp>
      <p:sp>
        <p:nvSpPr>
          <p:cNvPr id="17" name="Text 15"/>
          <p:cNvSpPr/>
          <p:nvPr/>
        </p:nvSpPr>
        <p:spPr>
          <a:xfrm>
            <a:off x="548640" y="3968496"/>
            <a:ext cx="2697480" cy="365760"/>
          </a:xfrm>
          <a:prstGeom prst="rect">
            <a:avLst/>
          </a:prstGeom>
          <a:noFill/>
          <a:ln/>
        </p:spPr>
        <p:txBody>
          <a:bodyPr wrap="square" lIns="0" tIns="0" rIns="0" bIns="0" rtlCol="0" anchor="ctr"/>
          <a:lstStyle/>
          <a:p>
            <a:pPr marL="0" indent="0" algn="ctr">
              <a:buNone/>
            </a:pPr>
            <a:r>
              <a:rPr lang="en-US" sz="1000" dirty="0">
                <a:solidFill>
                  <a:srgbClr val="A8D9C8"/>
                </a:solidFill>
                <a:latin typeface="Calibri" pitchFamily="34" charset="0"/>
                <a:ea typeface="Calibri" pitchFamily="34" charset="-122"/>
                <a:cs typeface="Calibri" pitchFamily="34" charset="-120"/>
              </a:rPr>
              <a:t>4. Symptoms to watch for</a:t>
            </a:r>
            <a:endParaRPr lang="en-US" sz="1000" dirty="0"/>
          </a:p>
        </p:txBody>
      </p:sp>
      <p:sp>
        <p:nvSpPr>
          <p:cNvPr id="18" name="Shape 16"/>
          <p:cNvSpPr/>
          <p:nvPr/>
        </p:nvSpPr>
        <p:spPr>
          <a:xfrm>
            <a:off x="3401568" y="3968496"/>
            <a:ext cx="2697480" cy="365760"/>
          </a:xfrm>
          <a:prstGeom prst="rect">
            <a:avLst/>
          </a:prstGeom>
          <a:solidFill>
            <a:srgbClr val="0A5C46"/>
          </a:solidFill>
          <a:ln w="12700">
            <a:solidFill>
              <a:srgbClr val="0A5C46"/>
            </a:solidFill>
            <a:prstDash val="solid"/>
          </a:ln>
        </p:spPr>
        <p:txBody>
          <a:bodyPr/>
          <a:lstStyle/>
          <a:p>
            <a:endParaRPr lang="en-US"/>
          </a:p>
        </p:txBody>
      </p:sp>
      <p:sp>
        <p:nvSpPr>
          <p:cNvPr id="19" name="Text 17"/>
          <p:cNvSpPr/>
          <p:nvPr/>
        </p:nvSpPr>
        <p:spPr>
          <a:xfrm>
            <a:off x="3401568" y="3968496"/>
            <a:ext cx="2697480" cy="365760"/>
          </a:xfrm>
          <a:prstGeom prst="rect">
            <a:avLst/>
          </a:prstGeom>
          <a:noFill/>
          <a:ln/>
        </p:spPr>
        <p:txBody>
          <a:bodyPr wrap="square" lIns="0" tIns="0" rIns="0" bIns="0" rtlCol="0" anchor="ctr"/>
          <a:lstStyle/>
          <a:p>
            <a:pPr marL="0" indent="0" algn="ctr">
              <a:buNone/>
            </a:pPr>
            <a:r>
              <a:rPr lang="en-US" sz="1000" dirty="0">
                <a:solidFill>
                  <a:srgbClr val="A8D9C8"/>
                </a:solidFill>
                <a:latin typeface="Calibri" pitchFamily="34" charset="0"/>
                <a:ea typeface="Calibri" pitchFamily="34" charset="-122"/>
                <a:cs typeface="Calibri" pitchFamily="34" charset="-120"/>
              </a:rPr>
              <a:t>5. What to say to your doctor</a:t>
            </a:r>
            <a:endParaRPr lang="en-US" sz="1000" dirty="0"/>
          </a:p>
        </p:txBody>
      </p:sp>
      <p:sp>
        <p:nvSpPr>
          <p:cNvPr id="20" name="Shape 18"/>
          <p:cNvSpPr/>
          <p:nvPr/>
        </p:nvSpPr>
        <p:spPr>
          <a:xfrm>
            <a:off x="6254496" y="3968496"/>
            <a:ext cx="2697480" cy="365760"/>
          </a:xfrm>
          <a:prstGeom prst="rect">
            <a:avLst/>
          </a:prstGeom>
          <a:solidFill>
            <a:srgbClr val="0A5C46"/>
          </a:solidFill>
          <a:ln w="12700">
            <a:solidFill>
              <a:srgbClr val="0A5C46"/>
            </a:solidFill>
            <a:prstDash val="solid"/>
          </a:ln>
        </p:spPr>
        <p:txBody>
          <a:bodyPr/>
          <a:lstStyle/>
          <a:p>
            <a:endParaRPr lang="en-US"/>
          </a:p>
        </p:txBody>
      </p:sp>
      <p:sp>
        <p:nvSpPr>
          <p:cNvPr id="21" name="Text 19"/>
          <p:cNvSpPr/>
          <p:nvPr/>
        </p:nvSpPr>
        <p:spPr>
          <a:xfrm>
            <a:off x="6254496" y="3968496"/>
            <a:ext cx="2697480" cy="365760"/>
          </a:xfrm>
          <a:prstGeom prst="rect">
            <a:avLst/>
          </a:prstGeom>
          <a:noFill/>
          <a:ln/>
        </p:spPr>
        <p:txBody>
          <a:bodyPr wrap="square" lIns="0" tIns="0" rIns="0" bIns="0" rtlCol="0" anchor="ctr"/>
          <a:lstStyle/>
          <a:p>
            <a:pPr marL="0" indent="0" algn="ctr">
              <a:buNone/>
            </a:pPr>
            <a:r>
              <a:rPr lang="en-US" sz="1000" dirty="0">
                <a:solidFill>
                  <a:srgbClr val="A8D9C8"/>
                </a:solidFill>
                <a:latin typeface="Calibri" pitchFamily="34" charset="0"/>
                <a:ea typeface="Calibri" pitchFamily="34" charset="-122"/>
                <a:cs typeface="Calibri" pitchFamily="34" charset="-120"/>
              </a:rPr>
              <a:t>6. Higher risk factors</a:t>
            </a:r>
            <a:endParaRPr lang="en-US" sz="1000" dirty="0"/>
          </a:p>
        </p:txBody>
      </p:sp>
      <p:sp>
        <p:nvSpPr>
          <p:cNvPr id="22" name="Text 20"/>
          <p:cNvSpPr/>
          <p:nvPr/>
        </p:nvSpPr>
        <p:spPr>
          <a:xfrm>
            <a:off x="548640" y="4773168"/>
            <a:ext cx="8046720" cy="201168"/>
          </a:xfrm>
          <a:prstGeom prst="rect">
            <a:avLst/>
          </a:prstGeom>
          <a:noFill/>
          <a:ln/>
        </p:spPr>
        <p:txBody>
          <a:bodyPr wrap="square" lIns="0" tIns="0" rIns="0" bIns="0" rtlCol="0" anchor="ctr"/>
          <a:lstStyle/>
          <a:p>
            <a:r>
              <a:rPr lang="en-CA" sz="800" dirty="0">
                <a:solidFill>
                  <a:schemeClr val="bg1"/>
                </a:solidFill>
              </a:rPr>
              <a:t>This fact sheet is based on reliable sources, including the American College of Obstetricians and Gynecologists (ACOG), the National Institute for Health and Care Excellence (NICE), and a 2026 scoping review of ovarian cancer detection communication.</a:t>
            </a:r>
            <a:endParaRPr lang="en-US" sz="8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91440"/>
            <a:ext cx="8412480" cy="201168"/>
          </a:xfrm>
          <a:prstGeom prst="rect">
            <a:avLst/>
          </a:prstGeom>
          <a:noFill/>
          <a:ln/>
        </p:spPr>
        <p:txBody>
          <a:bodyPr wrap="square" lIns="0" tIns="0" rIns="0" bIns="0" rtlCol="0" anchor="ctr"/>
          <a:lstStyle/>
          <a:p>
            <a:pPr marL="0" indent="0" algn="l">
              <a:buNone/>
            </a:pPr>
            <a:r>
              <a:rPr lang="en-US" sz="800" dirty="0">
                <a:solidFill>
                  <a:srgbClr val="4A6B60"/>
                </a:solidFill>
                <a:latin typeface="Calibri" pitchFamily="34" charset="0"/>
                <a:ea typeface="Calibri" pitchFamily="34" charset="-122"/>
                <a:cs typeface="Calibri" pitchFamily="34" charset="-120"/>
              </a:rPr>
              <a:t>SECTION 1 -- What the Pap test actually screens for</a:t>
            </a:r>
            <a:endParaRPr lang="en-US" sz="800" dirty="0"/>
          </a:p>
        </p:txBody>
      </p:sp>
      <p:sp>
        <p:nvSpPr>
          <p:cNvPr id="3" name="Shape 1"/>
          <p:cNvSpPr/>
          <p:nvPr/>
        </p:nvSpPr>
        <p:spPr>
          <a:xfrm>
            <a:off x="0" y="0"/>
            <a:ext cx="9144000" cy="1332411"/>
          </a:xfrm>
          <a:prstGeom prst="rect">
            <a:avLst/>
          </a:prstGeom>
          <a:solidFill>
            <a:srgbClr val="0A5C46"/>
          </a:solidFill>
          <a:ln w="12700">
            <a:solidFill>
              <a:srgbClr val="0A5C46"/>
            </a:solidFill>
            <a:prstDash val="solid"/>
          </a:ln>
        </p:spPr>
        <p:txBody>
          <a:bodyPr/>
          <a:lstStyle/>
          <a:p>
            <a:endParaRPr lang="en-US"/>
          </a:p>
        </p:txBody>
      </p:sp>
      <p:sp>
        <p:nvSpPr>
          <p:cNvPr id="4" name="Text 2"/>
          <p:cNvSpPr/>
          <p:nvPr/>
        </p:nvSpPr>
        <p:spPr>
          <a:xfrm>
            <a:off x="411480" y="137160"/>
            <a:ext cx="3657600" cy="201168"/>
          </a:xfrm>
          <a:prstGeom prst="rect">
            <a:avLst/>
          </a:prstGeom>
          <a:noFill/>
          <a:ln/>
        </p:spPr>
        <p:txBody>
          <a:bodyPr wrap="square" lIns="0" tIns="0" rIns="0" bIns="0" rtlCol="0" anchor="ctr"/>
          <a:lstStyle/>
          <a:p>
            <a:pPr marL="0" indent="0" algn="l">
              <a:buNone/>
            </a:pPr>
            <a:r>
              <a:rPr lang="en-US" sz="800" b="1" kern="0" spc="100" dirty="0">
                <a:solidFill>
                  <a:srgbClr val="7BBFAA"/>
                </a:solidFill>
                <a:latin typeface="Calibri" pitchFamily="34" charset="0"/>
                <a:ea typeface="Calibri" pitchFamily="34" charset="-122"/>
                <a:cs typeface="Calibri" pitchFamily="34" charset="-120"/>
              </a:rPr>
              <a:t>SECTION 1</a:t>
            </a:r>
            <a:endParaRPr lang="en-US" sz="800" dirty="0"/>
          </a:p>
        </p:txBody>
      </p:sp>
      <p:sp>
        <p:nvSpPr>
          <p:cNvPr id="5" name="Text 3"/>
          <p:cNvSpPr/>
          <p:nvPr/>
        </p:nvSpPr>
        <p:spPr>
          <a:xfrm>
            <a:off x="411480" y="365760"/>
            <a:ext cx="8321040" cy="68580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What does the Pap test actually screen for?</a:t>
            </a:r>
            <a:endParaRPr lang="en-US" sz="2600" dirty="0"/>
          </a:p>
        </p:txBody>
      </p:sp>
      <p:sp>
        <p:nvSpPr>
          <p:cNvPr id="6" name="Text 4"/>
          <p:cNvSpPr/>
          <p:nvPr/>
        </p:nvSpPr>
        <p:spPr>
          <a:xfrm>
            <a:off x="411480" y="1389888"/>
            <a:ext cx="8321040" cy="502920"/>
          </a:xfrm>
          <a:prstGeom prst="rect">
            <a:avLst/>
          </a:prstGeom>
          <a:noFill/>
          <a:ln/>
        </p:spPr>
        <p:txBody>
          <a:bodyPr wrap="square" lIns="0" tIns="0" rIns="0" bIns="0" rtlCol="0" anchor="ctr"/>
          <a:lstStyle/>
          <a:p>
            <a:r>
              <a:rPr lang="en-US" sz="1300" dirty="0">
                <a:latin typeface="Calibri" pitchFamily="34" charset="0"/>
                <a:ea typeface="Calibri" pitchFamily="34" charset="-122"/>
                <a:cs typeface="Calibri" pitchFamily="34" charset="-120"/>
              </a:rPr>
              <a:t>A Pap test takes a small sample of cells from the cervix (the lower part of the uterus). It looks for changes that could turn into cervical cancer. It is a strong, proven test for cervical cancer.</a:t>
            </a:r>
            <a:endParaRPr lang="en-US" sz="1300" dirty="0"/>
          </a:p>
        </p:txBody>
      </p:sp>
      <p:sp>
        <p:nvSpPr>
          <p:cNvPr id="7" name="Text 5"/>
          <p:cNvSpPr/>
          <p:nvPr/>
        </p:nvSpPr>
        <p:spPr>
          <a:xfrm>
            <a:off x="411480" y="1938528"/>
            <a:ext cx="8321040" cy="594360"/>
          </a:xfrm>
          <a:prstGeom prst="rect">
            <a:avLst/>
          </a:prstGeom>
          <a:noFill/>
          <a:ln/>
        </p:spPr>
        <p:txBody>
          <a:bodyPr wrap="square" lIns="0" tIns="0" rIns="0" bIns="0" rtlCol="0" anchor="ctr"/>
          <a:lstStyle/>
          <a:p>
            <a:r>
              <a:rPr lang="en-US" sz="1300" dirty="0">
                <a:latin typeface="Calibri" pitchFamily="34" charset="0"/>
                <a:ea typeface="Calibri" pitchFamily="34" charset="-122"/>
                <a:cs typeface="Calibri" pitchFamily="34" charset="-120"/>
              </a:rPr>
              <a:t>A Pap test takes a small sample of cells from the cervix (the lower part of the uterus). It looks for changes that could turn into cervical cancer. It is a strong, proven test for cervical cancer.</a:t>
            </a:r>
            <a:endParaRPr lang="en-US" sz="1300" dirty="0"/>
          </a:p>
        </p:txBody>
      </p:sp>
      <p:sp>
        <p:nvSpPr>
          <p:cNvPr id="8" name="Shape 6"/>
          <p:cNvSpPr/>
          <p:nvPr/>
        </p:nvSpPr>
        <p:spPr>
          <a:xfrm>
            <a:off x="411480" y="2578608"/>
            <a:ext cx="3977640" cy="2331720"/>
          </a:xfrm>
          <a:prstGeom prst="rect">
            <a:avLst/>
          </a:prstGeom>
          <a:solidFill>
            <a:srgbClr val="FAECE7"/>
          </a:solidFill>
          <a:ln w="12700">
            <a:solidFill>
              <a:srgbClr val="FAECE7"/>
            </a:solidFill>
            <a:prstDash val="solid"/>
          </a:ln>
        </p:spPr>
        <p:txBody>
          <a:bodyPr/>
          <a:lstStyle/>
          <a:p>
            <a:endParaRPr lang="en-US"/>
          </a:p>
        </p:txBody>
      </p:sp>
      <p:sp>
        <p:nvSpPr>
          <p:cNvPr id="9" name="Shape 7"/>
          <p:cNvSpPr/>
          <p:nvPr/>
        </p:nvSpPr>
        <p:spPr>
          <a:xfrm>
            <a:off x="411480" y="2578608"/>
            <a:ext cx="64008" cy="2331720"/>
          </a:xfrm>
          <a:prstGeom prst="rect">
            <a:avLst/>
          </a:prstGeom>
          <a:solidFill>
            <a:srgbClr val="993C1D"/>
          </a:solidFill>
          <a:ln w="12700">
            <a:solidFill>
              <a:srgbClr val="993C1D"/>
            </a:solidFill>
            <a:prstDash val="solid"/>
          </a:ln>
        </p:spPr>
        <p:txBody>
          <a:bodyPr/>
          <a:lstStyle/>
          <a:p>
            <a:endParaRPr lang="en-US"/>
          </a:p>
        </p:txBody>
      </p:sp>
      <p:sp>
        <p:nvSpPr>
          <p:cNvPr id="10" name="Text 8"/>
          <p:cNvSpPr/>
          <p:nvPr/>
        </p:nvSpPr>
        <p:spPr>
          <a:xfrm>
            <a:off x="548640" y="2706624"/>
            <a:ext cx="3776472" cy="182880"/>
          </a:xfrm>
          <a:prstGeom prst="rect">
            <a:avLst/>
          </a:prstGeom>
          <a:noFill/>
          <a:ln/>
        </p:spPr>
        <p:txBody>
          <a:bodyPr wrap="square" lIns="0" tIns="0" rIns="0" bIns="0" rtlCol="0" anchor="ctr"/>
          <a:lstStyle/>
          <a:p>
            <a:pPr marL="0" indent="0" algn="l">
              <a:buNone/>
            </a:pPr>
            <a:r>
              <a:rPr lang="en-US" sz="800" b="1" kern="0" spc="100" dirty="0">
                <a:solidFill>
                  <a:srgbClr val="993C1D"/>
                </a:solidFill>
                <a:latin typeface="Calibri" pitchFamily="34" charset="0"/>
                <a:ea typeface="Calibri" pitchFamily="34" charset="-122"/>
                <a:cs typeface="Calibri" pitchFamily="34" charset="-120"/>
              </a:rPr>
              <a:t>COMMON MYTH</a:t>
            </a:r>
            <a:endParaRPr lang="en-US" sz="800" dirty="0"/>
          </a:p>
        </p:txBody>
      </p:sp>
      <p:sp>
        <p:nvSpPr>
          <p:cNvPr id="11" name="Text 9"/>
          <p:cNvSpPr/>
          <p:nvPr/>
        </p:nvSpPr>
        <p:spPr>
          <a:xfrm>
            <a:off x="548640" y="2962656"/>
            <a:ext cx="3749040" cy="822960"/>
          </a:xfrm>
          <a:prstGeom prst="rect">
            <a:avLst/>
          </a:prstGeom>
          <a:noFill/>
          <a:ln/>
        </p:spPr>
        <p:txBody>
          <a:bodyPr wrap="square" lIns="0" tIns="0" rIns="0" bIns="0" rtlCol="0" anchor="ctr"/>
          <a:lstStyle/>
          <a:p>
            <a:pPr marL="0" indent="0" algn="l">
              <a:buNone/>
            </a:pPr>
            <a:r>
              <a:rPr lang="en-US" sz="1300" dirty="0">
                <a:solidFill>
                  <a:srgbClr val="993C1D"/>
                </a:solidFill>
                <a:latin typeface="Georgia" pitchFamily="34" charset="0"/>
                <a:ea typeface="Georgia" pitchFamily="34" charset="-122"/>
                <a:cs typeface="Georgia" pitchFamily="34" charset="-120"/>
              </a:rPr>
              <a:t>My Pap test came back normal, so I know I don't have ovarian cancer.</a:t>
            </a:r>
            <a:endParaRPr lang="en-US" sz="1300" dirty="0"/>
          </a:p>
        </p:txBody>
      </p:sp>
      <p:sp>
        <p:nvSpPr>
          <p:cNvPr id="12" name="Shape 10"/>
          <p:cNvSpPr/>
          <p:nvPr/>
        </p:nvSpPr>
        <p:spPr>
          <a:xfrm>
            <a:off x="4754880" y="2578608"/>
            <a:ext cx="3977640" cy="2331720"/>
          </a:xfrm>
          <a:prstGeom prst="rect">
            <a:avLst/>
          </a:prstGeom>
          <a:solidFill>
            <a:srgbClr val="E1F5EE"/>
          </a:solidFill>
          <a:ln w="12700">
            <a:solidFill>
              <a:srgbClr val="E1F5EE"/>
            </a:solidFill>
            <a:prstDash val="solid"/>
          </a:ln>
        </p:spPr>
        <p:txBody>
          <a:bodyPr/>
          <a:lstStyle/>
          <a:p>
            <a:endParaRPr lang="en-US"/>
          </a:p>
        </p:txBody>
      </p:sp>
      <p:sp>
        <p:nvSpPr>
          <p:cNvPr id="13" name="Shape 11"/>
          <p:cNvSpPr/>
          <p:nvPr/>
        </p:nvSpPr>
        <p:spPr>
          <a:xfrm>
            <a:off x="4754880" y="2578608"/>
            <a:ext cx="64008" cy="2331720"/>
          </a:xfrm>
          <a:prstGeom prst="rect">
            <a:avLst/>
          </a:prstGeom>
          <a:solidFill>
            <a:srgbClr val="0F6E56"/>
          </a:solidFill>
          <a:ln w="12700">
            <a:solidFill>
              <a:srgbClr val="0F6E56"/>
            </a:solidFill>
            <a:prstDash val="solid"/>
          </a:ln>
        </p:spPr>
        <p:txBody>
          <a:bodyPr/>
          <a:lstStyle/>
          <a:p>
            <a:endParaRPr lang="en-US"/>
          </a:p>
        </p:txBody>
      </p:sp>
      <p:sp>
        <p:nvSpPr>
          <p:cNvPr id="14" name="Text 12"/>
          <p:cNvSpPr/>
          <p:nvPr/>
        </p:nvSpPr>
        <p:spPr>
          <a:xfrm>
            <a:off x="4892040" y="2706624"/>
            <a:ext cx="3776472" cy="182880"/>
          </a:xfrm>
          <a:prstGeom prst="rect">
            <a:avLst/>
          </a:prstGeom>
          <a:noFill/>
          <a:ln/>
        </p:spPr>
        <p:txBody>
          <a:bodyPr wrap="square" lIns="0" tIns="0" rIns="0" bIns="0" rtlCol="0" anchor="ctr"/>
          <a:lstStyle/>
          <a:p>
            <a:pPr marL="0" indent="0" algn="l">
              <a:buNone/>
            </a:pPr>
            <a:r>
              <a:rPr lang="en-US" sz="800" b="1" kern="0" spc="100" dirty="0">
                <a:solidFill>
                  <a:srgbClr val="0F6E56"/>
                </a:solidFill>
                <a:latin typeface="Calibri" pitchFamily="34" charset="0"/>
                <a:ea typeface="Calibri" pitchFamily="34" charset="-122"/>
                <a:cs typeface="Calibri" pitchFamily="34" charset="-120"/>
              </a:rPr>
              <a:t>THE FACT</a:t>
            </a:r>
            <a:endParaRPr lang="en-US" sz="800" dirty="0"/>
          </a:p>
        </p:txBody>
      </p:sp>
      <p:sp>
        <p:nvSpPr>
          <p:cNvPr id="15" name="Text 13"/>
          <p:cNvSpPr/>
          <p:nvPr/>
        </p:nvSpPr>
        <p:spPr>
          <a:xfrm>
            <a:off x="4892040" y="2962656"/>
            <a:ext cx="3749040" cy="822960"/>
          </a:xfrm>
          <a:prstGeom prst="rect">
            <a:avLst/>
          </a:prstGeom>
          <a:noFill/>
          <a:ln/>
        </p:spPr>
        <p:txBody>
          <a:bodyPr wrap="square" lIns="0" tIns="0" rIns="0" bIns="0" rtlCol="0" anchor="ctr"/>
          <a:lstStyle/>
          <a:p>
            <a:pPr marL="0" indent="0" algn="l">
              <a:buNone/>
            </a:pPr>
            <a:r>
              <a:rPr lang="en-US" sz="1300" dirty="0">
                <a:solidFill>
                  <a:srgbClr val="0A5C46"/>
                </a:solidFill>
                <a:latin typeface="Georgia" pitchFamily="34" charset="0"/>
                <a:ea typeface="Georgia" pitchFamily="34" charset="-122"/>
                <a:cs typeface="Georgia" pitchFamily="34" charset="-120"/>
              </a:rPr>
              <a:t>A normal Pap result tells you about your cervix only. It provides no information about your ovaries.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91440"/>
            <a:ext cx="8412480" cy="201168"/>
          </a:xfrm>
          <a:prstGeom prst="rect">
            <a:avLst/>
          </a:prstGeom>
          <a:noFill/>
          <a:ln/>
        </p:spPr>
        <p:txBody>
          <a:bodyPr wrap="square" lIns="0" tIns="0" rIns="0" bIns="0" rtlCol="0" anchor="ctr"/>
          <a:lstStyle/>
          <a:p>
            <a:pPr marL="0" indent="0" algn="l">
              <a:buNone/>
            </a:pPr>
            <a:r>
              <a:rPr lang="en-US" sz="800" dirty="0">
                <a:solidFill>
                  <a:srgbClr val="4A6B60"/>
                </a:solidFill>
                <a:latin typeface="Calibri" pitchFamily="34" charset="0"/>
                <a:ea typeface="Calibri" pitchFamily="34" charset="-122"/>
                <a:cs typeface="Calibri" pitchFamily="34" charset="-120"/>
              </a:rPr>
              <a:t>SECTION 2 -- Is there a routine screening test for ovarian cancer?</a:t>
            </a:r>
            <a:endParaRPr lang="en-US" sz="800" dirty="0"/>
          </a:p>
        </p:txBody>
      </p:sp>
      <p:sp>
        <p:nvSpPr>
          <p:cNvPr id="3" name="Shape 1"/>
          <p:cNvSpPr/>
          <p:nvPr/>
        </p:nvSpPr>
        <p:spPr>
          <a:xfrm>
            <a:off x="0" y="0"/>
            <a:ext cx="9144000" cy="1234440"/>
          </a:xfrm>
          <a:prstGeom prst="rect">
            <a:avLst/>
          </a:prstGeom>
          <a:solidFill>
            <a:srgbClr val="0A5C46"/>
          </a:solidFill>
          <a:ln w="12700">
            <a:solidFill>
              <a:srgbClr val="0A5C46"/>
            </a:solidFill>
            <a:prstDash val="solid"/>
          </a:ln>
        </p:spPr>
        <p:txBody>
          <a:bodyPr/>
          <a:lstStyle/>
          <a:p>
            <a:endParaRPr lang="en-US"/>
          </a:p>
        </p:txBody>
      </p:sp>
      <p:sp>
        <p:nvSpPr>
          <p:cNvPr id="4" name="Text 2"/>
          <p:cNvSpPr/>
          <p:nvPr/>
        </p:nvSpPr>
        <p:spPr>
          <a:xfrm>
            <a:off x="411480" y="137160"/>
            <a:ext cx="3657600" cy="201168"/>
          </a:xfrm>
          <a:prstGeom prst="rect">
            <a:avLst/>
          </a:prstGeom>
          <a:noFill/>
          <a:ln/>
        </p:spPr>
        <p:txBody>
          <a:bodyPr wrap="square" lIns="0" tIns="0" rIns="0" bIns="0" rtlCol="0" anchor="ctr"/>
          <a:lstStyle/>
          <a:p>
            <a:pPr marL="0" indent="0" algn="l">
              <a:buNone/>
            </a:pPr>
            <a:r>
              <a:rPr lang="en-US" sz="800" b="1" kern="0" spc="100" dirty="0">
                <a:solidFill>
                  <a:srgbClr val="7BBFAA"/>
                </a:solidFill>
                <a:latin typeface="Calibri" pitchFamily="34" charset="0"/>
                <a:ea typeface="Calibri" pitchFamily="34" charset="-122"/>
                <a:cs typeface="Calibri" pitchFamily="34" charset="-120"/>
              </a:rPr>
              <a:t>SECTION 2</a:t>
            </a:r>
            <a:endParaRPr lang="en-US" sz="800" dirty="0"/>
          </a:p>
        </p:txBody>
      </p:sp>
      <p:sp>
        <p:nvSpPr>
          <p:cNvPr id="5" name="Text 3"/>
          <p:cNvSpPr/>
          <p:nvPr/>
        </p:nvSpPr>
        <p:spPr>
          <a:xfrm>
            <a:off x="411480" y="365760"/>
            <a:ext cx="8321040" cy="68580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Is there a routine screening test for ovarian cancer?</a:t>
            </a:r>
            <a:endParaRPr lang="en-US" sz="2400" dirty="0"/>
          </a:p>
        </p:txBody>
      </p:sp>
      <p:sp>
        <p:nvSpPr>
          <p:cNvPr id="6" name="Shape 4"/>
          <p:cNvSpPr/>
          <p:nvPr/>
        </p:nvSpPr>
        <p:spPr>
          <a:xfrm>
            <a:off x="411480" y="1353312"/>
            <a:ext cx="8321040" cy="475488"/>
          </a:xfrm>
          <a:prstGeom prst="rect">
            <a:avLst/>
          </a:prstGeom>
          <a:solidFill>
            <a:srgbClr val="E1F5EE"/>
          </a:solidFill>
          <a:ln w="12700">
            <a:solidFill>
              <a:srgbClr val="E1F5EE"/>
            </a:solidFill>
            <a:prstDash val="solid"/>
          </a:ln>
        </p:spPr>
        <p:txBody>
          <a:bodyPr/>
          <a:lstStyle/>
          <a:p>
            <a:endParaRPr lang="en-US"/>
          </a:p>
        </p:txBody>
      </p:sp>
      <p:sp>
        <p:nvSpPr>
          <p:cNvPr id="7" name="Shape 5"/>
          <p:cNvSpPr/>
          <p:nvPr/>
        </p:nvSpPr>
        <p:spPr>
          <a:xfrm>
            <a:off x="411480" y="1353312"/>
            <a:ext cx="64008" cy="475488"/>
          </a:xfrm>
          <a:prstGeom prst="rect">
            <a:avLst/>
          </a:prstGeom>
          <a:solidFill>
            <a:srgbClr val="1D9E75"/>
          </a:solidFill>
          <a:ln w="12700">
            <a:solidFill>
              <a:srgbClr val="1D9E75"/>
            </a:solidFill>
            <a:prstDash val="solid"/>
          </a:ln>
        </p:spPr>
        <p:txBody>
          <a:bodyPr/>
          <a:lstStyle/>
          <a:p>
            <a:endParaRPr lang="en-US"/>
          </a:p>
        </p:txBody>
      </p:sp>
      <p:sp>
        <p:nvSpPr>
          <p:cNvPr id="8" name="Text 6"/>
          <p:cNvSpPr/>
          <p:nvPr/>
        </p:nvSpPr>
        <p:spPr>
          <a:xfrm>
            <a:off x="548640" y="1389888"/>
            <a:ext cx="8046720" cy="384048"/>
          </a:xfrm>
          <a:prstGeom prst="rect">
            <a:avLst/>
          </a:prstGeom>
          <a:noFill/>
          <a:ln/>
        </p:spPr>
        <p:txBody>
          <a:bodyPr wrap="square" lIns="0" tIns="0" rIns="0" bIns="0" rtlCol="0" anchor="ctr"/>
          <a:lstStyle/>
          <a:p>
            <a:r>
              <a:rPr lang="en-US" sz="1300" b="1" dirty="0">
                <a:solidFill>
                  <a:srgbClr val="0A5C46"/>
                </a:solidFill>
                <a:latin typeface="Calibri" pitchFamily="34" charset="0"/>
                <a:ea typeface="Calibri" pitchFamily="34" charset="-122"/>
                <a:cs typeface="Calibri" pitchFamily="34" charset="-120"/>
              </a:rPr>
              <a:t>No. Right now, there is no proven test to screen every woman for ovarian cancer if she has average risk and no symptoms.</a:t>
            </a:r>
            <a:endParaRPr lang="en-US" sz="1300" dirty="0"/>
          </a:p>
        </p:txBody>
      </p:sp>
      <p:sp>
        <p:nvSpPr>
          <p:cNvPr id="9" name="Text 7"/>
          <p:cNvSpPr/>
          <p:nvPr/>
        </p:nvSpPr>
        <p:spPr>
          <a:xfrm>
            <a:off x="411480" y="1920240"/>
            <a:ext cx="8321040" cy="658368"/>
          </a:xfrm>
          <a:prstGeom prst="rect">
            <a:avLst/>
          </a:prstGeom>
          <a:noFill/>
          <a:ln/>
        </p:spPr>
        <p:txBody>
          <a:bodyPr wrap="square" lIns="0" tIns="0" rIns="0" bIns="0" rtlCol="0" anchor="ctr"/>
          <a:lstStyle/>
          <a:p>
            <a:r>
              <a:rPr lang="en-US" sz="1200" dirty="0">
                <a:latin typeface="Calibri" pitchFamily="34" charset="0"/>
                <a:ea typeface="Calibri" pitchFamily="34" charset="-122"/>
                <a:cs typeface="Calibri" pitchFamily="34" charset="-120"/>
              </a:rPr>
              <a:t>This is not just a Canadian issue; it is true globally. Large studies tested for a protein in the blood that can go up with ovarian cancer tumor marker blood test (CA-125) and did  a transvaginal ultrasound (an ultrasound done from inside the vagina). They found that neither one lowered ovarian cancer deaths in the public. Both tests can give a wrong "positive" result. That can lead to surgery a woman did not need.</a:t>
            </a:r>
            <a:endParaRPr lang="en-US" sz="1200" dirty="0"/>
          </a:p>
        </p:txBody>
      </p:sp>
      <p:sp>
        <p:nvSpPr>
          <p:cNvPr id="10" name="Shape 8"/>
          <p:cNvSpPr/>
          <p:nvPr/>
        </p:nvSpPr>
        <p:spPr>
          <a:xfrm>
            <a:off x="411480" y="2724912"/>
            <a:ext cx="2697480" cy="1481328"/>
          </a:xfrm>
          <a:prstGeom prst="rect">
            <a:avLst/>
          </a:prstGeom>
          <a:solidFill>
            <a:srgbClr val="EBF7F2"/>
          </a:solidFill>
          <a:ln w="9525">
            <a:solidFill>
              <a:srgbClr val="C4E5D8"/>
            </a:solidFill>
            <a:prstDash val="solid"/>
          </a:ln>
        </p:spPr>
        <p:txBody>
          <a:bodyPr/>
          <a:lstStyle/>
          <a:p>
            <a:endParaRPr lang="en-US"/>
          </a:p>
        </p:txBody>
      </p:sp>
      <p:sp>
        <p:nvSpPr>
          <p:cNvPr id="11" name="Shape 9"/>
          <p:cNvSpPr/>
          <p:nvPr/>
        </p:nvSpPr>
        <p:spPr>
          <a:xfrm>
            <a:off x="411480" y="2724912"/>
            <a:ext cx="2697480" cy="347472"/>
          </a:xfrm>
          <a:prstGeom prst="rect">
            <a:avLst/>
          </a:prstGeom>
          <a:solidFill>
            <a:srgbClr val="0F6E56"/>
          </a:solidFill>
          <a:ln w="12700">
            <a:solidFill>
              <a:srgbClr val="0F6E56"/>
            </a:solidFill>
            <a:prstDash val="solid"/>
          </a:ln>
        </p:spPr>
        <p:txBody>
          <a:bodyPr/>
          <a:lstStyle/>
          <a:p>
            <a:endParaRPr lang="en-US"/>
          </a:p>
        </p:txBody>
      </p:sp>
      <p:sp>
        <p:nvSpPr>
          <p:cNvPr id="12" name="Text 10"/>
          <p:cNvSpPr/>
          <p:nvPr/>
        </p:nvSpPr>
        <p:spPr>
          <a:xfrm>
            <a:off x="548640" y="2779776"/>
            <a:ext cx="2514600" cy="237744"/>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Health Canada</a:t>
            </a:r>
            <a:endParaRPr lang="en-US" sz="1200" dirty="0"/>
          </a:p>
        </p:txBody>
      </p:sp>
      <p:sp>
        <p:nvSpPr>
          <p:cNvPr id="13" name="Text 11"/>
          <p:cNvSpPr/>
          <p:nvPr/>
        </p:nvSpPr>
        <p:spPr>
          <a:xfrm>
            <a:off x="548640" y="3182112"/>
            <a:ext cx="2423160" cy="914400"/>
          </a:xfrm>
          <a:prstGeom prst="rect">
            <a:avLst/>
          </a:prstGeom>
          <a:noFill/>
          <a:ln/>
        </p:spPr>
        <p:txBody>
          <a:bodyPr wrap="square" lIns="0" tIns="0" rIns="0" bIns="0" rtlCol="0" anchor="t"/>
          <a:lstStyle/>
          <a:p>
            <a:pPr marL="0" indent="0" algn="l">
              <a:buNone/>
            </a:pPr>
            <a:r>
              <a:rPr lang="en-US" sz="1100" dirty="0">
                <a:latin typeface="Calibri" pitchFamily="34" charset="0"/>
                <a:ea typeface="Calibri" pitchFamily="34" charset="-122"/>
                <a:cs typeface="Calibri" pitchFamily="34" charset="-120"/>
              </a:rPr>
              <a:t>Does not recommend routine ovarian cancer screening for average-risk women.</a:t>
            </a:r>
            <a:endParaRPr lang="en-US" sz="1100" dirty="0"/>
          </a:p>
        </p:txBody>
      </p:sp>
      <p:sp>
        <p:nvSpPr>
          <p:cNvPr id="14" name="Shape 12"/>
          <p:cNvSpPr/>
          <p:nvPr/>
        </p:nvSpPr>
        <p:spPr>
          <a:xfrm>
            <a:off x="3264408" y="2724912"/>
            <a:ext cx="2697480" cy="1481328"/>
          </a:xfrm>
          <a:prstGeom prst="rect">
            <a:avLst/>
          </a:prstGeom>
          <a:solidFill>
            <a:srgbClr val="EBF7F2"/>
          </a:solidFill>
          <a:ln w="9525">
            <a:solidFill>
              <a:srgbClr val="C4E5D8"/>
            </a:solidFill>
            <a:prstDash val="solid"/>
          </a:ln>
        </p:spPr>
        <p:txBody>
          <a:bodyPr/>
          <a:lstStyle/>
          <a:p>
            <a:endParaRPr lang="en-US"/>
          </a:p>
        </p:txBody>
      </p:sp>
      <p:sp>
        <p:nvSpPr>
          <p:cNvPr id="15" name="Shape 13"/>
          <p:cNvSpPr/>
          <p:nvPr/>
        </p:nvSpPr>
        <p:spPr>
          <a:xfrm>
            <a:off x="3264408" y="2724912"/>
            <a:ext cx="2697480" cy="347472"/>
          </a:xfrm>
          <a:prstGeom prst="rect">
            <a:avLst/>
          </a:prstGeom>
          <a:solidFill>
            <a:srgbClr val="0F6E56"/>
          </a:solidFill>
          <a:ln w="12700">
            <a:solidFill>
              <a:srgbClr val="0F6E56"/>
            </a:solidFill>
            <a:prstDash val="solid"/>
          </a:ln>
        </p:spPr>
        <p:txBody>
          <a:bodyPr/>
          <a:lstStyle/>
          <a:p>
            <a:endParaRPr lang="en-US"/>
          </a:p>
        </p:txBody>
      </p:sp>
      <p:sp>
        <p:nvSpPr>
          <p:cNvPr id="16" name="Text 14"/>
          <p:cNvSpPr/>
          <p:nvPr/>
        </p:nvSpPr>
        <p:spPr>
          <a:xfrm>
            <a:off x="3360462" y="2855948"/>
            <a:ext cx="2514600" cy="237744"/>
          </a:xfrm>
          <a:prstGeom prst="rect">
            <a:avLst/>
          </a:prstGeom>
          <a:noFill/>
          <a:ln/>
        </p:spPr>
        <p:txBody>
          <a:bodyPr wrap="square" lIns="0" tIns="0" rIns="0" bIns="0" rtlCol="0" anchor="ctr"/>
          <a:lstStyle/>
          <a:p>
            <a:r>
              <a:rPr lang="en-US" sz="1200" b="1" dirty="0">
                <a:solidFill>
                  <a:schemeClr val="bg1"/>
                </a:solidFill>
                <a:latin typeface="Calibri" pitchFamily="34" charset="0"/>
                <a:ea typeface="Calibri" pitchFamily="34" charset="-122"/>
                <a:cs typeface="Calibri" pitchFamily="34" charset="-120"/>
              </a:rPr>
              <a:t>American College of Obstetricians and Gynecologists (ACOG)</a:t>
            </a:r>
            <a:endParaRPr lang="en-US" sz="1200" dirty="0">
              <a:solidFill>
                <a:schemeClr val="bg1"/>
              </a:solidFill>
            </a:endParaRPr>
          </a:p>
          <a:p>
            <a:pPr marL="0" indent="0" algn="l">
              <a:buNone/>
            </a:pPr>
            <a:endParaRPr lang="en-US" sz="1200" dirty="0"/>
          </a:p>
        </p:txBody>
      </p:sp>
      <p:sp>
        <p:nvSpPr>
          <p:cNvPr id="17" name="Text 15"/>
          <p:cNvSpPr/>
          <p:nvPr/>
        </p:nvSpPr>
        <p:spPr>
          <a:xfrm>
            <a:off x="3389209" y="3163824"/>
            <a:ext cx="2560320" cy="914400"/>
          </a:xfrm>
          <a:prstGeom prst="rect">
            <a:avLst/>
          </a:prstGeom>
          <a:noFill/>
          <a:ln/>
        </p:spPr>
        <p:txBody>
          <a:bodyPr wrap="square" lIns="0" tIns="0" rIns="0" bIns="0" rtlCol="0" anchor="t"/>
          <a:lstStyle/>
          <a:p>
            <a:r>
              <a:rPr lang="en-US" sz="1100" dirty="0">
                <a:latin typeface="Calibri" pitchFamily="34" charset="0"/>
                <a:ea typeface="Calibri" pitchFamily="34" charset="-122"/>
                <a:cs typeface="Calibri" pitchFamily="34" charset="-120"/>
              </a:rPr>
              <a:t>Committee Opinion 716 says there is no effective screening test </a:t>
            </a:r>
            <a:r>
              <a:rPr lang="en-CA" sz="1100" dirty="0"/>
              <a:t>for average-risk women and recommends symptom-based evaluation including bloating, pelvic pain, and urinary changes as the pathway to investigation.</a:t>
            </a:r>
            <a:endParaRPr lang="en-US" sz="1100" dirty="0"/>
          </a:p>
        </p:txBody>
      </p:sp>
      <p:sp>
        <p:nvSpPr>
          <p:cNvPr id="18" name="Shape 16"/>
          <p:cNvSpPr/>
          <p:nvPr/>
        </p:nvSpPr>
        <p:spPr>
          <a:xfrm>
            <a:off x="6117336" y="2724912"/>
            <a:ext cx="2697480" cy="1481328"/>
          </a:xfrm>
          <a:prstGeom prst="rect">
            <a:avLst/>
          </a:prstGeom>
          <a:solidFill>
            <a:srgbClr val="EBF7F2"/>
          </a:solidFill>
          <a:ln w="9525">
            <a:solidFill>
              <a:srgbClr val="C4E5D8"/>
            </a:solidFill>
            <a:prstDash val="solid"/>
          </a:ln>
        </p:spPr>
        <p:txBody>
          <a:bodyPr/>
          <a:lstStyle/>
          <a:p>
            <a:endParaRPr lang="en-US"/>
          </a:p>
        </p:txBody>
      </p:sp>
      <p:sp>
        <p:nvSpPr>
          <p:cNvPr id="19" name="Shape 17"/>
          <p:cNvSpPr/>
          <p:nvPr/>
        </p:nvSpPr>
        <p:spPr>
          <a:xfrm>
            <a:off x="6117336" y="2724912"/>
            <a:ext cx="2697480" cy="347472"/>
          </a:xfrm>
          <a:prstGeom prst="rect">
            <a:avLst/>
          </a:prstGeom>
          <a:solidFill>
            <a:srgbClr val="0F6E56"/>
          </a:solidFill>
          <a:ln w="12700">
            <a:solidFill>
              <a:srgbClr val="0F6E56"/>
            </a:solidFill>
            <a:prstDash val="solid"/>
          </a:ln>
        </p:spPr>
        <p:txBody>
          <a:bodyPr/>
          <a:lstStyle/>
          <a:p>
            <a:endParaRPr lang="en-US"/>
          </a:p>
        </p:txBody>
      </p:sp>
      <p:sp>
        <p:nvSpPr>
          <p:cNvPr id="20" name="Text 18"/>
          <p:cNvSpPr/>
          <p:nvPr/>
        </p:nvSpPr>
        <p:spPr>
          <a:xfrm>
            <a:off x="6254496" y="2779776"/>
            <a:ext cx="2514600" cy="237744"/>
          </a:xfrm>
          <a:prstGeom prst="rect">
            <a:avLst/>
          </a:prstGeom>
          <a:noFill/>
          <a:ln/>
        </p:spPr>
        <p:txBody>
          <a:bodyPr wrap="square" lIns="0" tIns="0" rIns="0" bIns="0" rtlCol="0" anchor="ctr"/>
          <a:lstStyle/>
          <a:p>
            <a:r>
              <a:rPr lang="en-US" sz="1200" b="1" dirty="0">
                <a:solidFill>
                  <a:schemeClr val="bg1"/>
                </a:solidFill>
                <a:latin typeface="Calibri" pitchFamily="34" charset="0"/>
                <a:ea typeface="Calibri" pitchFamily="34" charset="-122"/>
                <a:cs typeface="Calibri" pitchFamily="34" charset="-120"/>
              </a:rPr>
              <a:t>American College of Obstetricians and Gynecologists (ACOG)</a:t>
            </a:r>
            <a:endParaRPr lang="en-US" sz="1200" dirty="0">
              <a:solidFill>
                <a:schemeClr val="bg1"/>
              </a:solidFill>
            </a:endParaRPr>
          </a:p>
        </p:txBody>
      </p:sp>
      <p:sp>
        <p:nvSpPr>
          <p:cNvPr id="21" name="Text 19"/>
          <p:cNvSpPr/>
          <p:nvPr/>
        </p:nvSpPr>
        <p:spPr>
          <a:xfrm>
            <a:off x="6254496" y="3182112"/>
            <a:ext cx="2423160" cy="914400"/>
          </a:xfrm>
          <a:prstGeom prst="rect">
            <a:avLst/>
          </a:prstGeom>
          <a:noFill/>
          <a:ln/>
        </p:spPr>
        <p:txBody>
          <a:bodyPr wrap="square" lIns="0" tIns="0" rIns="0" bIns="0" rtlCol="0" anchor="t"/>
          <a:lstStyle/>
          <a:p>
            <a:r>
              <a:rPr lang="en-US" sz="1100" dirty="0">
                <a:latin typeface="Calibri" pitchFamily="34" charset="0"/>
                <a:ea typeface="Calibri" pitchFamily="34" charset="-122"/>
                <a:cs typeface="Calibri" pitchFamily="34" charset="-120"/>
              </a:rPr>
              <a:t>Suggests testing only when symptoms appear, not screening every woman.</a:t>
            </a:r>
            <a:endParaRPr lang="en-US" sz="1100" dirty="0"/>
          </a:p>
        </p:txBody>
      </p:sp>
      <p:sp>
        <p:nvSpPr>
          <p:cNvPr id="22" name="Shape 20"/>
          <p:cNvSpPr/>
          <p:nvPr/>
        </p:nvSpPr>
        <p:spPr>
          <a:xfrm>
            <a:off x="411480" y="4297680"/>
            <a:ext cx="3977640" cy="658368"/>
          </a:xfrm>
          <a:prstGeom prst="rect">
            <a:avLst/>
          </a:prstGeom>
          <a:solidFill>
            <a:srgbClr val="FAECE7"/>
          </a:solidFill>
          <a:ln w="12700">
            <a:solidFill>
              <a:srgbClr val="FAECE7"/>
            </a:solidFill>
            <a:prstDash val="solid"/>
          </a:ln>
        </p:spPr>
        <p:txBody>
          <a:bodyPr/>
          <a:lstStyle/>
          <a:p>
            <a:endParaRPr lang="en-US"/>
          </a:p>
        </p:txBody>
      </p:sp>
      <p:sp>
        <p:nvSpPr>
          <p:cNvPr id="23" name="Shape 21"/>
          <p:cNvSpPr/>
          <p:nvPr/>
        </p:nvSpPr>
        <p:spPr>
          <a:xfrm>
            <a:off x="411480" y="4297680"/>
            <a:ext cx="64008" cy="658368"/>
          </a:xfrm>
          <a:prstGeom prst="rect">
            <a:avLst/>
          </a:prstGeom>
          <a:solidFill>
            <a:srgbClr val="993C1D"/>
          </a:solidFill>
          <a:ln w="12700">
            <a:solidFill>
              <a:srgbClr val="993C1D"/>
            </a:solidFill>
            <a:prstDash val="solid"/>
          </a:ln>
        </p:spPr>
        <p:txBody>
          <a:bodyPr/>
          <a:lstStyle/>
          <a:p>
            <a:endParaRPr lang="en-US"/>
          </a:p>
        </p:txBody>
      </p:sp>
      <p:sp>
        <p:nvSpPr>
          <p:cNvPr id="24" name="Text 22"/>
          <p:cNvSpPr/>
          <p:nvPr/>
        </p:nvSpPr>
        <p:spPr>
          <a:xfrm>
            <a:off x="548640" y="4389120"/>
            <a:ext cx="3749040" cy="475488"/>
          </a:xfrm>
          <a:prstGeom prst="rect">
            <a:avLst/>
          </a:prstGeom>
          <a:noFill/>
          <a:ln/>
        </p:spPr>
        <p:txBody>
          <a:bodyPr wrap="square" lIns="0" tIns="0" rIns="0" bIns="0" rtlCol="0" anchor="ctr"/>
          <a:lstStyle/>
          <a:p>
            <a:pPr marL="0" indent="0" algn="l">
              <a:buNone/>
            </a:pPr>
            <a:r>
              <a:rPr lang="en-US" sz="1100" b="1" dirty="0">
                <a:solidFill>
                  <a:srgbClr val="993C1D"/>
                </a:solidFill>
                <a:latin typeface="Calibri" pitchFamily="34" charset="0"/>
                <a:ea typeface="Calibri" pitchFamily="34" charset="-122"/>
                <a:cs typeface="Calibri" pitchFamily="34" charset="-120"/>
              </a:rPr>
              <a:t>Myth: </a:t>
            </a:r>
            <a:r>
              <a:rPr lang="en-US" sz="1100" dirty="0">
                <a:solidFill>
                  <a:srgbClr val="993C1D"/>
                </a:solidFill>
                <a:latin typeface="Calibri" pitchFamily="34" charset="0"/>
                <a:ea typeface="Calibri" pitchFamily="34" charset="-122"/>
                <a:cs typeface="Calibri" pitchFamily="34" charset="-120"/>
              </a:rPr>
              <a:t>I can ask for a CA-125 blood test to screen for ovarian cancer every year.</a:t>
            </a:r>
            <a:endParaRPr lang="en-US" sz="1100" dirty="0"/>
          </a:p>
        </p:txBody>
      </p:sp>
      <p:sp>
        <p:nvSpPr>
          <p:cNvPr id="25" name="Shape 23"/>
          <p:cNvSpPr/>
          <p:nvPr/>
        </p:nvSpPr>
        <p:spPr>
          <a:xfrm>
            <a:off x="4754880" y="4297680"/>
            <a:ext cx="3977640" cy="658368"/>
          </a:xfrm>
          <a:prstGeom prst="rect">
            <a:avLst/>
          </a:prstGeom>
          <a:solidFill>
            <a:srgbClr val="E1F5EE"/>
          </a:solidFill>
          <a:ln w="12700">
            <a:solidFill>
              <a:srgbClr val="E1F5EE"/>
            </a:solidFill>
            <a:prstDash val="solid"/>
          </a:ln>
        </p:spPr>
        <p:txBody>
          <a:bodyPr/>
          <a:lstStyle/>
          <a:p>
            <a:endParaRPr lang="en-US"/>
          </a:p>
        </p:txBody>
      </p:sp>
      <p:sp>
        <p:nvSpPr>
          <p:cNvPr id="26" name="Shape 24"/>
          <p:cNvSpPr/>
          <p:nvPr/>
        </p:nvSpPr>
        <p:spPr>
          <a:xfrm>
            <a:off x="4754880" y="4297680"/>
            <a:ext cx="64008" cy="658368"/>
          </a:xfrm>
          <a:prstGeom prst="rect">
            <a:avLst/>
          </a:prstGeom>
          <a:solidFill>
            <a:srgbClr val="0F6E56"/>
          </a:solidFill>
          <a:ln w="12700">
            <a:solidFill>
              <a:srgbClr val="0F6E56"/>
            </a:solidFill>
            <a:prstDash val="solid"/>
          </a:ln>
        </p:spPr>
        <p:txBody>
          <a:bodyPr/>
          <a:lstStyle/>
          <a:p>
            <a:endParaRPr lang="en-US"/>
          </a:p>
        </p:txBody>
      </p:sp>
      <p:sp>
        <p:nvSpPr>
          <p:cNvPr id="27" name="Text 25"/>
          <p:cNvSpPr/>
          <p:nvPr/>
        </p:nvSpPr>
        <p:spPr>
          <a:xfrm>
            <a:off x="4892040" y="4389120"/>
            <a:ext cx="3749040" cy="475488"/>
          </a:xfrm>
          <a:prstGeom prst="rect">
            <a:avLst/>
          </a:prstGeom>
          <a:noFill/>
          <a:ln/>
        </p:spPr>
        <p:txBody>
          <a:bodyPr wrap="square" lIns="0" tIns="0" rIns="0" bIns="0" rtlCol="0" anchor="ctr"/>
          <a:lstStyle/>
          <a:p>
            <a:pPr marL="0" indent="0" algn="l">
              <a:buNone/>
            </a:pPr>
            <a:r>
              <a:rPr lang="en-US" sz="1100" b="1" dirty="0">
                <a:solidFill>
                  <a:srgbClr val="0A5C46"/>
                </a:solidFill>
                <a:latin typeface="Calibri" pitchFamily="34" charset="0"/>
                <a:ea typeface="Calibri" pitchFamily="34" charset="-122"/>
                <a:cs typeface="Calibri" pitchFamily="34" charset="-120"/>
              </a:rPr>
              <a:t>Fact: </a:t>
            </a:r>
            <a:r>
              <a:rPr lang="en-US" sz="1100" dirty="0">
                <a:solidFill>
                  <a:srgbClr val="0A5C46"/>
                </a:solidFill>
                <a:latin typeface="Calibri" pitchFamily="34" charset="0"/>
                <a:ea typeface="Calibri" pitchFamily="34" charset="-122"/>
                <a:cs typeface="Calibri" pitchFamily="34" charset="-120"/>
              </a:rPr>
              <a:t>CA-125 is a useful diagnostic tool when symptoms are present but is not recommended as a screening test for average-risk women.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91440"/>
            <a:ext cx="8412480" cy="201168"/>
          </a:xfrm>
          <a:prstGeom prst="rect">
            <a:avLst/>
          </a:prstGeom>
          <a:noFill/>
          <a:ln/>
        </p:spPr>
        <p:txBody>
          <a:bodyPr wrap="square" lIns="0" tIns="0" rIns="0" bIns="0" rtlCol="0" anchor="ctr"/>
          <a:lstStyle/>
          <a:p>
            <a:pPr marL="0" indent="0" algn="l">
              <a:buNone/>
            </a:pPr>
            <a:r>
              <a:rPr lang="en-US" sz="800" dirty="0">
                <a:solidFill>
                  <a:srgbClr val="4A6B60"/>
                </a:solidFill>
                <a:latin typeface="Calibri" pitchFamily="34" charset="0"/>
                <a:ea typeface="Calibri" pitchFamily="34" charset="-122"/>
                <a:cs typeface="Calibri" pitchFamily="34" charset="-120"/>
              </a:rPr>
              <a:t>SECTIONS 3 AND 4 -- How detection works and symptoms to watch for</a:t>
            </a:r>
            <a:endParaRPr lang="en-US" sz="800" dirty="0"/>
          </a:p>
        </p:txBody>
      </p:sp>
      <p:sp>
        <p:nvSpPr>
          <p:cNvPr id="3" name="Shape 1"/>
          <p:cNvSpPr/>
          <p:nvPr/>
        </p:nvSpPr>
        <p:spPr>
          <a:xfrm>
            <a:off x="0" y="0"/>
            <a:ext cx="9144000" cy="1234440"/>
          </a:xfrm>
          <a:prstGeom prst="rect">
            <a:avLst/>
          </a:prstGeom>
          <a:solidFill>
            <a:srgbClr val="0A5C46"/>
          </a:solidFill>
          <a:ln w="12700">
            <a:solidFill>
              <a:srgbClr val="0A5C46"/>
            </a:solidFill>
            <a:prstDash val="solid"/>
          </a:ln>
        </p:spPr>
        <p:txBody>
          <a:bodyPr/>
          <a:lstStyle/>
          <a:p>
            <a:endParaRPr lang="en-US"/>
          </a:p>
        </p:txBody>
      </p:sp>
      <p:sp>
        <p:nvSpPr>
          <p:cNvPr id="4" name="Text 2"/>
          <p:cNvSpPr/>
          <p:nvPr/>
        </p:nvSpPr>
        <p:spPr>
          <a:xfrm>
            <a:off x="411480" y="137160"/>
            <a:ext cx="5486400" cy="201168"/>
          </a:xfrm>
          <a:prstGeom prst="rect">
            <a:avLst/>
          </a:prstGeom>
          <a:noFill/>
          <a:ln/>
        </p:spPr>
        <p:txBody>
          <a:bodyPr wrap="square" lIns="0" tIns="0" rIns="0" bIns="0" rtlCol="0" anchor="ctr"/>
          <a:lstStyle/>
          <a:p>
            <a:pPr marL="0" indent="0" algn="l">
              <a:buNone/>
            </a:pPr>
            <a:r>
              <a:rPr lang="en-US" sz="800" b="1" kern="0" spc="100" dirty="0">
                <a:solidFill>
                  <a:srgbClr val="7BBFAA"/>
                </a:solidFill>
                <a:latin typeface="Calibri" pitchFamily="34" charset="0"/>
                <a:ea typeface="Calibri" pitchFamily="34" charset="-122"/>
                <a:cs typeface="Calibri" pitchFamily="34" charset="-120"/>
              </a:rPr>
              <a:t>SECTIONS 3 AND 4</a:t>
            </a:r>
            <a:endParaRPr lang="en-US" sz="800" dirty="0"/>
          </a:p>
        </p:txBody>
      </p:sp>
      <p:sp>
        <p:nvSpPr>
          <p:cNvPr id="5" name="Text 3"/>
          <p:cNvSpPr/>
          <p:nvPr/>
        </p:nvSpPr>
        <p:spPr>
          <a:xfrm>
            <a:off x="411480" y="365760"/>
            <a:ext cx="8321040" cy="685800"/>
          </a:xfrm>
          <a:prstGeom prst="rect">
            <a:avLst/>
          </a:prstGeom>
          <a:noFill/>
          <a:ln/>
        </p:spPr>
        <p:txBody>
          <a:bodyPr wrap="square" lIns="0" tIns="0" rIns="0" bIns="0" rtlCol="0" anchor="ctr"/>
          <a:lstStyle/>
          <a:p>
            <a:pPr marL="0" indent="0" algn="l">
              <a:buNone/>
            </a:pPr>
            <a:r>
              <a:rPr lang="en-US" sz="2200" b="1" dirty="0">
                <a:solidFill>
                  <a:srgbClr val="FFFFFF"/>
                </a:solidFill>
                <a:latin typeface="Georgia" pitchFamily="34" charset="0"/>
                <a:ea typeface="Georgia" pitchFamily="34" charset="-122"/>
                <a:cs typeface="Georgia" pitchFamily="34" charset="-120"/>
              </a:rPr>
              <a:t>How detection works and what symptoms to watch for</a:t>
            </a:r>
            <a:endParaRPr lang="en-US" sz="2200" dirty="0"/>
          </a:p>
        </p:txBody>
      </p:sp>
      <p:sp>
        <p:nvSpPr>
          <p:cNvPr id="6" name="Text 4"/>
          <p:cNvSpPr/>
          <p:nvPr/>
        </p:nvSpPr>
        <p:spPr>
          <a:xfrm>
            <a:off x="411480" y="1353312"/>
            <a:ext cx="3931920" cy="320040"/>
          </a:xfrm>
          <a:prstGeom prst="rect">
            <a:avLst/>
          </a:prstGeom>
          <a:noFill/>
          <a:ln/>
        </p:spPr>
        <p:txBody>
          <a:bodyPr wrap="square" lIns="0" tIns="0" rIns="0" bIns="0" rtlCol="0" anchor="ctr"/>
          <a:lstStyle/>
          <a:p>
            <a:pPr marL="0" indent="0" algn="l">
              <a:buNone/>
            </a:pPr>
            <a:r>
              <a:rPr lang="en-US" sz="1400" b="1" dirty="0">
                <a:solidFill>
                  <a:srgbClr val="0F6E56"/>
                </a:solidFill>
                <a:latin typeface="Calibri" pitchFamily="34" charset="0"/>
                <a:ea typeface="Calibri" pitchFamily="34" charset="-122"/>
                <a:cs typeface="Calibri" pitchFamily="34" charset="-120"/>
              </a:rPr>
              <a:t>How is ovarian cancer detected?</a:t>
            </a:r>
            <a:endParaRPr lang="en-US" sz="1400" dirty="0"/>
          </a:p>
        </p:txBody>
      </p:sp>
      <p:sp>
        <p:nvSpPr>
          <p:cNvPr id="7" name="Text 5"/>
          <p:cNvSpPr/>
          <p:nvPr/>
        </p:nvSpPr>
        <p:spPr>
          <a:xfrm>
            <a:off x="411480" y="1719072"/>
            <a:ext cx="3931920" cy="640080"/>
          </a:xfrm>
          <a:prstGeom prst="rect">
            <a:avLst/>
          </a:prstGeom>
          <a:noFill/>
          <a:ln/>
        </p:spPr>
        <p:txBody>
          <a:bodyPr wrap="square" lIns="0" tIns="0" rIns="0" bIns="0" rtlCol="0" anchor="ctr"/>
          <a:lstStyle/>
          <a:p>
            <a:r>
              <a:rPr lang="en-US" sz="1150" dirty="0">
                <a:latin typeface="Calibri" pitchFamily="34" charset="0"/>
                <a:ea typeface="Calibri" pitchFamily="34" charset="-122"/>
                <a:cs typeface="Calibri" pitchFamily="34" charset="-120"/>
              </a:rPr>
              <a:t>Since there is no routine screening test, finding it early depends on your ability to recognize symptoms that are new, happen often, and keep coming back. Tell your doctor right away.</a:t>
            </a:r>
            <a:endParaRPr lang="en-US" sz="1150" dirty="0"/>
          </a:p>
        </p:txBody>
      </p:sp>
      <p:sp>
        <p:nvSpPr>
          <p:cNvPr id="8" name="Text 6"/>
          <p:cNvSpPr/>
          <p:nvPr/>
        </p:nvSpPr>
        <p:spPr>
          <a:xfrm>
            <a:off x="411480" y="2423160"/>
            <a:ext cx="3931920" cy="749808"/>
          </a:xfrm>
          <a:prstGeom prst="rect">
            <a:avLst/>
          </a:prstGeom>
          <a:noFill/>
          <a:ln/>
        </p:spPr>
        <p:txBody>
          <a:bodyPr wrap="square" lIns="0" tIns="0" rIns="0" bIns="0" rtlCol="0" anchor="ctr"/>
          <a:lstStyle/>
          <a:p>
            <a:pPr marL="0" indent="0" algn="l">
              <a:buNone/>
            </a:pPr>
            <a:r>
              <a:rPr lang="en-US" sz="1150" dirty="0">
                <a:solidFill>
                  <a:srgbClr val="2E4A40"/>
                </a:solidFill>
                <a:latin typeface="Calibri" pitchFamily="34" charset="0"/>
                <a:ea typeface="Calibri" pitchFamily="34" charset="-122"/>
                <a:cs typeface="Calibri" pitchFamily="34" charset="-120"/>
              </a:rPr>
              <a:t>When you seek care with concerning symptoms, your doctor may order a pelvic exam, transvaginal ultrasound, or CA-125 blood test as part of a diagnostic investigation. These tools investigate a concern. They are not the same as routine screening.</a:t>
            </a:r>
            <a:endParaRPr lang="en-US" sz="1150" dirty="0"/>
          </a:p>
        </p:txBody>
      </p:sp>
      <p:sp>
        <p:nvSpPr>
          <p:cNvPr id="9" name="Shape 7"/>
          <p:cNvSpPr/>
          <p:nvPr/>
        </p:nvSpPr>
        <p:spPr>
          <a:xfrm>
            <a:off x="411480" y="3255264"/>
            <a:ext cx="3931920" cy="713232"/>
          </a:xfrm>
          <a:prstGeom prst="rect">
            <a:avLst/>
          </a:prstGeom>
          <a:solidFill>
            <a:srgbClr val="D2EFE4"/>
          </a:solidFill>
          <a:ln w="9525">
            <a:solidFill>
              <a:srgbClr val="C4E5D8"/>
            </a:solidFill>
            <a:prstDash val="solid"/>
          </a:ln>
        </p:spPr>
        <p:txBody>
          <a:bodyPr/>
          <a:lstStyle/>
          <a:p>
            <a:endParaRPr lang="en-US"/>
          </a:p>
        </p:txBody>
      </p:sp>
      <p:sp>
        <p:nvSpPr>
          <p:cNvPr id="10" name="Shape 8"/>
          <p:cNvSpPr/>
          <p:nvPr/>
        </p:nvSpPr>
        <p:spPr>
          <a:xfrm>
            <a:off x="411480" y="3255264"/>
            <a:ext cx="64008" cy="713232"/>
          </a:xfrm>
          <a:prstGeom prst="rect">
            <a:avLst/>
          </a:prstGeom>
          <a:solidFill>
            <a:srgbClr val="1D9E75"/>
          </a:solidFill>
          <a:ln w="12700">
            <a:solidFill>
              <a:srgbClr val="1D9E75"/>
            </a:solidFill>
            <a:prstDash val="solid"/>
          </a:ln>
        </p:spPr>
        <p:txBody>
          <a:bodyPr/>
          <a:lstStyle/>
          <a:p>
            <a:endParaRPr lang="en-US"/>
          </a:p>
        </p:txBody>
      </p:sp>
      <p:sp>
        <p:nvSpPr>
          <p:cNvPr id="11" name="Text 9"/>
          <p:cNvSpPr/>
          <p:nvPr/>
        </p:nvSpPr>
        <p:spPr>
          <a:xfrm>
            <a:off x="576072" y="3310128"/>
            <a:ext cx="3657600" cy="201168"/>
          </a:xfrm>
          <a:prstGeom prst="rect">
            <a:avLst/>
          </a:prstGeom>
          <a:noFill/>
          <a:ln/>
        </p:spPr>
        <p:txBody>
          <a:bodyPr wrap="square" lIns="0" tIns="0" rIns="0" bIns="0" rtlCol="0" anchor="ctr"/>
          <a:lstStyle/>
          <a:p>
            <a:pPr marL="0" indent="0" algn="l">
              <a:buNone/>
            </a:pPr>
            <a:r>
              <a:rPr lang="en-US" sz="1100" b="1" dirty="0">
                <a:solidFill>
                  <a:srgbClr val="0A5C46"/>
                </a:solidFill>
                <a:latin typeface="Calibri" pitchFamily="34" charset="0"/>
                <a:ea typeface="Calibri" pitchFamily="34" charset="-122"/>
                <a:cs typeface="Calibri" pitchFamily="34" charset="-120"/>
              </a:rPr>
              <a:t>Higher risk?</a:t>
            </a:r>
            <a:endParaRPr lang="en-US" sz="1100" dirty="0"/>
          </a:p>
        </p:txBody>
      </p:sp>
      <p:sp>
        <p:nvSpPr>
          <p:cNvPr id="12" name="Text 10"/>
          <p:cNvSpPr/>
          <p:nvPr/>
        </p:nvSpPr>
        <p:spPr>
          <a:xfrm>
            <a:off x="576072" y="3529584"/>
            <a:ext cx="3657600" cy="384048"/>
          </a:xfrm>
          <a:prstGeom prst="rect">
            <a:avLst/>
          </a:prstGeom>
          <a:noFill/>
          <a:ln/>
        </p:spPr>
        <p:txBody>
          <a:bodyPr wrap="square" lIns="0" tIns="0" rIns="0" bIns="0" rtlCol="0" anchor="ctr"/>
          <a:lstStyle/>
          <a:p>
            <a:pPr marL="0" indent="0" algn="l">
              <a:buNone/>
            </a:pPr>
            <a:r>
              <a:rPr lang="en-US" sz="1050" dirty="0">
                <a:solidFill>
                  <a:srgbClr val="2E4A40"/>
                </a:solidFill>
                <a:latin typeface="Calibri" pitchFamily="34" charset="0"/>
                <a:ea typeface="Calibri" pitchFamily="34" charset="-122"/>
                <a:cs typeface="Calibri" pitchFamily="34" charset="-120"/>
              </a:rPr>
              <a:t>Women with a BRCA1/2 mutation or strong family history should speak with their doctor about a personalized monitoring plan.</a:t>
            </a:r>
            <a:endParaRPr lang="en-US" sz="1050" dirty="0"/>
          </a:p>
        </p:txBody>
      </p:sp>
      <p:sp>
        <p:nvSpPr>
          <p:cNvPr id="13" name="Shape 11"/>
          <p:cNvSpPr/>
          <p:nvPr/>
        </p:nvSpPr>
        <p:spPr>
          <a:xfrm>
            <a:off x="4572000" y="1325880"/>
            <a:ext cx="18288" cy="2743200"/>
          </a:xfrm>
          <a:prstGeom prst="rect">
            <a:avLst/>
          </a:prstGeom>
          <a:solidFill>
            <a:srgbClr val="C4E5D8"/>
          </a:solidFill>
          <a:ln w="12700">
            <a:solidFill>
              <a:srgbClr val="C4E5D8"/>
            </a:solidFill>
            <a:prstDash val="solid"/>
          </a:ln>
        </p:spPr>
        <p:txBody>
          <a:bodyPr/>
          <a:lstStyle/>
          <a:p>
            <a:endParaRPr lang="en-US"/>
          </a:p>
        </p:txBody>
      </p:sp>
      <p:sp>
        <p:nvSpPr>
          <p:cNvPr id="14" name="Text 12"/>
          <p:cNvSpPr/>
          <p:nvPr/>
        </p:nvSpPr>
        <p:spPr>
          <a:xfrm>
            <a:off x="4754880" y="1353312"/>
            <a:ext cx="4023360" cy="320040"/>
          </a:xfrm>
          <a:prstGeom prst="rect">
            <a:avLst/>
          </a:prstGeom>
          <a:noFill/>
          <a:ln/>
        </p:spPr>
        <p:txBody>
          <a:bodyPr wrap="square" lIns="0" tIns="0" rIns="0" bIns="0" rtlCol="0" anchor="ctr"/>
          <a:lstStyle/>
          <a:p>
            <a:pPr marL="0" indent="0" algn="l">
              <a:buNone/>
            </a:pPr>
            <a:r>
              <a:rPr lang="en-US" sz="1400" b="1" dirty="0">
                <a:solidFill>
                  <a:srgbClr val="0F6E56"/>
                </a:solidFill>
                <a:latin typeface="Calibri" pitchFamily="34" charset="0"/>
                <a:ea typeface="Calibri" pitchFamily="34" charset="-122"/>
                <a:cs typeface="Calibri" pitchFamily="34" charset="-120"/>
              </a:rPr>
              <a:t>Symptoms to watch for</a:t>
            </a:r>
            <a:endParaRPr lang="en-US" sz="1400" dirty="0"/>
          </a:p>
        </p:txBody>
      </p:sp>
      <p:sp>
        <p:nvSpPr>
          <p:cNvPr id="15" name="Text 13"/>
          <p:cNvSpPr/>
          <p:nvPr/>
        </p:nvSpPr>
        <p:spPr>
          <a:xfrm>
            <a:off x="4754880" y="1719072"/>
            <a:ext cx="4023360" cy="457200"/>
          </a:xfrm>
          <a:prstGeom prst="rect">
            <a:avLst/>
          </a:prstGeom>
          <a:noFill/>
          <a:ln/>
        </p:spPr>
        <p:txBody>
          <a:bodyPr wrap="square" lIns="0" tIns="0" rIns="0" bIns="0" rtlCol="0" anchor="ctr"/>
          <a:lstStyle/>
          <a:p>
            <a:pPr marL="0" indent="0" algn="l">
              <a:buNone/>
            </a:pPr>
            <a:r>
              <a:rPr lang="en-US" sz="1100" dirty="0">
                <a:solidFill>
                  <a:srgbClr val="2E4A40"/>
                </a:solidFill>
                <a:latin typeface="Calibri" pitchFamily="34" charset="0"/>
                <a:ea typeface="Calibri" pitchFamily="34" charset="-122"/>
                <a:cs typeface="Calibri" pitchFamily="34" charset="-120"/>
              </a:rPr>
              <a:t>The key is not the symptom type alone. It is whether they are new, frequent, and persistent compared to what’s normal for you.</a:t>
            </a:r>
            <a:endParaRPr lang="en-US" sz="1100" dirty="0"/>
          </a:p>
        </p:txBody>
      </p:sp>
      <p:sp>
        <p:nvSpPr>
          <p:cNvPr id="16" name="Shape 14"/>
          <p:cNvSpPr/>
          <p:nvPr/>
        </p:nvSpPr>
        <p:spPr>
          <a:xfrm>
            <a:off x="4754880" y="2249424"/>
            <a:ext cx="1938528" cy="356616"/>
          </a:xfrm>
          <a:prstGeom prst="rect">
            <a:avLst/>
          </a:prstGeom>
          <a:solidFill>
            <a:srgbClr val="F2FAF7"/>
          </a:solidFill>
          <a:ln w="12700">
            <a:solidFill>
              <a:srgbClr val="F2FAF7"/>
            </a:solidFill>
            <a:prstDash val="solid"/>
          </a:ln>
        </p:spPr>
        <p:txBody>
          <a:bodyPr/>
          <a:lstStyle/>
          <a:p>
            <a:endParaRPr lang="en-US"/>
          </a:p>
        </p:txBody>
      </p:sp>
      <p:sp>
        <p:nvSpPr>
          <p:cNvPr id="17" name="Shape 15"/>
          <p:cNvSpPr/>
          <p:nvPr/>
        </p:nvSpPr>
        <p:spPr>
          <a:xfrm>
            <a:off x="4754880" y="2249424"/>
            <a:ext cx="45720" cy="356616"/>
          </a:xfrm>
          <a:prstGeom prst="rect">
            <a:avLst/>
          </a:prstGeom>
          <a:solidFill>
            <a:srgbClr val="1D9E75"/>
          </a:solidFill>
          <a:ln w="12700">
            <a:solidFill>
              <a:srgbClr val="1D9E75"/>
            </a:solidFill>
            <a:prstDash val="solid"/>
          </a:ln>
        </p:spPr>
        <p:txBody>
          <a:bodyPr/>
          <a:lstStyle/>
          <a:p>
            <a:endParaRPr lang="en-US"/>
          </a:p>
        </p:txBody>
      </p:sp>
      <p:sp>
        <p:nvSpPr>
          <p:cNvPr id="18" name="Text 16"/>
          <p:cNvSpPr/>
          <p:nvPr/>
        </p:nvSpPr>
        <p:spPr>
          <a:xfrm>
            <a:off x="4864608" y="2267712"/>
            <a:ext cx="1801368" cy="320040"/>
          </a:xfrm>
          <a:prstGeom prst="rect">
            <a:avLst/>
          </a:prstGeom>
          <a:noFill/>
          <a:ln/>
        </p:spPr>
        <p:txBody>
          <a:bodyPr wrap="square" lIns="0" tIns="0" rIns="0" bIns="0" rtlCol="0" anchor="ctr"/>
          <a:lstStyle/>
          <a:p>
            <a:pPr marL="0" indent="0" algn="l">
              <a:buNone/>
            </a:pPr>
            <a:r>
              <a:rPr lang="en-US" sz="950" dirty="0">
                <a:solidFill>
                  <a:srgbClr val="2E4A40"/>
                </a:solidFill>
                <a:latin typeface="Calibri" pitchFamily="34" charset="0"/>
                <a:ea typeface="Calibri" pitchFamily="34" charset="-122"/>
                <a:cs typeface="Calibri" pitchFamily="34" charset="-120"/>
              </a:rPr>
              <a:t>Bloating present most days</a:t>
            </a:r>
            <a:endParaRPr lang="en-US" sz="950" dirty="0"/>
          </a:p>
        </p:txBody>
      </p:sp>
      <p:sp>
        <p:nvSpPr>
          <p:cNvPr id="19" name="Shape 17"/>
          <p:cNvSpPr/>
          <p:nvPr/>
        </p:nvSpPr>
        <p:spPr>
          <a:xfrm>
            <a:off x="4754880" y="2633472"/>
            <a:ext cx="1938528" cy="356616"/>
          </a:xfrm>
          <a:prstGeom prst="rect">
            <a:avLst/>
          </a:prstGeom>
          <a:solidFill>
            <a:srgbClr val="F2FAF7"/>
          </a:solidFill>
          <a:ln w="12700">
            <a:solidFill>
              <a:srgbClr val="F2FAF7"/>
            </a:solidFill>
            <a:prstDash val="solid"/>
          </a:ln>
        </p:spPr>
        <p:txBody>
          <a:bodyPr/>
          <a:lstStyle/>
          <a:p>
            <a:endParaRPr lang="en-US"/>
          </a:p>
        </p:txBody>
      </p:sp>
      <p:sp>
        <p:nvSpPr>
          <p:cNvPr id="20" name="Shape 18"/>
          <p:cNvSpPr/>
          <p:nvPr/>
        </p:nvSpPr>
        <p:spPr>
          <a:xfrm>
            <a:off x="4754880" y="2633472"/>
            <a:ext cx="45720" cy="356616"/>
          </a:xfrm>
          <a:prstGeom prst="rect">
            <a:avLst/>
          </a:prstGeom>
          <a:solidFill>
            <a:srgbClr val="1D9E75"/>
          </a:solidFill>
          <a:ln w="12700">
            <a:solidFill>
              <a:srgbClr val="1D9E75"/>
            </a:solidFill>
            <a:prstDash val="solid"/>
          </a:ln>
        </p:spPr>
        <p:txBody>
          <a:bodyPr/>
          <a:lstStyle/>
          <a:p>
            <a:endParaRPr lang="en-US"/>
          </a:p>
        </p:txBody>
      </p:sp>
      <p:sp>
        <p:nvSpPr>
          <p:cNvPr id="21" name="Text 19"/>
          <p:cNvSpPr/>
          <p:nvPr/>
        </p:nvSpPr>
        <p:spPr>
          <a:xfrm>
            <a:off x="4864608" y="2651760"/>
            <a:ext cx="1801368" cy="320040"/>
          </a:xfrm>
          <a:prstGeom prst="rect">
            <a:avLst/>
          </a:prstGeom>
          <a:noFill/>
          <a:ln/>
        </p:spPr>
        <p:txBody>
          <a:bodyPr wrap="square" lIns="0" tIns="0" rIns="0" bIns="0" rtlCol="0" anchor="ctr"/>
          <a:lstStyle/>
          <a:p>
            <a:pPr marL="0" indent="0" algn="l">
              <a:buNone/>
            </a:pPr>
            <a:r>
              <a:rPr lang="en-US" sz="950" dirty="0">
                <a:solidFill>
                  <a:srgbClr val="2E4A40"/>
                </a:solidFill>
                <a:latin typeface="Calibri" pitchFamily="34" charset="0"/>
                <a:ea typeface="Calibri" pitchFamily="34" charset="-122"/>
                <a:cs typeface="Calibri" pitchFamily="34" charset="-120"/>
              </a:rPr>
              <a:t>Pelvic or abdominal pain or pressure</a:t>
            </a:r>
            <a:endParaRPr lang="en-US" sz="950" dirty="0"/>
          </a:p>
        </p:txBody>
      </p:sp>
      <p:sp>
        <p:nvSpPr>
          <p:cNvPr id="22" name="Shape 20"/>
          <p:cNvSpPr/>
          <p:nvPr/>
        </p:nvSpPr>
        <p:spPr>
          <a:xfrm>
            <a:off x="4754880" y="3017520"/>
            <a:ext cx="1938528" cy="356616"/>
          </a:xfrm>
          <a:prstGeom prst="rect">
            <a:avLst/>
          </a:prstGeom>
          <a:solidFill>
            <a:srgbClr val="F2FAF7"/>
          </a:solidFill>
          <a:ln w="12700">
            <a:solidFill>
              <a:srgbClr val="F2FAF7"/>
            </a:solidFill>
            <a:prstDash val="solid"/>
          </a:ln>
        </p:spPr>
        <p:txBody>
          <a:bodyPr/>
          <a:lstStyle/>
          <a:p>
            <a:endParaRPr lang="en-US"/>
          </a:p>
        </p:txBody>
      </p:sp>
      <p:sp>
        <p:nvSpPr>
          <p:cNvPr id="23" name="Shape 21"/>
          <p:cNvSpPr/>
          <p:nvPr/>
        </p:nvSpPr>
        <p:spPr>
          <a:xfrm>
            <a:off x="4754880" y="3017520"/>
            <a:ext cx="45720" cy="356616"/>
          </a:xfrm>
          <a:prstGeom prst="rect">
            <a:avLst/>
          </a:prstGeom>
          <a:solidFill>
            <a:srgbClr val="1D9E75"/>
          </a:solidFill>
          <a:ln w="12700">
            <a:solidFill>
              <a:srgbClr val="1D9E75"/>
            </a:solidFill>
            <a:prstDash val="solid"/>
          </a:ln>
        </p:spPr>
        <p:txBody>
          <a:bodyPr/>
          <a:lstStyle/>
          <a:p>
            <a:endParaRPr lang="en-US"/>
          </a:p>
        </p:txBody>
      </p:sp>
      <p:sp>
        <p:nvSpPr>
          <p:cNvPr id="24" name="Text 22"/>
          <p:cNvSpPr/>
          <p:nvPr/>
        </p:nvSpPr>
        <p:spPr>
          <a:xfrm>
            <a:off x="4864608" y="3035808"/>
            <a:ext cx="1801368" cy="320040"/>
          </a:xfrm>
          <a:prstGeom prst="rect">
            <a:avLst/>
          </a:prstGeom>
          <a:noFill/>
          <a:ln/>
        </p:spPr>
        <p:txBody>
          <a:bodyPr wrap="square" lIns="0" tIns="0" rIns="0" bIns="0" rtlCol="0" anchor="ctr"/>
          <a:lstStyle/>
          <a:p>
            <a:pPr marL="0" indent="0" algn="l">
              <a:buNone/>
            </a:pPr>
            <a:r>
              <a:rPr lang="en-US" sz="950" dirty="0">
                <a:solidFill>
                  <a:srgbClr val="2E4A40"/>
                </a:solidFill>
                <a:latin typeface="Calibri" pitchFamily="34" charset="0"/>
                <a:ea typeface="Calibri" pitchFamily="34" charset="-122"/>
                <a:cs typeface="Calibri" pitchFamily="34" charset="-120"/>
              </a:rPr>
              <a:t>Difficulty eating or feeling full quickly</a:t>
            </a:r>
            <a:endParaRPr lang="en-US" sz="950" dirty="0"/>
          </a:p>
        </p:txBody>
      </p:sp>
      <p:sp>
        <p:nvSpPr>
          <p:cNvPr id="25" name="Shape 23"/>
          <p:cNvSpPr/>
          <p:nvPr/>
        </p:nvSpPr>
        <p:spPr>
          <a:xfrm>
            <a:off x="4754880" y="3401568"/>
            <a:ext cx="1938528" cy="356616"/>
          </a:xfrm>
          <a:prstGeom prst="rect">
            <a:avLst/>
          </a:prstGeom>
          <a:solidFill>
            <a:srgbClr val="F2FAF7"/>
          </a:solidFill>
          <a:ln w="12700">
            <a:solidFill>
              <a:srgbClr val="F2FAF7"/>
            </a:solidFill>
            <a:prstDash val="solid"/>
          </a:ln>
        </p:spPr>
        <p:txBody>
          <a:bodyPr/>
          <a:lstStyle/>
          <a:p>
            <a:endParaRPr lang="en-US"/>
          </a:p>
        </p:txBody>
      </p:sp>
      <p:sp>
        <p:nvSpPr>
          <p:cNvPr id="26" name="Shape 24"/>
          <p:cNvSpPr/>
          <p:nvPr/>
        </p:nvSpPr>
        <p:spPr>
          <a:xfrm>
            <a:off x="4754880" y="3401568"/>
            <a:ext cx="45720" cy="356616"/>
          </a:xfrm>
          <a:prstGeom prst="rect">
            <a:avLst/>
          </a:prstGeom>
          <a:solidFill>
            <a:srgbClr val="1D9E75"/>
          </a:solidFill>
          <a:ln w="12700">
            <a:solidFill>
              <a:srgbClr val="1D9E75"/>
            </a:solidFill>
            <a:prstDash val="solid"/>
          </a:ln>
        </p:spPr>
        <p:txBody>
          <a:bodyPr/>
          <a:lstStyle/>
          <a:p>
            <a:endParaRPr lang="en-US"/>
          </a:p>
        </p:txBody>
      </p:sp>
      <p:sp>
        <p:nvSpPr>
          <p:cNvPr id="27" name="Text 25"/>
          <p:cNvSpPr/>
          <p:nvPr/>
        </p:nvSpPr>
        <p:spPr>
          <a:xfrm>
            <a:off x="4864608" y="3419856"/>
            <a:ext cx="1801368" cy="320040"/>
          </a:xfrm>
          <a:prstGeom prst="rect">
            <a:avLst/>
          </a:prstGeom>
          <a:noFill/>
          <a:ln/>
        </p:spPr>
        <p:txBody>
          <a:bodyPr wrap="square" lIns="0" tIns="0" rIns="0" bIns="0" rtlCol="0" anchor="ctr"/>
          <a:lstStyle/>
          <a:p>
            <a:pPr marL="0" indent="0" algn="l">
              <a:buNone/>
            </a:pPr>
            <a:r>
              <a:rPr lang="en-US" sz="950" dirty="0">
                <a:solidFill>
                  <a:srgbClr val="2E4A40"/>
                </a:solidFill>
                <a:latin typeface="Calibri" pitchFamily="34" charset="0"/>
                <a:ea typeface="Calibri" pitchFamily="34" charset="-122"/>
                <a:cs typeface="Calibri" pitchFamily="34" charset="-120"/>
              </a:rPr>
              <a:t>Urinary urgency or frequency</a:t>
            </a:r>
            <a:endParaRPr lang="en-US" sz="950" dirty="0"/>
          </a:p>
        </p:txBody>
      </p:sp>
      <p:sp>
        <p:nvSpPr>
          <p:cNvPr id="28" name="Shape 26"/>
          <p:cNvSpPr/>
          <p:nvPr/>
        </p:nvSpPr>
        <p:spPr>
          <a:xfrm>
            <a:off x="6803136" y="2249424"/>
            <a:ext cx="1938528" cy="356616"/>
          </a:xfrm>
          <a:prstGeom prst="rect">
            <a:avLst/>
          </a:prstGeom>
          <a:solidFill>
            <a:srgbClr val="F2FAF7"/>
          </a:solidFill>
          <a:ln w="12700">
            <a:solidFill>
              <a:srgbClr val="F2FAF7"/>
            </a:solidFill>
            <a:prstDash val="solid"/>
          </a:ln>
        </p:spPr>
        <p:txBody>
          <a:bodyPr/>
          <a:lstStyle/>
          <a:p>
            <a:endParaRPr lang="en-US"/>
          </a:p>
        </p:txBody>
      </p:sp>
      <p:sp>
        <p:nvSpPr>
          <p:cNvPr id="29" name="Shape 27"/>
          <p:cNvSpPr/>
          <p:nvPr/>
        </p:nvSpPr>
        <p:spPr>
          <a:xfrm>
            <a:off x="6803136" y="2249424"/>
            <a:ext cx="45720" cy="356616"/>
          </a:xfrm>
          <a:prstGeom prst="rect">
            <a:avLst/>
          </a:prstGeom>
          <a:solidFill>
            <a:srgbClr val="1D9E75"/>
          </a:solidFill>
          <a:ln w="12700">
            <a:solidFill>
              <a:srgbClr val="1D9E75"/>
            </a:solidFill>
            <a:prstDash val="solid"/>
          </a:ln>
        </p:spPr>
        <p:txBody>
          <a:bodyPr/>
          <a:lstStyle/>
          <a:p>
            <a:endParaRPr lang="en-US"/>
          </a:p>
        </p:txBody>
      </p:sp>
      <p:sp>
        <p:nvSpPr>
          <p:cNvPr id="30" name="Text 28"/>
          <p:cNvSpPr/>
          <p:nvPr/>
        </p:nvSpPr>
        <p:spPr>
          <a:xfrm>
            <a:off x="6912864" y="2267712"/>
            <a:ext cx="1801368" cy="320040"/>
          </a:xfrm>
          <a:prstGeom prst="rect">
            <a:avLst/>
          </a:prstGeom>
          <a:noFill/>
          <a:ln/>
        </p:spPr>
        <p:txBody>
          <a:bodyPr wrap="square" lIns="0" tIns="0" rIns="0" bIns="0" rtlCol="0" anchor="ctr"/>
          <a:lstStyle/>
          <a:p>
            <a:pPr marL="0" indent="0" algn="l">
              <a:buNone/>
            </a:pPr>
            <a:r>
              <a:rPr lang="en-US" sz="950" dirty="0">
                <a:solidFill>
                  <a:srgbClr val="2E4A40"/>
                </a:solidFill>
                <a:latin typeface="Calibri" pitchFamily="34" charset="0"/>
                <a:ea typeface="Calibri" pitchFamily="34" charset="-122"/>
                <a:cs typeface="Calibri" pitchFamily="34" charset="-120"/>
              </a:rPr>
              <a:t>Unexplained fatigue or low energy</a:t>
            </a:r>
            <a:endParaRPr lang="en-US" sz="950" dirty="0"/>
          </a:p>
        </p:txBody>
      </p:sp>
      <p:sp>
        <p:nvSpPr>
          <p:cNvPr id="31" name="Shape 29"/>
          <p:cNvSpPr/>
          <p:nvPr/>
        </p:nvSpPr>
        <p:spPr>
          <a:xfrm>
            <a:off x="6803136" y="2633472"/>
            <a:ext cx="1938528" cy="356616"/>
          </a:xfrm>
          <a:prstGeom prst="rect">
            <a:avLst/>
          </a:prstGeom>
          <a:solidFill>
            <a:srgbClr val="F2FAF7"/>
          </a:solidFill>
          <a:ln w="12700">
            <a:solidFill>
              <a:srgbClr val="F2FAF7"/>
            </a:solidFill>
            <a:prstDash val="solid"/>
          </a:ln>
        </p:spPr>
        <p:txBody>
          <a:bodyPr/>
          <a:lstStyle/>
          <a:p>
            <a:endParaRPr lang="en-US"/>
          </a:p>
        </p:txBody>
      </p:sp>
      <p:sp>
        <p:nvSpPr>
          <p:cNvPr id="32" name="Shape 30"/>
          <p:cNvSpPr/>
          <p:nvPr/>
        </p:nvSpPr>
        <p:spPr>
          <a:xfrm>
            <a:off x="6803136" y="2633472"/>
            <a:ext cx="45720" cy="356616"/>
          </a:xfrm>
          <a:prstGeom prst="rect">
            <a:avLst/>
          </a:prstGeom>
          <a:solidFill>
            <a:srgbClr val="1D9E75"/>
          </a:solidFill>
          <a:ln w="12700">
            <a:solidFill>
              <a:srgbClr val="1D9E75"/>
            </a:solidFill>
            <a:prstDash val="solid"/>
          </a:ln>
        </p:spPr>
        <p:txBody>
          <a:bodyPr/>
          <a:lstStyle/>
          <a:p>
            <a:endParaRPr lang="en-US"/>
          </a:p>
        </p:txBody>
      </p:sp>
      <p:sp>
        <p:nvSpPr>
          <p:cNvPr id="33" name="Text 31"/>
          <p:cNvSpPr/>
          <p:nvPr/>
        </p:nvSpPr>
        <p:spPr>
          <a:xfrm>
            <a:off x="6912864" y="2651760"/>
            <a:ext cx="1801368" cy="320040"/>
          </a:xfrm>
          <a:prstGeom prst="rect">
            <a:avLst/>
          </a:prstGeom>
          <a:noFill/>
          <a:ln/>
        </p:spPr>
        <p:txBody>
          <a:bodyPr wrap="square" lIns="0" tIns="0" rIns="0" bIns="0" rtlCol="0" anchor="ctr"/>
          <a:lstStyle/>
          <a:p>
            <a:pPr marL="0" indent="0" algn="l">
              <a:buNone/>
            </a:pPr>
            <a:r>
              <a:rPr lang="en-US" sz="950" dirty="0">
                <a:solidFill>
                  <a:srgbClr val="2E4A40"/>
                </a:solidFill>
                <a:latin typeface="Calibri" pitchFamily="34" charset="0"/>
                <a:ea typeface="Calibri" pitchFamily="34" charset="-122"/>
                <a:cs typeface="Calibri" pitchFamily="34" charset="-120"/>
              </a:rPr>
              <a:t>Changes in bowel habits</a:t>
            </a:r>
            <a:endParaRPr lang="en-US" sz="950" dirty="0"/>
          </a:p>
        </p:txBody>
      </p:sp>
      <p:sp>
        <p:nvSpPr>
          <p:cNvPr id="34" name="Shape 32"/>
          <p:cNvSpPr/>
          <p:nvPr/>
        </p:nvSpPr>
        <p:spPr>
          <a:xfrm>
            <a:off x="6803136" y="3017520"/>
            <a:ext cx="1938528" cy="356616"/>
          </a:xfrm>
          <a:prstGeom prst="rect">
            <a:avLst/>
          </a:prstGeom>
          <a:solidFill>
            <a:srgbClr val="F2FAF7"/>
          </a:solidFill>
          <a:ln w="12700">
            <a:solidFill>
              <a:srgbClr val="F2FAF7"/>
            </a:solidFill>
            <a:prstDash val="solid"/>
          </a:ln>
        </p:spPr>
        <p:txBody>
          <a:bodyPr/>
          <a:lstStyle/>
          <a:p>
            <a:endParaRPr lang="en-US"/>
          </a:p>
        </p:txBody>
      </p:sp>
      <p:sp>
        <p:nvSpPr>
          <p:cNvPr id="35" name="Shape 33"/>
          <p:cNvSpPr/>
          <p:nvPr/>
        </p:nvSpPr>
        <p:spPr>
          <a:xfrm>
            <a:off x="6803136" y="3017520"/>
            <a:ext cx="45720" cy="356616"/>
          </a:xfrm>
          <a:prstGeom prst="rect">
            <a:avLst/>
          </a:prstGeom>
          <a:solidFill>
            <a:srgbClr val="1D9E75"/>
          </a:solidFill>
          <a:ln w="12700">
            <a:solidFill>
              <a:srgbClr val="1D9E75"/>
            </a:solidFill>
            <a:prstDash val="solid"/>
          </a:ln>
        </p:spPr>
        <p:txBody>
          <a:bodyPr/>
          <a:lstStyle/>
          <a:p>
            <a:endParaRPr lang="en-US"/>
          </a:p>
        </p:txBody>
      </p:sp>
      <p:sp>
        <p:nvSpPr>
          <p:cNvPr id="36" name="Text 34"/>
          <p:cNvSpPr/>
          <p:nvPr/>
        </p:nvSpPr>
        <p:spPr>
          <a:xfrm>
            <a:off x="6912864" y="3035808"/>
            <a:ext cx="1801368" cy="320040"/>
          </a:xfrm>
          <a:prstGeom prst="rect">
            <a:avLst/>
          </a:prstGeom>
          <a:noFill/>
          <a:ln/>
        </p:spPr>
        <p:txBody>
          <a:bodyPr wrap="square" lIns="0" tIns="0" rIns="0" bIns="0" rtlCol="0" anchor="ctr"/>
          <a:lstStyle/>
          <a:p>
            <a:pPr marL="0" indent="0" algn="l">
              <a:buNone/>
            </a:pPr>
            <a:r>
              <a:rPr lang="en-US" sz="950" dirty="0">
                <a:solidFill>
                  <a:srgbClr val="2E4A40"/>
                </a:solidFill>
                <a:latin typeface="Calibri" pitchFamily="34" charset="0"/>
                <a:ea typeface="Calibri" pitchFamily="34" charset="-122"/>
                <a:cs typeface="Calibri" pitchFamily="34" charset="-120"/>
              </a:rPr>
              <a:t>Unexplained weight loss or abdominal swelling</a:t>
            </a:r>
            <a:endParaRPr lang="en-US" sz="950" dirty="0"/>
          </a:p>
        </p:txBody>
      </p:sp>
      <p:sp>
        <p:nvSpPr>
          <p:cNvPr id="37" name="Shape 35"/>
          <p:cNvSpPr/>
          <p:nvPr/>
        </p:nvSpPr>
        <p:spPr>
          <a:xfrm>
            <a:off x="6803136" y="3401568"/>
            <a:ext cx="1938528" cy="356616"/>
          </a:xfrm>
          <a:prstGeom prst="rect">
            <a:avLst/>
          </a:prstGeom>
          <a:solidFill>
            <a:srgbClr val="F2FAF7"/>
          </a:solidFill>
          <a:ln w="12700">
            <a:solidFill>
              <a:srgbClr val="F2FAF7"/>
            </a:solidFill>
            <a:prstDash val="solid"/>
          </a:ln>
        </p:spPr>
        <p:txBody>
          <a:bodyPr/>
          <a:lstStyle/>
          <a:p>
            <a:endParaRPr lang="en-US"/>
          </a:p>
        </p:txBody>
      </p:sp>
      <p:sp>
        <p:nvSpPr>
          <p:cNvPr id="38" name="Shape 36"/>
          <p:cNvSpPr/>
          <p:nvPr/>
        </p:nvSpPr>
        <p:spPr>
          <a:xfrm>
            <a:off x="6803136" y="3401568"/>
            <a:ext cx="45720" cy="356616"/>
          </a:xfrm>
          <a:prstGeom prst="rect">
            <a:avLst/>
          </a:prstGeom>
          <a:solidFill>
            <a:srgbClr val="1D9E75"/>
          </a:solidFill>
          <a:ln w="12700">
            <a:solidFill>
              <a:srgbClr val="1D9E75"/>
            </a:solidFill>
            <a:prstDash val="solid"/>
          </a:ln>
        </p:spPr>
        <p:txBody>
          <a:bodyPr/>
          <a:lstStyle/>
          <a:p>
            <a:endParaRPr lang="en-US"/>
          </a:p>
        </p:txBody>
      </p:sp>
      <p:sp>
        <p:nvSpPr>
          <p:cNvPr id="39" name="Text 37"/>
          <p:cNvSpPr/>
          <p:nvPr/>
        </p:nvSpPr>
        <p:spPr>
          <a:xfrm>
            <a:off x="6912864" y="3419856"/>
            <a:ext cx="1801368" cy="320040"/>
          </a:xfrm>
          <a:prstGeom prst="rect">
            <a:avLst/>
          </a:prstGeom>
          <a:noFill/>
          <a:ln/>
        </p:spPr>
        <p:txBody>
          <a:bodyPr wrap="square" lIns="0" tIns="0" rIns="0" bIns="0" rtlCol="0" anchor="ctr"/>
          <a:lstStyle/>
          <a:p>
            <a:pPr marL="0" indent="0" algn="l">
              <a:buNone/>
            </a:pPr>
            <a:r>
              <a:rPr lang="en-US" sz="950" dirty="0">
                <a:solidFill>
                  <a:srgbClr val="2E4A40"/>
                </a:solidFill>
                <a:latin typeface="Calibri" pitchFamily="34" charset="0"/>
                <a:ea typeface="Calibri" pitchFamily="34" charset="-122"/>
                <a:cs typeface="Calibri" pitchFamily="34" charset="-120"/>
              </a:rPr>
              <a:t>Pain during sex</a:t>
            </a:r>
            <a:endParaRPr lang="en-US" sz="950" dirty="0"/>
          </a:p>
        </p:txBody>
      </p:sp>
      <p:sp>
        <p:nvSpPr>
          <p:cNvPr id="40" name="Shape 38"/>
          <p:cNvSpPr/>
          <p:nvPr/>
        </p:nvSpPr>
        <p:spPr>
          <a:xfrm>
            <a:off x="4754880" y="4224528"/>
            <a:ext cx="4023360" cy="640080"/>
          </a:xfrm>
          <a:prstGeom prst="rect">
            <a:avLst/>
          </a:prstGeom>
          <a:solidFill>
            <a:srgbClr val="FAEEDA"/>
          </a:solidFill>
          <a:ln w="12700">
            <a:solidFill>
              <a:srgbClr val="FAEEDA"/>
            </a:solidFill>
            <a:prstDash val="solid"/>
          </a:ln>
        </p:spPr>
        <p:txBody>
          <a:bodyPr/>
          <a:lstStyle/>
          <a:p>
            <a:endParaRPr lang="en-US"/>
          </a:p>
        </p:txBody>
      </p:sp>
      <p:sp>
        <p:nvSpPr>
          <p:cNvPr id="41" name="Shape 39"/>
          <p:cNvSpPr/>
          <p:nvPr/>
        </p:nvSpPr>
        <p:spPr>
          <a:xfrm>
            <a:off x="4754880" y="4224528"/>
            <a:ext cx="64008" cy="640080"/>
          </a:xfrm>
          <a:prstGeom prst="rect">
            <a:avLst/>
          </a:prstGeom>
          <a:solidFill>
            <a:srgbClr val="BA7517"/>
          </a:solidFill>
          <a:ln w="12700">
            <a:solidFill>
              <a:srgbClr val="BA7517"/>
            </a:solidFill>
            <a:prstDash val="solid"/>
          </a:ln>
        </p:spPr>
        <p:txBody>
          <a:bodyPr/>
          <a:lstStyle/>
          <a:p>
            <a:endParaRPr lang="en-US"/>
          </a:p>
        </p:txBody>
      </p:sp>
      <p:sp>
        <p:nvSpPr>
          <p:cNvPr id="42" name="Text 40"/>
          <p:cNvSpPr/>
          <p:nvPr/>
        </p:nvSpPr>
        <p:spPr>
          <a:xfrm>
            <a:off x="4919472" y="4279392"/>
            <a:ext cx="3794760" cy="164592"/>
          </a:xfrm>
          <a:prstGeom prst="rect">
            <a:avLst/>
          </a:prstGeom>
          <a:noFill/>
          <a:ln/>
        </p:spPr>
        <p:txBody>
          <a:bodyPr wrap="square" lIns="0" tIns="0" rIns="0" bIns="0" rtlCol="0" anchor="ctr"/>
          <a:lstStyle/>
          <a:p>
            <a:pPr marL="0" indent="0" algn="l">
              <a:buNone/>
            </a:pPr>
            <a:r>
              <a:rPr lang="en-US" sz="700" b="1" kern="0" spc="100" dirty="0">
                <a:solidFill>
                  <a:srgbClr val="854F0B"/>
                </a:solidFill>
                <a:latin typeface="Calibri" pitchFamily="34" charset="0"/>
                <a:ea typeface="Calibri" pitchFamily="34" charset="-122"/>
                <a:cs typeface="Calibri" pitchFamily="34" charset="-120"/>
              </a:rPr>
              <a:t>THE 3-WEEK GUIDELINE</a:t>
            </a:r>
            <a:endParaRPr lang="en-US" sz="700" dirty="0"/>
          </a:p>
        </p:txBody>
      </p:sp>
      <p:sp>
        <p:nvSpPr>
          <p:cNvPr id="43" name="Text 41"/>
          <p:cNvSpPr/>
          <p:nvPr/>
        </p:nvSpPr>
        <p:spPr>
          <a:xfrm>
            <a:off x="4919472" y="4462272"/>
            <a:ext cx="3794760" cy="365760"/>
          </a:xfrm>
          <a:prstGeom prst="rect">
            <a:avLst/>
          </a:prstGeom>
          <a:noFill/>
          <a:ln/>
        </p:spPr>
        <p:txBody>
          <a:bodyPr wrap="square" lIns="0" tIns="0" rIns="0" bIns="0" rtlCol="0" anchor="ctr"/>
          <a:lstStyle/>
          <a:p>
            <a:pPr marL="0" indent="0" algn="l">
              <a:buNone/>
            </a:pPr>
            <a:r>
              <a:rPr lang="en-US" sz="1050" dirty="0">
                <a:solidFill>
                  <a:srgbClr val="854F0B"/>
                </a:solidFill>
                <a:latin typeface="Calibri" pitchFamily="34" charset="0"/>
                <a:ea typeface="Calibri" pitchFamily="34" charset="-122"/>
                <a:cs typeface="Calibri" pitchFamily="34" charset="-120"/>
              </a:rPr>
              <a:t>Symptoms present more days than not for 3 or more weeks? See your doctor. You do not need to wait for an annual exam.</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91440"/>
            <a:ext cx="8412480" cy="201168"/>
          </a:xfrm>
          <a:prstGeom prst="rect">
            <a:avLst/>
          </a:prstGeom>
          <a:noFill/>
          <a:ln/>
        </p:spPr>
        <p:txBody>
          <a:bodyPr wrap="square" lIns="0" tIns="0" rIns="0" bIns="0" rtlCol="0" anchor="ctr"/>
          <a:lstStyle/>
          <a:p>
            <a:pPr marL="0" indent="0" algn="l">
              <a:buNone/>
            </a:pPr>
            <a:r>
              <a:rPr lang="en-US" sz="800" dirty="0">
                <a:solidFill>
                  <a:srgbClr val="4A6B60"/>
                </a:solidFill>
                <a:latin typeface="Calibri" pitchFamily="34" charset="0"/>
                <a:ea typeface="Calibri" pitchFamily="34" charset="-122"/>
                <a:cs typeface="Calibri" pitchFamily="34" charset="-120"/>
              </a:rPr>
              <a:t>SECTION 5 -- What to do and what to say to your doctor</a:t>
            </a:r>
            <a:endParaRPr lang="en-US" sz="800" dirty="0"/>
          </a:p>
        </p:txBody>
      </p:sp>
      <p:sp>
        <p:nvSpPr>
          <p:cNvPr id="3" name="Shape 1"/>
          <p:cNvSpPr/>
          <p:nvPr/>
        </p:nvSpPr>
        <p:spPr>
          <a:xfrm>
            <a:off x="0" y="0"/>
            <a:ext cx="9144000" cy="1234440"/>
          </a:xfrm>
          <a:prstGeom prst="rect">
            <a:avLst/>
          </a:prstGeom>
          <a:solidFill>
            <a:srgbClr val="0A5C46"/>
          </a:solidFill>
          <a:ln w="12700">
            <a:solidFill>
              <a:srgbClr val="0A5C46"/>
            </a:solidFill>
            <a:prstDash val="solid"/>
          </a:ln>
        </p:spPr>
        <p:txBody>
          <a:bodyPr/>
          <a:lstStyle/>
          <a:p>
            <a:endParaRPr lang="en-US"/>
          </a:p>
        </p:txBody>
      </p:sp>
      <p:sp>
        <p:nvSpPr>
          <p:cNvPr id="4" name="Text 2"/>
          <p:cNvSpPr/>
          <p:nvPr/>
        </p:nvSpPr>
        <p:spPr>
          <a:xfrm>
            <a:off x="411480" y="137160"/>
            <a:ext cx="3657600" cy="201168"/>
          </a:xfrm>
          <a:prstGeom prst="rect">
            <a:avLst/>
          </a:prstGeom>
          <a:noFill/>
          <a:ln/>
        </p:spPr>
        <p:txBody>
          <a:bodyPr wrap="square" lIns="0" tIns="0" rIns="0" bIns="0" rtlCol="0" anchor="ctr"/>
          <a:lstStyle/>
          <a:p>
            <a:pPr marL="0" indent="0" algn="l">
              <a:buNone/>
            </a:pPr>
            <a:r>
              <a:rPr lang="en-US" sz="800" b="1" kern="0" spc="100" dirty="0">
                <a:solidFill>
                  <a:srgbClr val="7BBFAA"/>
                </a:solidFill>
                <a:latin typeface="Calibri" pitchFamily="34" charset="0"/>
                <a:ea typeface="Calibri" pitchFamily="34" charset="-122"/>
                <a:cs typeface="Calibri" pitchFamily="34" charset="-120"/>
              </a:rPr>
              <a:t>SECTION 5</a:t>
            </a:r>
            <a:endParaRPr lang="en-US" sz="800" dirty="0"/>
          </a:p>
        </p:txBody>
      </p:sp>
      <p:sp>
        <p:nvSpPr>
          <p:cNvPr id="5" name="Text 3"/>
          <p:cNvSpPr/>
          <p:nvPr/>
        </p:nvSpPr>
        <p:spPr>
          <a:xfrm>
            <a:off x="411480" y="365760"/>
            <a:ext cx="8321040" cy="68580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What to do and what to say to your doctor</a:t>
            </a:r>
            <a:endParaRPr lang="en-US" sz="2600" dirty="0"/>
          </a:p>
        </p:txBody>
      </p:sp>
      <p:sp>
        <p:nvSpPr>
          <p:cNvPr id="6" name="Text 4"/>
          <p:cNvSpPr/>
          <p:nvPr/>
        </p:nvSpPr>
        <p:spPr>
          <a:xfrm>
            <a:off x="411480" y="1353312"/>
            <a:ext cx="8321040" cy="548640"/>
          </a:xfrm>
          <a:prstGeom prst="rect">
            <a:avLst/>
          </a:prstGeom>
          <a:noFill/>
          <a:ln/>
        </p:spPr>
        <p:txBody>
          <a:bodyPr wrap="square" lIns="0" tIns="0" rIns="0" bIns="0" rtlCol="0" anchor="ctr"/>
          <a:lstStyle/>
          <a:p>
            <a:pPr marL="0" indent="0" algn="l">
              <a:buNone/>
            </a:pPr>
            <a:r>
              <a:rPr lang="en-US" sz="1250" dirty="0">
                <a:solidFill>
                  <a:srgbClr val="2E4A40"/>
                </a:solidFill>
                <a:latin typeface="Calibri" pitchFamily="34" charset="0"/>
                <a:ea typeface="Calibri" pitchFamily="34" charset="-122"/>
                <a:cs typeface="Calibri" pitchFamily="34" charset="-120"/>
              </a:rPr>
              <a:t>Many women wait to get care. The symptoms can feel too small to mention, or they may think a recent Pap test or pelvic exam would have caught a problem. These feelings are understandable, but they should not stop you from asking questions.</a:t>
            </a:r>
          </a:p>
        </p:txBody>
      </p:sp>
      <p:sp>
        <p:nvSpPr>
          <p:cNvPr id="7" name="Shape 5"/>
          <p:cNvSpPr/>
          <p:nvPr/>
        </p:nvSpPr>
        <p:spPr>
          <a:xfrm>
            <a:off x="411480" y="1975104"/>
            <a:ext cx="8321040" cy="365760"/>
          </a:xfrm>
          <a:prstGeom prst="rect">
            <a:avLst/>
          </a:prstGeom>
          <a:solidFill>
            <a:srgbClr val="0F6E56"/>
          </a:solidFill>
          <a:ln w="12700">
            <a:solidFill>
              <a:srgbClr val="0F6E56"/>
            </a:solidFill>
            <a:prstDash val="solid"/>
          </a:ln>
        </p:spPr>
        <p:txBody>
          <a:bodyPr/>
          <a:lstStyle/>
          <a:p>
            <a:endParaRPr lang="en-US"/>
          </a:p>
        </p:txBody>
      </p:sp>
      <p:sp>
        <p:nvSpPr>
          <p:cNvPr id="8" name="Text 6"/>
          <p:cNvSpPr/>
          <p:nvPr/>
        </p:nvSpPr>
        <p:spPr>
          <a:xfrm>
            <a:off x="502920" y="2011680"/>
            <a:ext cx="3657600" cy="292608"/>
          </a:xfrm>
          <a:prstGeom prst="rect">
            <a:avLst/>
          </a:prstGeom>
          <a:noFill/>
          <a:ln/>
        </p:spPr>
        <p:txBody>
          <a:bodyPr wrap="square" lIns="0" tIns="0" rIns="0" bIns="0" rtlCol="0" anchor="ctr"/>
          <a:lstStyle/>
          <a:p>
            <a:pPr marL="0" indent="0" algn="l">
              <a:buNone/>
            </a:pPr>
            <a:r>
              <a:rPr lang="en-US" sz="1600" b="1" dirty="0">
                <a:solidFill>
                  <a:srgbClr val="FFFFFF"/>
                </a:solidFill>
                <a:latin typeface="Georgia" pitchFamily="34" charset="0"/>
                <a:ea typeface="Georgia" pitchFamily="34" charset="-122"/>
                <a:cs typeface="Georgia" pitchFamily="34" charset="-120"/>
              </a:rPr>
              <a:t>Your action plan</a:t>
            </a:r>
            <a:endParaRPr lang="en-US" sz="1600" dirty="0"/>
          </a:p>
        </p:txBody>
      </p:sp>
      <p:sp>
        <p:nvSpPr>
          <p:cNvPr id="9" name="Shape 7"/>
          <p:cNvSpPr/>
          <p:nvPr/>
        </p:nvSpPr>
        <p:spPr>
          <a:xfrm>
            <a:off x="411480" y="2414016"/>
            <a:ext cx="8321040" cy="457200"/>
          </a:xfrm>
          <a:prstGeom prst="rect">
            <a:avLst/>
          </a:prstGeom>
          <a:solidFill>
            <a:srgbClr val="EBF7F2"/>
          </a:solidFill>
          <a:ln w="12700">
            <a:solidFill>
              <a:srgbClr val="EBF7F2"/>
            </a:solidFill>
            <a:prstDash val="solid"/>
          </a:ln>
        </p:spPr>
        <p:txBody>
          <a:bodyPr/>
          <a:lstStyle/>
          <a:p>
            <a:endParaRPr lang="en-US"/>
          </a:p>
        </p:txBody>
      </p:sp>
      <p:sp>
        <p:nvSpPr>
          <p:cNvPr id="10" name="Shape 8"/>
          <p:cNvSpPr/>
          <p:nvPr/>
        </p:nvSpPr>
        <p:spPr>
          <a:xfrm>
            <a:off x="457200" y="2505456"/>
            <a:ext cx="274320" cy="274320"/>
          </a:xfrm>
          <a:prstGeom prst="ellipse">
            <a:avLst/>
          </a:prstGeom>
          <a:solidFill>
            <a:srgbClr val="1D9E75"/>
          </a:solidFill>
          <a:ln w="12700">
            <a:solidFill>
              <a:srgbClr val="1D9E75"/>
            </a:solidFill>
            <a:prstDash val="solid"/>
          </a:ln>
        </p:spPr>
        <p:txBody>
          <a:bodyPr/>
          <a:lstStyle/>
          <a:p>
            <a:endParaRPr lang="en-US"/>
          </a:p>
        </p:txBody>
      </p:sp>
      <p:sp>
        <p:nvSpPr>
          <p:cNvPr id="11" name="Text 9"/>
          <p:cNvSpPr/>
          <p:nvPr/>
        </p:nvSpPr>
        <p:spPr>
          <a:xfrm>
            <a:off x="457200" y="250545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804672" y="2468880"/>
            <a:ext cx="2011680" cy="347472"/>
          </a:xfrm>
          <a:prstGeom prst="rect">
            <a:avLst/>
          </a:prstGeom>
          <a:noFill/>
          <a:ln/>
        </p:spPr>
        <p:txBody>
          <a:bodyPr wrap="square" lIns="0" tIns="0" rIns="0" bIns="0" rtlCol="0" anchor="ctr"/>
          <a:lstStyle/>
          <a:p>
            <a:pPr marL="0" indent="0" algn="l">
              <a:buNone/>
            </a:pPr>
            <a:r>
              <a:rPr lang="en-US" sz="1100" b="1" dirty="0">
                <a:solidFill>
                  <a:srgbClr val="0A5C46"/>
                </a:solidFill>
                <a:latin typeface="Calibri" pitchFamily="34" charset="0"/>
                <a:ea typeface="Calibri" pitchFamily="34" charset="-122"/>
                <a:cs typeface="Calibri" pitchFamily="34" charset="-120"/>
              </a:rPr>
              <a:t>Keep a symptom diary  </a:t>
            </a:r>
            <a:endParaRPr lang="en-US" sz="1100" dirty="0"/>
          </a:p>
        </p:txBody>
      </p:sp>
      <p:sp>
        <p:nvSpPr>
          <p:cNvPr id="13" name="Text 11"/>
          <p:cNvSpPr/>
          <p:nvPr/>
        </p:nvSpPr>
        <p:spPr>
          <a:xfrm>
            <a:off x="2834640" y="2450592"/>
            <a:ext cx="5760720" cy="384048"/>
          </a:xfrm>
          <a:prstGeom prst="rect">
            <a:avLst/>
          </a:prstGeom>
          <a:noFill/>
          <a:ln/>
        </p:spPr>
        <p:txBody>
          <a:bodyPr wrap="square" lIns="0" tIns="0" rIns="0" bIns="0" rtlCol="0" anchor="ctr"/>
          <a:lstStyle/>
          <a:p>
            <a:pPr marL="0" indent="0" algn="l">
              <a:buNone/>
            </a:pPr>
            <a:r>
              <a:rPr lang="en-US" sz="1050" dirty="0">
                <a:solidFill>
                  <a:srgbClr val="2E4A40"/>
                </a:solidFill>
                <a:latin typeface="Calibri" pitchFamily="34" charset="0"/>
                <a:ea typeface="Calibri" pitchFamily="34" charset="-122"/>
                <a:cs typeface="Calibri" pitchFamily="34" charset="-120"/>
              </a:rPr>
              <a:t>Write down which symptoms you have, how often, and whether they feel different from your normal. Even one week of notes helps your doctor see a pattern.</a:t>
            </a:r>
          </a:p>
        </p:txBody>
      </p:sp>
      <p:sp>
        <p:nvSpPr>
          <p:cNvPr id="14" name="Shape 12"/>
          <p:cNvSpPr/>
          <p:nvPr/>
        </p:nvSpPr>
        <p:spPr>
          <a:xfrm>
            <a:off x="411480" y="2898648"/>
            <a:ext cx="8321040" cy="457200"/>
          </a:xfrm>
          <a:prstGeom prst="rect">
            <a:avLst/>
          </a:prstGeom>
          <a:solidFill>
            <a:srgbClr val="FFFFFF"/>
          </a:solidFill>
          <a:ln w="12700">
            <a:solidFill>
              <a:srgbClr val="FFFFFF"/>
            </a:solidFill>
            <a:prstDash val="solid"/>
          </a:ln>
        </p:spPr>
        <p:txBody>
          <a:bodyPr/>
          <a:lstStyle/>
          <a:p>
            <a:endParaRPr lang="en-US"/>
          </a:p>
        </p:txBody>
      </p:sp>
      <p:sp>
        <p:nvSpPr>
          <p:cNvPr id="15" name="Shape 13"/>
          <p:cNvSpPr/>
          <p:nvPr/>
        </p:nvSpPr>
        <p:spPr>
          <a:xfrm>
            <a:off x="457200" y="2990088"/>
            <a:ext cx="274320" cy="274320"/>
          </a:xfrm>
          <a:prstGeom prst="ellipse">
            <a:avLst/>
          </a:prstGeom>
          <a:solidFill>
            <a:srgbClr val="1D9E75"/>
          </a:solidFill>
          <a:ln w="12700">
            <a:solidFill>
              <a:srgbClr val="1D9E75"/>
            </a:solidFill>
            <a:prstDash val="solid"/>
          </a:ln>
        </p:spPr>
        <p:txBody>
          <a:bodyPr/>
          <a:lstStyle/>
          <a:p>
            <a:endParaRPr lang="en-US"/>
          </a:p>
        </p:txBody>
      </p:sp>
      <p:sp>
        <p:nvSpPr>
          <p:cNvPr id="16" name="Text 14"/>
          <p:cNvSpPr/>
          <p:nvPr/>
        </p:nvSpPr>
        <p:spPr>
          <a:xfrm>
            <a:off x="457200" y="299008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5"/>
          <p:cNvSpPr/>
          <p:nvPr/>
        </p:nvSpPr>
        <p:spPr>
          <a:xfrm>
            <a:off x="804672" y="2953512"/>
            <a:ext cx="2011680" cy="347472"/>
          </a:xfrm>
          <a:prstGeom prst="rect">
            <a:avLst/>
          </a:prstGeom>
          <a:noFill/>
          <a:ln/>
        </p:spPr>
        <p:txBody>
          <a:bodyPr wrap="square" lIns="0" tIns="0" rIns="0" bIns="0" rtlCol="0" anchor="ctr"/>
          <a:lstStyle/>
          <a:p>
            <a:pPr marL="0" indent="0" algn="l">
              <a:buNone/>
            </a:pPr>
            <a:r>
              <a:rPr lang="en-US" sz="1100" b="1" dirty="0">
                <a:solidFill>
                  <a:srgbClr val="0A5C46"/>
                </a:solidFill>
                <a:latin typeface="Calibri" pitchFamily="34" charset="0"/>
                <a:ea typeface="Calibri" pitchFamily="34" charset="-122"/>
                <a:cs typeface="Calibri" pitchFamily="34" charset="-120"/>
              </a:rPr>
              <a:t>Book a separate appointment  </a:t>
            </a:r>
            <a:endParaRPr lang="en-US" sz="1100" dirty="0"/>
          </a:p>
        </p:txBody>
      </p:sp>
      <p:sp>
        <p:nvSpPr>
          <p:cNvPr id="18" name="Text 16"/>
          <p:cNvSpPr/>
          <p:nvPr/>
        </p:nvSpPr>
        <p:spPr>
          <a:xfrm>
            <a:off x="2834640" y="2935224"/>
            <a:ext cx="5760720" cy="384048"/>
          </a:xfrm>
          <a:prstGeom prst="rect">
            <a:avLst/>
          </a:prstGeom>
          <a:noFill/>
          <a:ln/>
        </p:spPr>
        <p:txBody>
          <a:bodyPr wrap="square" lIns="0" tIns="0" rIns="0" bIns="0" rtlCol="0" anchor="ctr"/>
          <a:lstStyle/>
          <a:p>
            <a:r>
              <a:rPr lang="en-US" sz="1050" dirty="0">
                <a:solidFill>
                  <a:srgbClr val="2E4A40"/>
                </a:solidFill>
                <a:latin typeface="Calibri" pitchFamily="34" charset="0"/>
                <a:ea typeface="Calibri" pitchFamily="34" charset="-122"/>
                <a:cs typeface="Calibri" pitchFamily="34" charset="-120"/>
              </a:rPr>
              <a:t>Call your family doctor or nurse practitioner.  Do not wait for your yearly exam. . Book a visit to talk about your symptoms.</a:t>
            </a:r>
            <a:endParaRPr lang="en-US" sz="1050" dirty="0">
              <a:solidFill>
                <a:srgbClr val="FF0000"/>
              </a:solidFill>
            </a:endParaRPr>
          </a:p>
        </p:txBody>
      </p:sp>
      <p:sp>
        <p:nvSpPr>
          <p:cNvPr id="19" name="Shape 17"/>
          <p:cNvSpPr/>
          <p:nvPr/>
        </p:nvSpPr>
        <p:spPr>
          <a:xfrm>
            <a:off x="411480" y="3383280"/>
            <a:ext cx="8321040" cy="457200"/>
          </a:xfrm>
          <a:prstGeom prst="rect">
            <a:avLst/>
          </a:prstGeom>
          <a:solidFill>
            <a:srgbClr val="EBF7F2"/>
          </a:solidFill>
          <a:ln w="12700">
            <a:solidFill>
              <a:srgbClr val="EBF7F2"/>
            </a:solidFill>
            <a:prstDash val="solid"/>
          </a:ln>
        </p:spPr>
        <p:txBody>
          <a:bodyPr/>
          <a:lstStyle/>
          <a:p>
            <a:endParaRPr lang="en-US"/>
          </a:p>
        </p:txBody>
      </p:sp>
      <p:sp>
        <p:nvSpPr>
          <p:cNvPr id="20" name="Shape 18"/>
          <p:cNvSpPr/>
          <p:nvPr/>
        </p:nvSpPr>
        <p:spPr>
          <a:xfrm>
            <a:off x="457200" y="3474720"/>
            <a:ext cx="274320" cy="274320"/>
          </a:xfrm>
          <a:prstGeom prst="ellipse">
            <a:avLst/>
          </a:prstGeom>
          <a:solidFill>
            <a:srgbClr val="1D9E75"/>
          </a:solidFill>
          <a:ln w="12700">
            <a:solidFill>
              <a:srgbClr val="1D9E75"/>
            </a:solidFill>
            <a:prstDash val="solid"/>
          </a:ln>
        </p:spPr>
        <p:txBody>
          <a:bodyPr/>
          <a:lstStyle/>
          <a:p>
            <a:endParaRPr lang="en-US"/>
          </a:p>
        </p:txBody>
      </p:sp>
      <p:sp>
        <p:nvSpPr>
          <p:cNvPr id="21" name="Text 19"/>
          <p:cNvSpPr/>
          <p:nvPr/>
        </p:nvSpPr>
        <p:spPr>
          <a:xfrm>
            <a:off x="457200" y="347472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2" name="Text 20"/>
          <p:cNvSpPr/>
          <p:nvPr/>
        </p:nvSpPr>
        <p:spPr>
          <a:xfrm>
            <a:off x="804672" y="3438144"/>
            <a:ext cx="2011680" cy="347472"/>
          </a:xfrm>
          <a:prstGeom prst="rect">
            <a:avLst/>
          </a:prstGeom>
          <a:noFill/>
          <a:ln/>
        </p:spPr>
        <p:txBody>
          <a:bodyPr wrap="square" lIns="0" tIns="0" rIns="0" bIns="0" rtlCol="0" anchor="ctr"/>
          <a:lstStyle/>
          <a:p>
            <a:pPr marL="0" indent="0" algn="l">
              <a:buNone/>
            </a:pPr>
            <a:r>
              <a:rPr lang="en-US" sz="1100" b="1" dirty="0">
                <a:solidFill>
                  <a:srgbClr val="0A5C46"/>
                </a:solidFill>
                <a:latin typeface="Calibri" pitchFamily="34" charset="0"/>
                <a:ea typeface="Calibri" pitchFamily="34" charset="-122"/>
                <a:cs typeface="Calibri" pitchFamily="34" charset="-120"/>
              </a:rPr>
              <a:t>Be direct with your doctor  </a:t>
            </a:r>
            <a:endParaRPr lang="en-US" sz="1100" dirty="0"/>
          </a:p>
        </p:txBody>
      </p:sp>
      <p:sp>
        <p:nvSpPr>
          <p:cNvPr id="23" name="Text 21"/>
          <p:cNvSpPr/>
          <p:nvPr/>
        </p:nvSpPr>
        <p:spPr>
          <a:xfrm>
            <a:off x="2834640" y="3419856"/>
            <a:ext cx="5760720" cy="384048"/>
          </a:xfrm>
          <a:prstGeom prst="rect">
            <a:avLst/>
          </a:prstGeom>
          <a:noFill/>
          <a:ln/>
        </p:spPr>
        <p:txBody>
          <a:bodyPr wrap="square" lIns="0" tIns="0" rIns="0" bIns="0" rtlCol="0" anchor="ctr"/>
          <a:lstStyle/>
          <a:p>
            <a:r>
              <a:rPr lang="en-US" sz="1050" dirty="0">
                <a:solidFill>
                  <a:srgbClr val="2E4A40"/>
                </a:solidFill>
                <a:latin typeface="Calibri" pitchFamily="34" charset="0"/>
                <a:ea typeface="Calibri" pitchFamily="34" charset="-122"/>
                <a:cs typeface="Calibri" pitchFamily="34" charset="-120"/>
              </a:rPr>
              <a:t>Say: "I have had [symptom] most days for the past [number] weeks. It feels different from my normal. I would like to talk about whether we should look into it."</a:t>
            </a:r>
            <a:endParaRPr lang="en-US" sz="1050" dirty="0"/>
          </a:p>
        </p:txBody>
      </p:sp>
      <p:sp>
        <p:nvSpPr>
          <p:cNvPr id="24" name="Shape 22"/>
          <p:cNvSpPr/>
          <p:nvPr/>
        </p:nvSpPr>
        <p:spPr>
          <a:xfrm>
            <a:off x="411480" y="3867912"/>
            <a:ext cx="8321040" cy="457200"/>
          </a:xfrm>
          <a:prstGeom prst="rect">
            <a:avLst/>
          </a:prstGeom>
          <a:solidFill>
            <a:srgbClr val="FFFFFF"/>
          </a:solidFill>
          <a:ln w="12700">
            <a:solidFill>
              <a:srgbClr val="FFFFFF"/>
            </a:solidFill>
            <a:prstDash val="solid"/>
          </a:ln>
        </p:spPr>
        <p:txBody>
          <a:bodyPr/>
          <a:lstStyle/>
          <a:p>
            <a:endParaRPr lang="en-US"/>
          </a:p>
        </p:txBody>
      </p:sp>
      <p:sp>
        <p:nvSpPr>
          <p:cNvPr id="25" name="Shape 23"/>
          <p:cNvSpPr/>
          <p:nvPr/>
        </p:nvSpPr>
        <p:spPr>
          <a:xfrm>
            <a:off x="457200" y="3959352"/>
            <a:ext cx="274320" cy="274320"/>
          </a:xfrm>
          <a:prstGeom prst="ellipse">
            <a:avLst/>
          </a:prstGeom>
          <a:solidFill>
            <a:srgbClr val="1D9E75"/>
          </a:solidFill>
          <a:ln w="12700">
            <a:solidFill>
              <a:srgbClr val="1D9E75"/>
            </a:solidFill>
            <a:prstDash val="solid"/>
          </a:ln>
        </p:spPr>
        <p:txBody>
          <a:bodyPr/>
          <a:lstStyle/>
          <a:p>
            <a:endParaRPr lang="en-US"/>
          </a:p>
        </p:txBody>
      </p:sp>
      <p:sp>
        <p:nvSpPr>
          <p:cNvPr id="26" name="Text 24"/>
          <p:cNvSpPr/>
          <p:nvPr/>
        </p:nvSpPr>
        <p:spPr>
          <a:xfrm>
            <a:off x="457200" y="395935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7" name="Text 25"/>
          <p:cNvSpPr/>
          <p:nvPr/>
        </p:nvSpPr>
        <p:spPr>
          <a:xfrm>
            <a:off x="804672" y="3922776"/>
            <a:ext cx="2011680" cy="347472"/>
          </a:xfrm>
          <a:prstGeom prst="rect">
            <a:avLst/>
          </a:prstGeom>
          <a:noFill/>
          <a:ln/>
        </p:spPr>
        <p:txBody>
          <a:bodyPr wrap="square" lIns="0" tIns="0" rIns="0" bIns="0" rtlCol="0" anchor="ctr"/>
          <a:lstStyle/>
          <a:p>
            <a:pPr marL="0" indent="0" algn="l">
              <a:buNone/>
            </a:pPr>
            <a:r>
              <a:rPr lang="en-US" sz="1100" b="1" dirty="0">
                <a:solidFill>
                  <a:srgbClr val="0A5C46"/>
                </a:solidFill>
                <a:latin typeface="Calibri" pitchFamily="34" charset="0"/>
                <a:ea typeface="Calibri" pitchFamily="34" charset="-122"/>
                <a:cs typeface="Calibri" pitchFamily="34" charset="-120"/>
              </a:rPr>
              <a:t>Ask specifically about ovarian cancer  </a:t>
            </a:r>
            <a:endParaRPr lang="en-US" sz="1100" dirty="0"/>
          </a:p>
        </p:txBody>
      </p:sp>
      <p:sp>
        <p:nvSpPr>
          <p:cNvPr id="28" name="Text 26"/>
          <p:cNvSpPr/>
          <p:nvPr/>
        </p:nvSpPr>
        <p:spPr>
          <a:xfrm>
            <a:off x="2834640" y="3904488"/>
            <a:ext cx="5760720" cy="384048"/>
          </a:xfrm>
          <a:prstGeom prst="rect">
            <a:avLst/>
          </a:prstGeom>
          <a:noFill/>
          <a:ln/>
        </p:spPr>
        <p:txBody>
          <a:bodyPr wrap="square" lIns="0" tIns="0" rIns="0" bIns="0" rtlCol="0" anchor="ctr"/>
          <a:lstStyle/>
          <a:p>
            <a:pPr marL="0" indent="0" algn="l">
              <a:buNone/>
            </a:pPr>
            <a:r>
              <a:rPr lang="en-US" sz="1050" dirty="0">
                <a:solidFill>
                  <a:srgbClr val="2E4A40"/>
                </a:solidFill>
                <a:latin typeface="Calibri" pitchFamily="34" charset="0"/>
                <a:ea typeface="Calibri" pitchFamily="34" charset="-122"/>
                <a:cs typeface="Calibri" pitchFamily="34" charset="-120"/>
              </a:rPr>
              <a:t>You can say: "Is it possible these symptoms could be related to my ovaries? What would be the next step to find out?"</a:t>
            </a:r>
            <a:endParaRPr lang="en-US" sz="1050" dirty="0"/>
          </a:p>
        </p:txBody>
      </p:sp>
      <p:sp>
        <p:nvSpPr>
          <p:cNvPr id="29" name="Shape 27"/>
          <p:cNvSpPr/>
          <p:nvPr/>
        </p:nvSpPr>
        <p:spPr>
          <a:xfrm>
            <a:off x="411480" y="4352544"/>
            <a:ext cx="8321040" cy="457200"/>
          </a:xfrm>
          <a:prstGeom prst="rect">
            <a:avLst/>
          </a:prstGeom>
          <a:solidFill>
            <a:srgbClr val="EBF7F2"/>
          </a:solidFill>
          <a:ln w="12700">
            <a:solidFill>
              <a:srgbClr val="EBF7F2"/>
            </a:solidFill>
            <a:prstDash val="solid"/>
          </a:ln>
        </p:spPr>
        <p:txBody>
          <a:bodyPr/>
          <a:lstStyle/>
          <a:p>
            <a:endParaRPr lang="en-US"/>
          </a:p>
        </p:txBody>
      </p:sp>
      <p:sp>
        <p:nvSpPr>
          <p:cNvPr id="30" name="Shape 28"/>
          <p:cNvSpPr/>
          <p:nvPr/>
        </p:nvSpPr>
        <p:spPr>
          <a:xfrm>
            <a:off x="457200" y="4443984"/>
            <a:ext cx="274320" cy="274320"/>
          </a:xfrm>
          <a:prstGeom prst="ellipse">
            <a:avLst/>
          </a:prstGeom>
          <a:solidFill>
            <a:srgbClr val="1D9E75"/>
          </a:solidFill>
          <a:ln w="12700">
            <a:solidFill>
              <a:srgbClr val="1D9E75"/>
            </a:solidFill>
            <a:prstDash val="solid"/>
          </a:ln>
        </p:spPr>
        <p:txBody>
          <a:bodyPr/>
          <a:lstStyle/>
          <a:p>
            <a:endParaRPr lang="en-US"/>
          </a:p>
        </p:txBody>
      </p:sp>
      <p:sp>
        <p:nvSpPr>
          <p:cNvPr id="31" name="Text 29"/>
          <p:cNvSpPr/>
          <p:nvPr/>
        </p:nvSpPr>
        <p:spPr>
          <a:xfrm>
            <a:off x="457200" y="444398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2" name="Text 30"/>
          <p:cNvSpPr/>
          <p:nvPr/>
        </p:nvSpPr>
        <p:spPr>
          <a:xfrm>
            <a:off x="804672" y="4407408"/>
            <a:ext cx="2011680" cy="347472"/>
          </a:xfrm>
          <a:prstGeom prst="rect">
            <a:avLst/>
          </a:prstGeom>
          <a:noFill/>
          <a:ln/>
        </p:spPr>
        <p:txBody>
          <a:bodyPr wrap="square" lIns="0" tIns="0" rIns="0" bIns="0" rtlCol="0" anchor="ctr"/>
          <a:lstStyle/>
          <a:p>
            <a:pPr marL="0" indent="0" algn="l">
              <a:buNone/>
            </a:pPr>
            <a:r>
              <a:rPr lang="en-US" sz="1100" b="1" dirty="0">
                <a:solidFill>
                  <a:srgbClr val="0A5C46"/>
                </a:solidFill>
                <a:latin typeface="Calibri" pitchFamily="34" charset="0"/>
                <a:ea typeface="Calibri" pitchFamily="34" charset="-122"/>
                <a:cs typeface="Calibri" pitchFamily="34" charset="-120"/>
              </a:rPr>
              <a:t>Seek a second opinion if needed  </a:t>
            </a:r>
            <a:endParaRPr lang="en-US" sz="1100" dirty="0"/>
          </a:p>
        </p:txBody>
      </p:sp>
      <p:sp>
        <p:nvSpPr>
          <p:cNvPr id="33" name="Text 31"/>
          <p:cNvSpPr/>
          <p:nvPr/>
        </p:nvSpPr>
        <p:spPr>
          <a:xfrm>
            <a:off x="2834640" y="4389120"/>
            <a:ext cx="5760720" cy="384048"/>
          </a:xfrm>
          <a:prstGeom prst="rect">
            <a:avLst/>
          </a:prstGeom>
          <a:noFill/>
          <a:ln/>
        </p:spPr>
        <p:txBody>
          <a:bodyPr wrap="square" lIns="0" tIns="0" rIns="0" bIns="0" rtlCol="0" anchor="ctr"/>
          <a:lstStyle/>
          <a:p>
            <a:r>
              <a:rPr lang="en-US" sz="1050" dirty="0">
                <a:solidFill>
                  <a:srgbClr val="2E4A40"/>
                </a:solidFill>
                <a:latin typeface="Calibri" pitchFamily="34" charset="0"/>
                <a:ea typeface="Calibri" pitchFamily="34" charset="-122"/>
                <a:cs typeface="Calibri" pitchFamily="34" charset="-120"/>
              </a:rPr>
              <a:t>If you feel your concern is not being heard, it is okay to ask to see a gynecologist (a doctor for women's health) or to get a second opinion.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91440"/>
            <a:ext cx="8412480" cy="201168"/>
          </a:xfrm>
          <a:prstGeom prst="rect">
            <a:avLst/>
          </a:prstGeom>
          <a:noFill/>
          <a:ln/>
        </p:spPr>
        <p:txBody>
          <a:bodyPr wrap="square" lIns="0" tIns="0" rIns="0" bIns="0" rtlCol="0" anchor="ctr"/>
          <a:lstStyle/>
          <a:p>
            <a:pPr marL="0" indent="0" algn="l">
              <a:buNone/>
            </a:pPr>
            <a:r>
              <a:rPr lang="en-US" sz="800" dirty="0">
                <a:solidFill>
                  <a:srgbClr val="4A6B60"/>
                </a:solidFill>
                <a:latin typeface="Calibri" pitchFamily="34" charset="0"/>
                <a:ea typeface="Calibri" pitchFamily="34" charset="-122"/>
                <a:cs typeface="Calibri" pitchFamily="34" charset="-120"/>
              </a:rPr>
              <a:t>SECTION 6 -- Higher risk factors and where to learn more</a:t>
            </a:r>
            <a:endParaRPr lang="en-US" sz="800" dirty="0"/>
          </a:p>
        </p:txBody>
      </p:sp>
      <p:sp>
        <p:nvSpPr>
          <p:cNvPr id="3" name="Shape 1"/>
          <p:cNvSpPr/>
          <p:nvPr/>
        </p:nvSpPr>
        <p:spPr>
          <a:xfrm>
            <a:off x="0" y="0"/>
            <a:ext cx="9144000" cy="1234440"/>
          </a:xfrm>
          <a:prstGeom prst="rect">
            <a:avLst/>
          </a:prstGeom>
          <a:solidFill>
            <a:srgbClr val="0A5C46"/>
          </a:solidFill>
          <a:ln w="12700">
            <a:solidFill>
              <a:srgbClr val="0A5C46"/>
            </a:solidFill>
            <a:prstDash val="solid"/>
          </a:ln>
        </p:spPr>
        <p:txBody>
          <a:bodyPr/>
          <a:lstStyle/>
          <a:p>
            <a:endParaRPr lang="en-US"/>
          </a:p>
        </p:txBody>
      </p:sp>
      <p:sp>
        <p:nvSpPr>
          <p:cNvPr id="4" name="Text 2"/>
          <p:cNvSpPr/>
          <p:nvPr/>
        </p:nvSpPr>
        <p:spPr>
          <a:xfrm>
            <a:off x="411480" y="137160"/>
            <a:ext cx="3657600" cy="201168"/>
          </a:xfrm>
          <a:prstGeom prst="rect">
            <a:avLst/>
          </a:prstGeom>
          <a:noFill/>
          <a:ln/>
        </p:spPr>
        <p:txBody>
          <a:bodyPr wrap="square" lIns="0" tIns="0" rIns="0" bIns="0" rtlCol="0" anchor="ctr"/>
          <a:lstStyle/>
          <a:p>
            <a:pPr marL="0" indent="0" algn="l">
              <a:buNone/>
            </a:pPr>
            <a:r>
              <a:rPr lang="en-US" sz="800" b="1" kern="0" spc="100" dirty="0">
                <a:solidFill>
                  <a:srgbClr val="7BBFAA"/>
                </a:solidFill>
                <a:latin typeface="Calibri" pitchFamily="34" charset="0"/>
                <a:ea typeface="Calibri" pitchFamily="34" charset="-122"/>
                <a:cs typeface="Calibri" pitchFamily="34" charset="-120"/>
              </a:rPr>
              <a:t>SECTION 6</a:t>
            </a:r>
            <a:endParaRPr lang="en-US" sz="800" dirty="0"/>
          </a:p>
        </p:txBody>
      </p:sp>
      <p:sp>
        <p:nvSpPr>
          <p:cNvPr id="5" name="Text 3"/>
          <p:cNvSpPr/>
          <p:nvPr/>
        </p:nvSpPr>
        <p:spPr>
          <a:xfrm>
            <a:off x="411480" y="365760"/>
            <a:ext cx="8321040" cy="68580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Higher risk factors and where to learn more</a:t>
            </a:r>
            <a:endParaRPr lang="en-US" sz="2600" dirty="0"/>
          </a:p>
        </p:txBody>
      </p:sp>
      <p:sp>
        <p:nvSpPr>
          <p:cNvPr id="6" name="Text 4"/>
          <p:cNvSpPr/>
          <p:nvPr/>
        </p:nvSpPr>
        <p:spPr>
          <a:xfrm>
            <a:off x="411480" y="1371600"/>
            <a:ext cx="4114800" cy="320040"/>
          </a:xfrm>
          <a:prstGeom prst="rect">
            <a:avLst/>
          </a:prstGeom>
          <a:noFill/>
          <a:ln/>
        </p:spPr>
        <p:txBody>
          <a:bodyPr wrap="square" lIns="0" tIns="0" rIns="0" bIns="0" rtlCol="0" anchor="ctr"/>
          <a:lstStyle/>
          <a:p>
            <a:pPr marL="0" indent="0" algn="l">
              <a:buNone/>
            </a:pPr>
            <a:r>
              <a:rPr lang="en-US" sz="1500" b="1" dirty="0">
                <a:solidFill>
                  <a:srgbClr val="0F6E56"/>
                </a:solidFill>
                <a:latin typeface="Calibri" pitchFamily="34" charset="0"/>
                <a:ea typeface="Calibri" pitchFamily="34" charset="-122"/>
                <a:cs typeface="Calibri" pitchFamily="34" charset="-120"/>
              </a:rPr>
              <a:t>Are you at higher risk?</a:t>
            </a:r>
            <a:endParaRPr lang="en-US" sz="1500" dirty="0"/>
          </a:p>
        </p:txBody>
      </p:sp>
      <p:sp>
        <p:nvSpPr>
          <p:cNvPr id="7" name="Text 5"/>
          <p:cNvSpPr/>
          <p:nvPr/>
        </p:nvSpPr>
        <p:spPr>
          <a:xfrm>
            <a:off x="411480" y="1737360"/>
            <a:ext cx="4114800" cy="566928"/>
          </a:xfrm>
          <a:prstGeom prst="rect">
            <a:avLst/>
          </a:prstGeom>
          <a:noFill/>
          <a:ln/>
        </p:spPr>
        <p:txBody>
          <a:bodyPr wrap="square" lIns="0" tIns="0" rIns="0" bIns="0" rtlCol="0" anchor="ctr"/>
          <a:lstStyle/>
          <a:p>
            <a:pPr marL="0" indent="0" algn="l">
              <a:buNone/>
            </a:pPr>
            <a:r>
              <a:rPr lang="en-US" sz="1200" dirty="0">
                <a:solidFill>
                  <a:srgbClr val="2E4A40"/>
                </a:solidFill>
                <a:latin typeface="Calibri" pitchFamily="34" charset="0"/>
                <a:ea typeface="Calibri" pitchFamily="34" charset="-122"/>
                <a:cs typeface="Calibri" pitchFamily="34" charset="-120"/>
              </a:rPr>
              <a:t>While most ovarian cancer occurs in women with no family history, some factors increase risk. Speak with your doctor about a personalized plan if any of the following apply to you:</a:t>
            </a:r>
            <a:endParaRPr lang="en-US" sz="1200" dirty="0"/>
          </a:p>
        </p:txBody>
      </p:sp>
      <p:sp>
        <p:nvSpPr>
          <p:cNvPr id="8" name="Shape 6"/>
          <p:cNvSpPr/>
          <p:nvPr/>
        </p:nvSpPr>
        <p:spPr>
          <a:xfrm>
            <a:off x="411480" y="2377440"/>
            <a:ext cx="4114800" cy="347472"/>
          </a:xfrm>
          <a:prstGeom prst="rect">
            <a:avLst/>
          </a:prstGeom>
          <a:solidFill>
            <a:srgbClr val="EBF7F2"/>
          </a:solidFill>
          <a:ln w="12700">
            <a:solidFill>
              <a:srgbClr val="EBF7F2"/>
            </a:solidFill>
            <a:prstDash val="solid"/>
          </a:ln>
        </p:spPr>
        <p:txBody>
          <a:bodyPr/>
          <a:lstStyle/>
          <a:p>
            <a:endParaRPr lang="en-US"/>
          </a:p>
        </p:txBody>
      </p:sp>
      <p:sp>
        <p:nvSpPr>
          <p:cNvPr id="9" name="Shape 7"/>
          <p:cNvSpPr/>
          <p:nvPr/>
        </p:nvSpPr>
        <p:spPr>
          <a:xfrm>
            <a:off x="411480" y="2377440"/>
            <a:ext cx="54864" cy="347472"/>
          </a:xfrm>
          <a:prstGeom prst="rect">
            <a:avLst/>
          </a:prstGeom>
          <a:solidFill>
            <a:srgbClr val="1D9E75"/>
          </a:solidFill>
          <a:ln w="12700">
            <a:solidFill>
              <a:srgbClr val="1D9E75"/>
            </a:solidFill>
            <a:prstDash val="solid"/>
          </a:ln>
        </p:spPr>
        <p:txBody>
          <a:bodyPr/>
          <a:lstStyle/>
          <a:p>
            <a:endParaRPr lang="en-US"/>
          </a:p>
        </p:txBody>
      </p:sp>
      <p:sp>
        <p:nvSpPr>
          <p:cNvPr id="10" name="Shape 8"/>
          <p:cNvSpPr/>
          <p:nvPr/>
        </p:nvSpPr>
        <p:spPr>
          <a:xfrm>
            <a:off x="594360" y="2505456"/>
            <a:ext cx="91440" cy="91440"/>
          </a:xfrm>
          <a:prstGeom prst="ellipse">
            <a:avLst/>
          </a:prstGeom>
          <a:solidFill>
            <a:srgbClr val="1D9E75"/>
          </a:solidFill>
          <a:ln w="12700">
            <a:solidFill>
              <a:srgbClr val="1D9E75"/>
            </a:solidFill>
            <a:prstDash val="solid"/>
          </a:ln>
        </p:spPr>
        <p:txBody>
          <a:bodyPr/>
          <a:lstStyle/>
          <a:p>
            <a:endParaRPr lang="en-US"/>
          </a:p>
        </p:txBody>
      </p:sp>
      <p:sp>
        <p:nvSpPr>
          <p:cNvPr id="11" name="Text 9"/>
          <p:cNvSpPr/>
          <p:nvPr/>
        </p:nvSpPr>
        <p:spPr>
          <a:xfrm>
            <a:off x="731520" y="2423160"/>
            <a:ext cx="3703320" cy="256032"/>
          </a:xfrm>
          <a:prstGeom prst="rect">
            <a:avLst/>
          </a:prstGeom>
          <a:noFill/>
          <a:ln/>
        </p:spPr>
        <p:txBody>
          <a:bodyPr wrap="square" lIns="0" tIns="0" rIns="0" bIns="0" rtlCol="0" anchor="ctr"/>
          <a:lstStyle/>
          <a:p>
            <a:pPr marL="0" indent="0" algn="l">
              <a:buNone/>
            </a:pPr>
            <a:r>
              <a:rPr lang="en-US" sz="1150" dirty="0">
                <a:solidFill>
                  <a:srgbClr val="2E4A40"/>
                </a:solidFill>
                <a:latin typeface="Calibri" pitchFamily="34" charset="0"/>
                <a:ea typeface="Calibri" pitchFamily="34" charset="-122"/>
                <a:cs typeface="Calibri" pitchFamily="34" charset="-120"/>
              </a:rPr>
              <a:t>Known BRCA1 or BRCA2 gene mutation</a:t>
            </a:r>
            <a:endParaRPr lang="en-US" sz="1150" dirty="0"/>
          </a:p>
        </p:txBody>
      </p:sp>
      <p:sp>
        <p:nvSpPr>
          <p:cNvPr id="12" name="Shape 10"/>
          <p:cNvSpPr/>
          <p:nvPr/>
        </p:nvSpPr>
        <p:spPr>
          <a:xfrm>
            <a:off x="411480" y="2798064"/>
            <a:ext cx="4114800" cy="347472"/>
          </a:xfrm>
          <a:prstGeom prst="rect">
            <a:avLst/>
          </a:prstGeom>
          <a:solidFill>
            <a:srgbClr val="EBF7F2"/>
          </a:solidFill>
          <a:ln w="12700">
            <a:solidFill>
              <a:srgbClr val="EBF7F2"/>
            </a:solidFill>
            <a:prstDash val="solid"/>
          </a:ln>
        </p:spPr>
        <p:txBody>
          <a:bodyPr/>
          <a:lstStyle/>
          <a:p>
            <a:endParaRPr lang="en-US"/>
          </a:p>
        </p:txBody>
      </p:sp>
      <p:sp>
        <p:nvSpPr>
          <p:cNvPr id="13" name="Shape 11"/>
          <p:cNvSpPr/>
          <p:nvPr/>
        </p:nvSpPr>
        <p:spPr>
          <a:xfrm>
            <a:off x="411480" y="2798064"/>
            <a:ext cx="54864" cy="347472"/>
          </a:xfrm>
          <a:prstGeom prst="rect">
            <a:avLst/>
          </a:prstGeom>
          <a:solidFill>
            <a:srgbClr val="1D9E75"/>
          </a:solidFill>
          <a:ln w="12700">
            <a:solidFill>
              <a:srgbClr val="1D9E75"/>
            </a:solidFill>
            <a:prstDash val="solid"/>
          </a:ln>
        </p:spPr>
        <p:txBody>
          <a:bodyPr/>
          <a:lstStyle/>
          <a:p>
            <a:endParaRPr lang="en-US"/>
          </a:p>
        </p:txBody>
      </p:sp>
      <p:sp>
        <p:nvSpPr>
          <p:cNvPr id="14" name="Shape 12"/>
          <p:cNvSpPr/>
          <p:nvPr/>
        </p:nvSpPr>
        <p:spPr>
          <a:xfrm>
            <a:off x="594360" y="2926080"/>
            <a:ext cx="91440" cy="91440"/>
          </a:xfrm>
          <a:prstGeom prst="ellipse">
            <a:avLst/>
          </a:prstGeom>
          <a:solidFill>
            <a:srgbClr val="1D9E75"/>
          </a:solidFill>
          <a:ln w="12700">
            <a:solidFill>
              <a:srgbClr val="1D9E75"/>
            </a:solidFill>
            <a:prstDash val="solid"/>
          </a:ln>
        </p:spPr>
        <p:txBody>
          <a:bodyPr/>
          <a:lstStyle/>
          <a:p>
            <a:endParaRPr lang="en-US"/>
          </a:p>
        </p:txBody>
      </p:sp>
      <p:sp>
        <p:nvSpPr>
          <p:cNvPr id="15" name="Text 13"/>
          <p:cNvSpPr/>
          <p:nvPr/>
        </p:nvSpPr>
        <p:spPr>
          <a:xfrm>
            <a:off x="731520" y="2843784"/>
            <a:ext cx="3703320" cy="256032"/>
          </a:xfrm>
          <a:prstGeom prst="rect">
            <a:avLst/>
          </a:prstGeom>
          <a:noFill/>
          <a:ln/>
        </p:spPr>
        <p:txBody>
          <a:bodyPr wrap="square" lIns="0" tIns="0" rIns="0" bIns="0" rtlCol="0" anchor="ctr"/>
          <a:lstStyle/>
          <a:p>
            <a:pPr marL="0" indent="0" algn="l">
              <a:buNone/>
            </a:pPr>
            <a:r>
              <a:rPr lang="en-US" sz="1150" dirty="0">
                <a:solidFill>
                  <a:srgbClr val="2E4A40"/>
                </a:solidFill>
                <a:latin typeface="Calibri" pitchFamily="34" charset="0"/>
                <a:ea typeface="Calibri" pitchFamily="34" charset="-122"/>
                <a:cs typeface="Calibri" pitchFamily="34" charset="-120"/>
              </a:rPr>
              <a:t>Family history of ovarian, breast, or colorectal cancer in a first-degree relative</a:t>
            </a:r>
            <a:endParaRPr lang="en-US" sz="1150" dirty="0"/>
          </a:p>
        </p:txBody>
      </p:sp>
      <p:sp>
        <p:nvSpPr>
          <p:cNvPr id="16" name="Shape 14"/>
          <p:cNvSpPr/>
          <p:nvPr/>
        </p:nvSpPr>
        <p:spPr>
          <a:xfrm>
            <a:off x="411480" y="3218688"/>
            <a:ext cx="4114800" cy="347472"/>
          </a:xfrm>
          <a:prstGeom prst="rect">
            <a:avLst/>
          </a:prstGeom>
          <a:solidFill>
            <a:srgbClr val="EBF7F2"/>
          </a:solidFill>
          <a:ln w="12700">
            <a:solidFill>
              <a:srgbClr val="EBF7F2"/>
            </a:solidFill>
            <a:prstDash val="solid"/>
          </a:ln>
        </p:spPr>
        <p:txBody>
          <a:bodyPr/>
          <a:lstStyle/>
          <a:p>
            <a:endParaRPr lang="en-US"/>
          </a:p>
        </p:txBody>
      </p:sp>
      <p:sp>
        <p:nvSpPr>
          <p:cNvPr id="17" name="Shape 15"/>
          <p:cNvSpPr/>
          <p:nvPr/>
        </p:nvSpPr>
        <p:spPr>
          <a:xfrm>
            <a:off x="411480" y="3218688"/>
            <a:ext cx="54864" cy="347472"/>
          </a:xfrm>
          <a:prstGeom prst="rect">
            <a:avLst/>
          </a:prstGeom>
          <a:solidFill>
            <a:srgbClr val="1D9E75"/>
          </a:solidFill>
          <a:ln w="12700">
            <a:solidFill>
              <a:srgbClr val="1D9E75"/>
            </a:solidFill>
            <a:prstDash val="solid"/>
          </a:ln>
        </p:spPr>
        <p:txBody>
          <a:bodyPr/>
          <a:lstStyle/>
          <a:p>
            <a:endParaRPr lang="en-US"/>
          </a:p>
        </p:txBody>
      </p:sp>
      <p:sp>
        <p:nvSpPr>
          <p:cNvPr id="18" name="Shape 16"/>
          <p:cNvSpPr/>
          <p:nvPr/>
        </p:nvSpPr>
        <p:spPr>
          <a:xfrm>
            <a:off x="594360" y="3346704"/>
            <a:ext cx="91440" cy="91440"/>
          </a:xfrm>
          <a:prstGeom prst="ellipse">
            <a:avLst/>
          </a:prstGeom>
          <a:solidFill>
            <a:srgbClr val="1D9E75"/>
          </a:solidFill>
          <a:ln w="12700">
            <a:solidFill>
              <a:srgbClr val="1D9E75"/>
            </a:solidFill>
            <a:prstDash val="solid"/>
          </a:ln>
        </p:spPr>
        <p:txBody>
          <a:bodyPr/>
          <a:lstStyle/>
          <a:p>
            <a:endParaRPr lang="en-US"/>
          </a:p>
        </p:txBody>
      </p:sp>
      <p:sp>
        <p:nvSpPr>
          <p:cNvPr id="19" name="Text 17"/>
          <p:cNvSpPr/>
          <p:nvPr/>
        </p:nvSpPr>
        <p:spPr>
          <a:xfrm>
            <a:off x="731520" y="3264408"/>
            <a:ext cx="3703320" cy="256032"/>
          </a:xfrm>
          <a:prstGeom prst="rect">
            <a:avLst/>
          </a:prstGeom>
          <a:noFill/>
          <a:ln/>
        </p:spPr>
        <p:txBody>
          <a:bodyPr wrap="square" lIns="0" tIns="0" rIns="0" bIns="0" rtlCol="0" anchor="ctr"/>
          <a:lstStyle/>
          <a:p>
            <a:pPr marL="0" indent="0" algn="l">
              <a:buNone/>
            </a:pPr>
            <a:r>
              <a:rPr lang="en-US" sz="1150" dirty="0">
                <a:solidFill>
                  <a:srgbClr val="2E4A40"/>
                </a:solidFill>
                <a:latin typeface="Calibri" pitchFamily="34" charset="0"/>
                <a:ea typeface="Calibri" pitchFamily="34" charset="-122"/>
                <a:cs typeface="Calibri" pitchFamily="34" charset="-120"/>
              </a:rPr>
              <a:t>Lynch syndrome gene mutation</a:t>
            </a:r>
            <a:endParaRPr lang="en-US" sz="1150" dirty="0"/>
          </a:p>
        </p:txBody>
      </p:sp>
      <p:sp>
        <p:nvSpPr>
          <p:cNvPr id="20" name="Shape 18"/>
          <p:cNvSpPr/>
          <p:nvPr/>
        </p:nvSpPr>
        <p:spPr>
          <a:xfrm>
            <a:off x="411480" y="3639312"/>
            <a:ext cx="4114800" cy="347472"/>
          </a:xfrm>
          <a:prstGeom prst="rect">
            <a:avLst/>
          </a:prstGeom>
          <a:solidFill>
            <a:srgbClr val="EBF7F2"/>
          </a:solidFill>
          <a:ln w="12700">
            <a:solidFill>
              <a:srgbClr val="EBF7F2"/>
            </a:solidFill>
            <a:prstDash val="solid"/>
          </a:ln>
        </p:spPr>
        <p:txBody>
          <a:bodyPr/>
          <a:lstStyle/>
          <a:p>
            <a:endParaRPr lang="en-US"/>
          </a:p>
        </p:txBody>
      </p:sp>
      <p:sp>
        <p:nvSpPr>
          <p:cNvPr id="21" name="Shape 19"/>
          <p:cNvSpPr/>
          <p:nvPr/>
        </p:nvSpPr>
        <p:spPr>
          <a:xfrm>
            <a:off x="411480" y="3639312"/>
            <a:ext cx="54864" cy="347472"/>
          </a:xfrm>
          <a:prstGeom prst="rect">
            <a:avLst/>
          </a:prstGeom>
          <a:solidFill>
            <a:srgbClr val="1D9E75"/>
          </a:solidFill>
          <a:ln w="12700">
            <a:solidFill>
              <a:srgbClr val="1D9E75"/>
            </a:solidFill>
            <a:prstDash val="solid"/>
          </a:ln>
        </p:spPr>
        <p:txBody>
          <a:bodyPr/>
          <a:lstStyle/>
          <a:p>
            <a:endParaRPr lang="en-US"/>
          </a:p>
        </p:txBody>
      </p:sp>
      <p:sp>
        <p:nvSpPr>
          <p:cNvPr id="22" name="Shape 20"/>
          <p:cNvSpPr/>
          <p:nvPr/>
        </p:nvSpPr>
        <p:spPr>
          <a:xfrm>
            <a:off x="594360" y="3767328"/>
            <a:ext cx="91440" cy="91440"/>
          </a:xfrm>
          <a:prstGeom prst="ellipse">
            <a:avLst/>
          </a:prstGeom>
          <a:solidFill>
            <a:srgbClr val="1D9E75"/>
          </a:solidFill>
          <a:ln w="12700">
            <a:solidFill>
              <a:srgbClr val="1D9E75"/>
            </a:solidFill>
            <a:prstDash val="solid"/>
          </a:ln>
        </p:spPr>
        <p:txBody>
          <a:bodyPr/>
          <a:lstStyle/>
          <a:p>
            <a:endParaRPr lang="en-US"/>
          </a:p>
        </p:txBody>
      </p:sp>
      <p:sp>
        <p:nvSpPr>
          <p:cNvPr id="23" name="Text 21"/>
          <p:cNvSpPr/>
          <p:nvPr/>
        </p:nvSpPr>
        <p:spPr>
          <a:xfrm>
            <a:off x="731520" y="3685032"/>
            <a:ext cx="3703320" cy="256032"/>
          </a:xfrm>
          <a:prstGeom prst="rect">
            <a:avLst/>
          </a:prstGeom>
          <a:noFill/>
          <a:ln/>
        </p:spPr>
        <p:txBody>
          <a:bodyPr wrap="square" lIns="0" tIns="0" rIns="0" bIns="0" rtlCol="0" anchor="ctr"/>
          <a:lstStyle/>
          <a:p>
            <a:pPr marL="0" indent="0" algn="l">
              <a:buNone/>
            </a:pPr>
            <a:r>
              <a:rPr lang="en-US" sz="1150" dirty="0">
                <a:solidFill>
                  <a:srgbClr val="2E4A40"/>
                </a:solidFill>
                <a:latin typeface="Calibri" pitchFamily="34" charset="0"/>
                <a:ea typeface="Calibri" pitchFamily="34" charset="-122"/>
                <a:cs typeface="Calibri" pitchFamily="34" charset="-120"/>
              </a:rPr>
              <a:t>Personal history of breast cancer</a:t>
            </a:r>
            <a:endParaRPr lang="en-US" sz="1150" dirty="0"/>
          </a:p>
        </p:txBody>
      </p:sp>
      <p:sp>
        <p:nvSpPr>
          <p:cNvPr id="24" name="Text 22"/>
          <p:cNvSpPr/>
          <p:nvPr/>
        </p:nvSpPr>
        <p:spPr>
          <a:xfrm>
            <a:off x="411480" y="4151376"/>
            <a:ext cx="4114800" cy="548640"/>
          </a:xfrm>
          <a:prstGeom prst="rect">
            <a:avLst/>
          </a:prstGeom>
          <a:noFill/>
          <a:ln/>
        </p:spPr>
        <p:txBody>
          <a:bodyPr wrap="square" lIns="0" tIns="0" rIns="0" bIns="0" rtlCol="0" anchor="ctr"/>
          <a:lstStyle/>
          <a:p>
            <a:pPr marL="0" indent="0" algn="l">
              <a:buNone/>
            </a:pPr>
            <a:r>
              <a:rPr lang="en-US" sz="1100" dirty="0">
                <a:solidFill>
                  <a:srgbClr val="4A6B60"/>
                </a:solidFill>
                <a:latin typeface="Calibri" pitchFamily="34" charset="0"/>
                <a:ea typeface="Calibri" pitchFamily="34" charset="-122"/>
                <a:cs typeface="Calibri" pitchFamily="34" charset="-120"/>
              </a:rPr>
              <a:t>Higher-risk individuals may be offered surveillance, genetic counselling, or discussions about risk-reduction options. These are tailored to your individual circumstances, not population screening.</a:t>
            </a:r>
            <a:endParaRPr lang="en-US" sz="1100" dirty="0"/>
          </a:p>
        </p:txBody>
      </p:sp>
      <p:sp>
        <p:nvSpPr>
          <p:cNvPr id="25" name="Shape 23"/>
          <p:cNvSpPr/>
          <p:nvPr/>
        </p:nvSpPr>
        <p:spPr>
          <a:xfrm>
            <a:off x="4709160" y="1325880"/>
            <a:ext cx="18288" cy="3566160"/>
          </a:xfrm>
          <a:prstGeom prst="rect">
            <a:avLst/>
          </a:prstGeom>
          <a:solidFill>
            <a:srgbClr val="C4E5D8"/>
          </a:solidFill>
          <a:ln w="12700">
            <a:solidFill>
              <a:srgbClr val="C4E5D8"/>
            </a:solidFill>
            <a:prstDash val="solid"/>
          </a:ln>
        </p:spPr>
        <p:txBody>
          <a:bodyPr/>
          <a:lstStyle/>
          <a:p>
            <a:endParaRPr lang="en-US"/>
          </a:p>
        </p:txBody>
      </p:sp>
      <p:sp>
        <p:nvSpPr>
          <p:cNvPr id="26" name="Text 24"/>
          <p:cNvSpPr/>
          <p:nvPr/>
        </p:nvSpPr>
        <p:spPr>
          <a:xfrm>
            <a:off x="4892040" y="1371600"/>
            <a:ext cx="3886200" cy="320040"/>
          </a:xfrm>
          <a:prstGeom prst="rect">
            <a:avLst/>
          </a:prstGeom>
          <a:noFill/>
          <a:ln/>
        </p:spPr>
        <p:txBody>
          <a:bodyPr wrap="square" lIns="0" tIns="0" rIns="0" bIns="0" rtlCol="0" anchor="ctr"/>
          <a:lstStyle/>
          <a:p>
            <a:pPr marL="0" indent="0" algn="l">
              <a:buNone/>
            </a:pPr>
            <a:r>
              <a:rPr lang="en-US" sz="1500" b="1" dirty="0">
                <a:solidFill>
                  <a:srgbClr val="0F6E56"/>
                </a:solidFill>
                <a:latin typeface="Calibri" pitchFamily="34" charset="0"/>
                <a:ea typeface="Calibri" pitchFamily="34" charset="-122"/>
                <a:cs typeface="Calibri" pitchFamily="34" charset="-120"/>
              </a:rPr>
              <a:t>Where to learn more</a:t>
            </a:r>
            <a:endParaRPr lang="en-US" sz="1500" dirty="0"/>
          </a:p>
        </p:txBody>
      </p:sp>
      <p:sp>
        <p:nvSpPr>
          <p:cNvPr id="27" name="Text 25"/>
          <p:cNvSpPr/>
          <p:nvPr/>
        </p:nvSpPr>
        <p:spPr>
          <a:xfrm>
            <a:off x="4892040" y="1737360"/>
            <a:ext cx="3886200" cy="411480"/>
          </a:xfrm>
          <a:prstGeom prst="rect">
            <a:avLst/>
          </a:prstGeom>
          <a:noFill/>
          <a:ln/>
        </p:spPr>
        <p:txBody>
          <a:bodyPr wrap="square" lIns="0" tIns="0" rIns="0" bIns="0" rtlCol="0" anchor="ctr"/>
          <a:lstStyle/>
          <a:p>
            <a:pPr marL="0" indent="0" algn="l">
              <a:buNone/>
            </a:pPr>
            <a:r>
              <a:rPr lang="en-US" sz="1200" dirty="0">
                <a:solidFill>
                  <a:srgbClr val="2E4A40"/>
                </a:solidFill>
                <a:latin typeface="Calibri" pitchFamily="34" charset="0"/>
                <a:ea typeface="Calibri" pitchFamily="34" charset="-122"/>
                <a:cs typeface="Calibri" pitchFamily="34" charset="-120"/>
              </a:rPr>
              <a:t>These Canadian and international organizations provide reliable, evidence-based information.</a:t>
            </a:r>
            <a:endParaRPr lang="en-US" sz="1200" dirty="0"/>
          </a:p>
        </p:txBody>
      </p:sp>
      <p:sp>
        <p:nvSpPr>
          <p:cNvPr id="28" name="Shape 26"/>
          <p:cNvSpPr/>
          <p:nvPr/>
        </p:nvSpPr>
        <p:spPr>
          <a:xfrm>
            <a:off x="4892040" y="2231136"/>
            <a:ext cx="3886200" cy="512064"/>
          </a:xfrm>
          <a:prstGeom prst="rect">
            <a:avLst/>
          </a:prstGeom>
          <a:solidFill>
            <a:srgbClr val="EBF7F2"/>
          </a:solidFill>
          <a:ln w="12700">
            <a:solidFill>
              <a:srgbClr val="EBF7F2"/>
            </a:solidFill>
            <a:prstDash val="solid"/>
          </a:ln>
        </p:spPr>
        <p:txBody>
          <a:bodyPr/>
          <a:lstStyle/>
          <a:p>
            <a:endParaRPr lang="en-US"/>
          </a:p>
        </p:txBody>
      </p:sp>
      <p:sp>
        <p:nvSpPr>
          <p:cNvPr id="29" name="Shape 27"/>
          <p:cNvSpPr/>
          <p:nvPr/>
        </p:nvSpPr>
        <p:spPr>
          <a:xfrm>
            <a:off x="4892040" y="2231136"/>
            <a:ext cx="54864" cy="512064"/>
          </a:xfrm>
          <a:prstGeom prst="rect">
            <a:avLst/>
          </a:prstGeom>
          <a:solidFill>
            <a:srgbClr val="0F6E56"/>
          </a:solidFill>
          <a:ln w="12700">
            <a:solidFill>
              <a:srgbClr val="0F6E56"/>
            </a:solidFill>
            <a:prstDash val="solid"/>
          </a:ln>
        </p:spPr>
        <p:txBody>
          <a:bodyPr/>
          <a:lstStyle/>
          <a:p>
            <a:endParaRPr lang="en-US"/>
          </a:p>
        </p:txBody>
      </p:sp>
      <p:sp>
        <p:nvSpPr>
          <p:cNvPr id="30" name="Text 28"/>
          <p:cNvSpPr/>
          <p:nvPr/>
        </p:nvSpPr>
        <p:spPr>
          <a:xfrm>
            <a:off x="5056632" y="2276856"/>
            <a:ext cx="3657600" cy="201168"/>
          </a:xfrm>
          <a:prstGeom prst="rect">
            <a:avLst/>
          </a:prstGeom>
          <a:noFill/>
          <a:ln/>
        </p:spPr>
        <p:txBody>
          <a:bodyPr wrap="square" lIns="0" tIns="0" rIns="0" bIns="0" rtlCol="0" anchor="ctr"/>
          <a:lstStyle/>
          <a:p>
            <a:pPr marL="0" indent="0" algn="l">
              <a:buNone/>
            </a:pPr>
            <a:r>
              <a:rPr lang="en-US" sz="1150" b="1" dirty="0">
                <a:solidFill>
                  <a:srgbClr val="0A5C46"/>
                </a:solidFill>
                <a:latin typeface="Calibri" pitchFamily="34" charset="0"/>
                <a:ea typeface="Calibri" pitchFamily="34" charset="-122"/>
                <a:cs typeface="Calibri" pitchFamily="34" charset="-120"/>
              </a:rPr>
              <a:t>Ovarian Cancer Canada</a:t>
            </a:r>
            <a:endParaRPr lang="en-US" sz="1150" dirty="0"/>
          </a:p>
        </p:txBody>
      </p:sp>
      <p:sp>
        <p:nvSpPr>
          <p:cNvPr id="31" name="Text 29"/>
          <p:cNvSpPr/>
          <p:nvPr/>
        </p:nvSpPr>
        <p:spPr>
          <a:xfrm>
            <a:off x="5056632" y="2496312"/>
            <a:ext cx="3657600" cy="237744"/>
          </a:xfrm>
          <a:prstGeom prst="rect">
            <a:avLst/>
          </a:prstGeom>
          <a:noFill/>
          <a:ln/>
        </p:spPr>
        <p:txBody>
          <a:bodyPr wrap="square" lIns="0" tIns="0" rIns="0" bIns="0" rtlCol="0" anchor="ctr"/>
          <a:lstStyle/>
          <a:p>
            <a:pPr marL="0" indent="0" algn="l">
              <a:buNone/>
            </a:pPr>
            <a:r>
              <a:rPr lang="en-US" sz="1000" dirty="0">
                <a:solidFill>
                  <a:srgbClr val="4A6B60"/>
                </a:solidFill>
                <a:latin typeface="Calibri" pitchFamily="34" charset="0"/>
                <a:ea typeface="Calibri" pitchFamily="34" charset="-122"/>
                <a:cs typeface="Calibri" pitchFamily="34" charset="-120"/>
              </a:rPr>
              <a:t>ovariancanada.org</a:t>
            </a:r>
            <a:endParaRPr lang="en-US" sz="1000" dirty="0"/>
          </a:p>
          <a:p>
            <a:pPr marL="0" indent="0" algn="l">
              <a:buNone/>
            </a:pPr>
            <a:r>
              <a:rPr lang="en-US" sz="1000" dirty="0">
                <a:solidFill>
                  <a:srgbClr val="4A6B60"/>
                </a:solidFill>
                <a:latin typeface="Calibri" pitchFamily="34" charset="0"/>
                <a:ea typeface="Calibri" pitchFamily="34" charset="-122"/>
                <a:cs typeface="Calibri" pitchFamily="34" charset="-120"/>
              </a:rPr>
              <a:t>1-877-413-7970</a:t>
            </a:r>
            <a:endParaRPr lang="en-US" sz="1000" dirty="0"/>
          </a:p>
        </p:txBody>
      </p:sp>
      <p:sp>
        <p:nvSpPr>
          <p:cNvPr id="32" name="Shape 30"/>
          <p:cNvSpPr/>
          <p:nvPr/>
        </p:nvSpPr>
        <p:spPr>
          <a:xfrm>
            <a:off x="4892040" y="2779776"/>
            <a:ext cx="3886200" cy="512064"/>
          </a:xfrm>
          <a:prstGeom prst="rect">
            <a:avLst/>
          </a:prstGeom>
          <a:solidFill>
            <a:srgbClr val="FFFFFF"/>
          </a:solidFill>
          <a:ln w="12700">
            <a:solidFill>
              <a:srgbClr val="FFFFFF"/>
            </a:solidFill>
            <a:prstDash val="solid"/>
          </a:ln>
        </p:spPr>
        <p:txBody>
          <a:bodyPr/>
          <a:lstStyle/>
          <a:p>
            <a:endParaRPr lang="en-US"/>
          </a:p>
        </p:txBody>
      </p:sp>
      <p:sp>
        <p:nvSpPr>
          <p:cNvPr id="33" name="Shape 31"/>
          <p:cNvSpPr/>
          <p:nvPr/>
        </p:nvSpPr>
        <p:spPr>
          <a:xfrm>
            <a:off x="4892040" y="2779776"/>
            <a:ext cx="54864" cy="512064"/>
          </a:xfrm>
          <a:prstGeom prst="rect">
            <a:avLst/>
          </a:prstGeom>
          <a:solidFill>
            <a:srgbClr val="0F6E56"/>
          </a:solidFill>
          <a:ln w="12700">
            <a:solidFill>
              <a:srgbClr val="0F6E56"/>
            </a:solidFill>
            <a:prstDash val="solid"/>
          </a:ln>
        </p:spPr>
        <p:txBody>
          <a:bodyPr/>
          <a:lstStyle/>
          <a:p>
            <a:endParaRPr lang="en-US"/>
          </a:p>
        </p:txBody>
      </p:sp>
      <p:sp>
        <p:nvSpPr>
          <p:cNvPr id="34" name="Text 32"/>
          <p:cNvSpPr/>
          <p:nvPr/>
        </p:nvSpPr>
        <p:spPr>
          <a:xfrm>
            <a:off x="5056632" y="2825496"/>
            <a:ext cx="3657600" cy="201168"/>
          </a:xfrm>
          <a:prstGeom prst="rect">
            <a:avLst/>
          </a:prstGeom>
          <a:noFill/>
          <a:ln/>
        </p:spPr>
        <p:txBody>
          <a:bodyPr wrap="square" lIns="0" tIns="0" rIns="0" bIns="0" rtlCol="0" anchor="ctr"/>
          <a:lstStyle/>
          <a:p>
            <a:pPr marL="0" indent="0" algn="l">
              <a:buNone/>
            </a:pPr>
            <a:r>
              <a:rPr lang="en-US" sz="1150" b="1" dirty="0">
                <a:solidFill>
                  <a:srgbClr val="0A5C46"/>
                </a:solidFill>
                <a:latin typeface="Calibri" pitchFamily="34" charset="0"/>
                <a:ea typeface="Calibri" pitchFamily="34" charset="-122"/>
                <a:cs typeface="Calibri" pitchFamily="34" charset="-120"/>
              </a:rPr>
              <a:t>Canadian Cancer Society</a:t>
            </a:r>
            <a:endParaRPr lang="en-US" sz="1150" dirty="0"/>
          </a:p>
        </p:txBody>
      </p:sp>
      <p:sp>
        <p:nvSpPr>
          <p:cNvPr id="35" name="Text 33"/>
          <p:cNvSpPr/>
          <p:nvPr/>
        </p:nvSpPr>
        <p:spPr>
          <a:xfrm>
            <a:off x="5056632" y="3044952"/>
            <a:ext cx="3657600" cy="237744"/>
          </a:xfrm>
          <a:prstGeom prst="rect">
            <a:avLst/>
          </a:prstGeom>
          <a:noFill/>
          <a:ln/>
        </p:spPr>
        <p:txBody>
          <a:bodyPr wrap="square" lIns="0" tIns="0" rIns="0" bIns="0" rtlCol="0" anchor="ctr"/>
          <a:lstStyle/>
          <a:p>
            <a:pPr marL="0" indent="0" algn="l">
              <a:buNone/>
            </a:pPr>
            <a:r>
              <a:rPr lang="en-US" sz="1000" dirty="0">
                <a:solidFill>
                  <a:srgbClr val="4A6B60"/>
                </a:solidFill>
                <a:latin typeface="Calibri" pitchFamily="34" charset="0"/>
                <a:ea typeface="Calibri" pitchFamily="34" charset="-122"/>
                <a:cs typeface="Calibri" pitchFamily="34" charset="-120"/>
              </a:rPr>
              <a:t>cancer.ca</a:t>
            </a:r>
            <a:endParaRPr lang="en-US" sz="1000" dirty="0"/>
          </a:p>
        </p:txBody>
      </p:sp>
      <p:sp>
        <p:nvSpPr>
          <p:cNvPr id="36" name="Shape 34"/>
          <p:cNvSpPr/>
          <p:nvPr/>
        </p:nvSpPr>
        <p:spPr>
          <a:xfrm>
            <a:off x="4892040" y="3328416"/>
            <a:ext cx="3886200" cy="512064"/>
          </a:xfrm>
          <a:prstGeom prst="rect">
            <a:avLst/>
          </a:prstGeom>
          <a:solidFill>
            <a:srgbClr val="EBF7F2"/>
          </a:solidFill>
          <a:ln w="12700">
            <a:solidFill>
              <a:srgbClr val="EBF7F2"/>
            </a:solidFill>
            <a:prstDash val="solid"/>
          </a:ln>
        </p:spPr>
        <p:txBody>
          <a:bodyPr/>
          <a:lstStyle/>
          <a:p>
            <a:endParaRPr lang="en-US"/>
          </a:p>
        </p:txBody>
      </p:sp>
      <p:sp>
        <p:nvSpPr>
          <p:cNvPr id="37" name="Shape 35"/>
          <p:cNvSpPr/>
          <p:nvPr/>
        </p:nvSpPr>
        <p:spPr>
          <a:xfrm>
            <a:off x="4892040" y="3328416"/>
            <a:ext cx="54864" cy="512064"/>
          </a:xfrm>
          <a:prstGeom prst="rect">
            <a:avLst/>
          </a:prstGeom>
          <a:solidFill>
            <a:srgbClr val="0F6E56"/>
          </a:solidFill>
          <a:ln w="12700">
            <a:solidFill>
              <a:srgbClr val="0F6E56"/>
            </a:solidFill>
            <a:prstDash val="solid"/>
          </a:ln>
        </p:spPr>
        <p:txBody>
          <a:bodyPr/>
          <a:lstStyle/>
          <a:p>
            <a:endParaRPr lang="en-US"/>
          </a:p>
        </p:txBody>
      </p:sp>
      <p:sp>
        <p:nvSpPr>
          <p:cNvPr id="38" name="Text 36"/>
          <p:cNvSpPr/>
          <p:nvPr/>
        </p:nvSpPr>
        <p:spPr>
          <a:xfrm>
            <a:off x="5056632" y="3374136"/>
            <a:ext cx="3657600" cy="201168"/>
          </a:xfrm>
          <a:prstGeom prst="rect">
            <a:avLst/>
          </a:prstGeom>
          <a:noFill/>
          <a:ln/>
        </p:spPr>
        <p:txBody>
          <a:bodyPr wrap="square" lIns="0" tIns="0" rIns="0" bIns="0" rtlCol="0" anchor="ctr"/>
          <a:lstStyle/>
          <a:p>
            <a:pPr marL="0" indent="0" algn="l">
              <a:buNone/>
            </a:pPr>
            <a:r>
              <a:rPr lang="en-US" sz="1150" b="1" dirty="0">
                <a:solidFill>
                  <a:srgbClr val="0A5C46"/>
                </a:solidFill>
                <a:latin typeface="Calibri" pitchFamily="34" charset="0"/>
                <a:ea typeface="Calibri" pitchFamily="34" charset="-122"/>
                <a:cs typeface="Calibri" pitchFamily="34" charset="-120"/>
              </a:rPr>
              <a:t>NICE guideline NG12</a:t>
            </a:r>
            <a:endParaRPr lang="en-US" sz="1150" dirty="0"/>
          </a:p>
        </p:txBody>
      </p:sp>
      <p:sp>
        <p:nvSpPr>
          <p:cNvPr id="39" name="Text 37"/>
          <p:cNvSpPr/>
          <p:nvPr/>
        </p:nvSpPr>
        <p:spPr>
          <a:xfrm>
            <a:off x="5056632" y="3593592"/>
            <a:ext cx="3657600" cy="237744"/>
          </a:xfrm>
          <a:prstGeom prst="rect">
            <a:avLst/>
          </a:prstGeom>
          <a:noFill/>
          <a:ln/>
        </p:spPr>
        <p:txBody>
          <a:bodyPr wrap="square" lIns="0" tIns="0" rIns="0" bIns="0" rtlCol="0" anchor="ctr"/>
          <a:lstStyle/>
          <a:p>
            <a:pPr marL="0" indent="0" algn="l">
              <a:buNone/>
            </a:pPr>
            <a:r>
              <a:rPr lang="en-US" sz="1000" dirty="0">
                <a:solidFill>
                  <a:srgbClr val="4A6B60"/>
                </a:solidFill>
                <a:latin typeface="Calibri" pitchFamily="34" charset="0"/>
                <a:ea typeface="Calibri" pitchFamily="34" charset="-122"/>
                <a:cs typeface="Calibri" pitchFamily="34" charset="-120"/>
              </a:rPr>
              <a:t>nice.org.uk/guidance/ng12</a:t>
            </a:r>
            <a:endParaRPr lang="en-US" sz="1000" dirty="0"/>
          </a:p>
          <a:p>
            <a:pPr marL="0" indent="0" algn="l">
              <a:buNone/>
            </a:pPr>
            <a:r>
              <a:rPr lang="en-US" sz="1000" dirty="0">
                <a:solidFill>
                  <a:srgbClr val="4A6B60"/>
                </a:solidFill>
                <a:latin typeface="Calibri" pitchFamily="34" charset="0"/>
                <a:ea typeface="Calibri" pitchFamily="34" charset="-122"/>
                <a:cs typeface="Calibri" pitchFamily="34" charset="-120"/>
              </a:rPr>
              <a:t>Symptom-triggered investigation guidance</a:t>
            </a:r>
            <a:endParaRPr lang="en-US" sz="1000" dirty="0"/>
          </a:p>
        </p:txBody>
      </p:sp>
      <p:sp>
        <p:nvSpPr>
          <p:cNvPr id="40" name="Shape 38"/>
          <p:cNvSpPr/>
          <p:nvPr/>
        </p:nvSpPr>
        <p:spPr>
          <a:xfrm>
            <a:off x="4892040" y="3877056"/>
            <a:ext cx="3886200" cy="512064"/>
          </a:xfrm>
          <a:prstGeom prst="rect">
            <a:avLst/>
          </a:prstGeom>
          <a:solidFill>
            <a:srgbClr val="FFFFFF"/>
          </a:solidFill>
          <a:ln w="12700">
            <a:solidFill>
              <a:srgbClr val="FFFFFF"/>
            </a:solidFill>
            <a:prstDash val="solid"/>
          </a:ln>
        </p:spPr>
        <p:txBody>
          <a:bodyPr/>
          <a:lstStyle/>
          <a:p>
            <a:endParaRPr lang="en-US"/>
          </a:p>
        </p:txBody>
      </p:sp>
      <p:sp>
        <p:nvSpPr>
          <p:cNvPr id="41" name="Shape 39"/>
          <p:cNvSpPr/>
          <p:nvPr/>
        </p:nvSpPr>
        <p:spPr>
          <a:xfrm>
            <a:off x="4892040" y="3877056"/>
            <a:ext cx="54864" cy="512064"/>
          </a:xfrm>
          <a:prstGeom prst="rect">
            <a:avLst/>
          </a:prstGeom>
          <a:solidFill>
            <a:srgbClr val="0F6E56"/>
          </a:solidFill>
          <a:ln w="12700">
            <a:solidFill>
              <a:srgbClr val="0F6E56"/>
            </a:solidFill>
            <a:prstDash val="solid"/>
          </a:ln>
        </p:spPr>
        <p:txBody>
          <a:bodyPr/>
          <a:lstStyle/>
          <a:p>
            <a:endParaRPr lang="en-US"/>
          </a:p>
        </p:txBody>
      </p:sp>
      <p:sp>
        <p:nvSpPr>
          <p:cNvPr id="42" name="Text 40"/>
          <p:cNvSpPr/>
          <p:nvPr/>
        </p:nvSpPr>
        <p:spPr>
          <a:xfrm>
            <a:off x="5056632" y="3922776"/>
            <a:ext cx="3657600" cy="201168"/>
          </a:xfrm>
          <a:prstGeom prst="rect">
            <a:avLst/>
          </a:prstGeom>
          <a:noFill/>
          <a:ln/>
        </p:spPr>
        <p:txBody>
          <a:bodyPr wrap="square" lIns="0" tIns="0" rIns="0" bIns="0" rtlCol="0" anchor="ctr"/>
          <a:lstStyle/>
          <a:p>
            <a:pPr marL="0" indent="0" algn="l">
              <a:buNone/>
            </a:pPr>
            <a:r>
              <a:rPr lang="en-US" sz="1150" b="1" dirty="0">
                <a:solidFill>
                  <a:srgbClr val="0A5C46"/>
                </a:solidFill>
                <a:latin typeface="Calibri" pitchFamily="34" charset="0"/>
                <a:ea typeface="Calibri" pitchFamily="34" charset="-122"/>
                <a:cs typeface="Calibri" pitchFamily="34" charset="-120"/>
              </a:rPr>
              <a:t>ACOG Committee Opinion 716</a:t>
            </a:r>
            <a:endParaRPr lang="en-US" sz="1150" dirty="0"/>
          </a:p>
        </p:txBody>
      </p:sp>
      <p:sp>
        <p:nvSpPr>
          <p:cNvPr id="43" name="Text 41"/>
          <p:cNvSpPr/>
          <p:nvPr/>
        </p:nvSpPr>
        <p:spPr>
          <a:xfrm>
            <a:off x="5056632" y="4142232"/>
            <a:ext cx="3657600" cy="237744"/>
          </a:xfrm>
          <a:prstGeom prst="rect">
            <a:avLst/>
          </a:prstGeom>
          <a:noFill/>
          <a:ln/>
        </p:spPr>
        <p:txBody>
          <a:bodyPr wrap="square" lIns="0" tIns="0" rIns="0" bIns="0" rtlCol="0" anchor="ctr"/>
          <a:lstStyle/>
          <a:p>
            <a:pPr marL="0" indent="0" algn="l">
              <a:buNone/>
            </a:pPr>
            <a:r>
              <a:rPr lang="en-US" sz="1000" dirty="0">
                <a:solidFill>
                  <a:srgbClr val="4A6B60"/>
                </a:solidFill>
                <a:latin typeface="Calibri" pitchFamily="34" charset="0"/>
                <a:ea typeface="Calibri" pitchFamily="34" charset="-122"/>
                <a:cs typeface="Calibri" pitchFamily="34" charset="-120"/>
              </a:rPr>
              <a:t>acog.org</a:t>
            </a:r>
            <a:endParaRPr lang="en-US" sz="1000" dirty="0"/>
          </a:p>
          <a:p>
            <a:pPr marL="0" indent="0" algn="l">
              <a:buNone/>
            </a:pPr>
            <a:r>
              <a:rPr lang="en-US" sz="1000" dirty="0">
                <a:solidFill>
                  <a:srgbClr val="4A6B60"/>
                </a:solidFill>
                <a:latin typeface="Calibri" pitchFamily="34" charset="0"/>
                <a:ea typeface="Calibri" pitchFamily="34" charset="-122"/>
                <a:cs typeface="Calibri" pitchFamily="34" charset="-120"/>
              </a:rPr>
              <a:t>Role of OB-GYN in early ovarian cancer detection</a:t>
            </a:r>
            <a:endParaRPr lang="en-US" sz="1000" dirty="0"/>
          </a:p>
        </p:txBody>
      </p:sp>
      <p:sp>
        <p:nvSpPr>
          <p:cNvPr id="44" name="Shape 42"/>
          <p:cNvSpPr/>
          <p:nvPr/>
        </p:nvSpPr>
        <p:spPr>
          <a:xfrm>
            <a:off x="4892040" y="4425696"/>
            <a:ext cx="3886200" cy="512064"/>
          </a:xfrm>
          <a:prstGeom prst="rect">
            <a:avLst/>
          </a:prstGeom>
          <a:solidFill>
            <a:srgbClr val="EBF7F2"/>
          </a:solidFill>
          <a:ln w="12700">
            <a:solidFill>
              <a:srgbClr val="EBF7F2"/>
            </a:solidFill>
            <a:prstDash val="solid"/>
          </a:ln>
        </p:spPr>
        <p:txBody>
          <a:bodyPr/>
          <a:lstStyle/>
          <a:p>
            <a:endParaRPr lang="en-US"/>
          </a:p>
        </p:txBody>
      </p:sp>
      <p:sp>
        <p:nvSpPr>
          <p:cNvPr id="45" name="Shape 43"/>
          <p:cNvSpPr/>
          <p:nvPr/>
        </p:nvSpPr>
        <p:spPr>
          <a:xfrm>
            <a:off x="4892040" y="4425696"/>
            <a:ext cx="54864" cy="512064"/>
          </a:xfrm>
          <a:prstGeom prst="rect">
            <a:avLst/>
          </a:prstGeom>
          <a:solidFill>
            <a:srgbClr val="0F6E56"/>
          </a:solidFill>
          <a:ln w="12700">
            <a:solidFill>
              <a:srgbClr val="0F6E56"/>
            </a:solidFill>
            <a:prstDash val="solid"/>
          </a:ln>
        </p:spPr>
        <p:txBody>
          <a:bodyPr/>
          <a:lstStyle/>
          <a:p>
            <a:endParaRPr lang="en-US"/>
          </a:p>
        </p:txBody>
      </p:sp>
      <p:sp>
        <p:nvSpPr>
          <p:cNvPr id="46" name="Text 44"/>
          <p:cNvSpPr/>
          <p:nvPr/>
        </p:nvSpPr>
        <p:spPr>
          <a:xfrm>
            <a:off x="5056632" y="4471416"/>
            <a:ext cx="3657600" cy="201168"/>
          </a:xfrm>
          <a:prstGeom prst="rect">
            <a:avLst/>
          </a:prstGeom>
          <a:noFill/>
          <a:ln/>
        </p:spPr>
        <p:txBody>
          <a:bodyPr wrap="square" lIns="0" tIns="0" rIns="0" bIns="0" rtlCol="0" anchor="ctr"/>
          <a:lstStyle/>
          <a:p>
            <a:pPr marL="0" indent="0" algn="l">
              <a:buNone/>
            </a:pPr>
            <a:r>
              <a:rPr lang="en-US" sz="1150" b="1" dirty="0">
                <a:solidFill>
                  <a:srgbClr val="0A5C46"/>
                </a:solidFill>
                <a:latin typeface="Calibri" pitchFamily="34" charset="0"/>
                <a:ea typeface="Calibri" pitchFamily="34" charset="-122"/>
                <a:cs typeface="Calibri" pitchFamily="34" charset="-120"/>
              </a:rPr>
              <a:t>UHN Gynecologic Oncology Program</a:t>
            </a:r>
            <a:endParaRPr lang="en-US" sz="1150" dirty="0"/>
          </a:p>
        </p:txBody>
      </p:sp>
      <p:sp>
        <p:nvSpPr>
          <p:cNvPr id="47" name="Text 45"/>
          <p:cNvSpPr/>
          <p:nvPr/>
        </p:nvSpPr>
        <p:spPr>
          <a:xfrm>
            <a:off x="5056632" y="4690872"/>
            <a:ext cx="3657600" cy="237744"/>
          </a:xfrm>
          <a:prstGeom prst="rect">
            <a:avLst/>
          </a:prstGeom>
          <a:noFill/>
          <a:ln/>
        </p:spPr>
        <p:txBody>
          <a:bodyPr wrap="square" lIns="0" tIns="0" rIns="0" bIns="0" rtlCol="0" anchor="ctr"/>
          <a:lstStyle/>
          <a:p>
            <a:pPr marL="0" indent="0" algn="l">
              <a:buNone/>
            </a:pPr>
            <a:r>
              <a:rPr lang="en-US" sz="1000" dirty="0">
                <a:solidFill>
                  <a:srgbClr val="4A6B60"/>
                </a:solidFill>
                <a:latin typeface="Calibri" pitchFamily="34" charset="0"/>
                <a:ea typeface="Calibri" pitchFamily="34" charset="-122"/>
                <a:cs typeface="Calibri" pitchFamily="34" charset="-120"/>
              </a:rPr>
              <a:t>gynoncuhn.ca</a:t>
            </a:r>
            <a:endParaRPr lang="en-US" sz="1000" dirty="0"/>
          </a:p>
          <a:p>
            <a:pPr marL="0" indent="0" algn="l">
              <a:buNone/>
            </a:pPr>
            <a:r>
              <a:rPr lang="en-US" sz="1000" dirty="0">
                <a:solidFill>
                  <a:srgbClr val="4A6B60"/>
                </a:solidFill>
                <a:latin typeface="Calibri" pitchFamily="34" charset="0"/>
                <a:ea typeface="Calibri" pitchFamily="34" charset="-122"/>
                <a:cs typeface="Calibri" pitchFamily="34" charset="-120"/>
              </a:rPr>
              <a:t>Ontario specialist information</a:t>
            </a:r>
            <a:endParaRPr lang="en-US" sz="1000" dirty="0"/>
          </a:p>
        </p:txBody>
      </p:sp>
      <p:sp>
        <p:nvSpPr>
          <p:cNvPr id="48" name="Shape 46"/>
          <p:cNvSpPr/>
          <p:nvPr/>
        </p:nvSpPr>
        <p:spPr>
          <a:xfrm>
            <a:off x="0" y="4828032"/>
            <a:ext cx="9144000" cy="320040"/>
          </a:xfrm>
          <a:prstGeom prst="rect">
            <a:avLst/>
          </a:prstGeom>
          <a:solidFill>
            <a:srgbClr val="053D30"/>
          </a:solidFill>
          <a:ln w="12700">
            <a:solidFill>
              <a:srgbClr val="053D30"/>
            </a:solidFill>
            <a:prstDash val="solid"/>
          </a:ln>
        </p:spPr>
        <p:txBody>
          <a:bodyPr/>
          <a:lstStyle/>
          <a:p>
            <a:endParaRPr lang="en-US"/>
          </a:p>
        </p:txBody>
      </p:sp>
      <p:sp>
        <p:nvSpPr>
          <p:cNvPr id="49" name="Text 47"/>
          <p:cNvSpPr/>
          <p:nvPr/>
        </p:nvSpPr>
        <p:spPr>
          <a:xfrm>
            <a:off x="411480" y="4846320"/>
            <a:ext cx="8321040" cy="256032"/>
          </a:xfrm>
          <a:prstGeom prst="rect">
            <a:avLst/>
          </a:prstGeom>
          <a:noFill/>
          <a:ln/>
        </p:spPr>
        <p:txBody>
          <a:bodyPr wrap="square" lIns="0" tIns="0" rIns="0" bIns="0" rtlCol="0" anchor="ctr"/>
          <a:lstStyle/>
          <a:p>
            <a:r>
              <a:rPr lang="en-US" sz="800" dirty="0">
                <a:solidFill>
                  <a:srgbClr val="7BBFAA"/>
                </a:solidFill>
                <a:latin typeface="Calibri" pitchFamily="34" charset="0"/>
                <a:ea typeface="Calibri" pitchFamily="34" charset="-122"/>
                <a:cs typeface="Calibri" pitchFamily="34" charset="-120"/>
              </a:rPr>
              <a:t>This fact sheet is part of a knowledge mobilization toolkit. It is informed by a review of research on ovarian cancer detection. It does not replace advice from a trained health professional.</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912</TotalTime>
  <Words>1229</Words>
  <Application>Microsoft Macintosh PowerPoint</Application>
  <PresentationFormat>On-screen Show (16:9)</PresentationFormat>
  <Paragraphs>106</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Patient Fact Sheet: Ovarian Cancer Detection</dc:title>
  <dc:subject>PptxGenJS Presentation</dc:subject>
  <dc:creator>AHCP Capstone Project</dc:creator>
  <cp:lastModifiedBy>dana haidar</cp:lastModifiedBy>
  <cp:revision>5</cp:revision>
  <dcterms:created xsi:type="dcterms:W3CDTF">2026-05-22T02:16:22Z</dcterms:created>
  <dcterms:modified xsi:type="dcterms:W3CDTF">2026-06-13T13:41:31Z</dcterms:modified>
</cp:coreProperties>
</file>