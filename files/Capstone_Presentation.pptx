
<file path=[Content_Types].xml><?xml version="1.0" encoding="utf-8"?>
<Types xmlns="http://schemas.openxmlformats.org/package/2006/content-types">
  <Default Extension="pn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png" ContentType="image/png"/>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3.png" ContentType="image/png"/>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130"/>
    <p:restoredTop sz="94523"/>
  </p:normalViewPr>
  <p:slideViewPr>
    <p:cSldViewPr snapToGrid="0" snapToObjects="1">
      <p:cViewPr varScale="1">
        <p:scale>
          <a:sx n="128" d="100"/>
          <a:sy n="128" d="100"/>
        </p:scale>
        <p:origin x="176"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D998D2-BAF5-3A48-9EF0-2EF2F77F5922}"/>
              </a:ext>
            </a:extLst>
          </p:cNvPr>
          <p:cNvSpPr txBox="1">
            <a:spLocks noGrp="1"/>
          </p:cNvSpPr>
          <p:nvPr>
            <p:ph type="hdr" sz="quarter"/>
          </p:nvPr>
        </p:nvSpPr>
        <p:spPr>
          <a:xfrm>
            <a:off x="0" y="0"/>
            <a:ext cx="2228850" cy="458791"/>
          </a:xfrm>
          <a:prstGeom prst="rect">
            <a:avLst/>
          </a:prstGeom>
          <a:noFill/>
          <a:ln>
            <a:noFill/>
          </a:ln>
        </p:spPr>
        <p:txBody>
          <a:bodyPr vert="horz" wrap="square" lIns="91440" tIns="45720" rIns="91440" bIns="45720" anchor="t" anchorCtr="0" compatLnSpc="1">
            <a:norm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C06B4ED6-A920-E349-9E09-276CFA47BC8E}"/>
              </a:ext>
            </a:extLst>
          </p:cNvPr>
          <p:cNvSpPr txBox="1">
            <a:spLocks noGrp="1"/>
          </p:cNvSpPr>
          <p:nvPr>
            <p:ph type="dt" idx="1"/>
          </p:nvPr>
        </p:nvSpPr>
        <p:spPr>
          <a:xfrm>
            <a:off x="2913058" y="0"/>
            <a:ext cx="2228850" cy="458791"/>
          </a:xfrm>
          <a:prstGeom prst="rect">
            <a:avLst/>
          </a:prstGeom>
          <a:noFill/>
          <a:ln>
            <a:noFill/>
          </a:ln>
        </p:spPr>
        <p:txBody>
          <a:bodyPr vert="horz" wrap="square" lIns="91440" tIns="45720" rIns="91440" bIns="45720" anchor="t" anchorCtr="0" compatLnSpc="1">
            <a:norm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EF20D3D3-EAEE-A84A-B046-876DDD386FA4}" type="datetime1">
              <a:rPr lang="en-US"/>
              <a:pPr lvl="0"/>
              <a:t>6/17/26</a:t>
            </a:fld>
            <a:endParaRPr lang="en-US"/>
          </a:p>
        </p:txBody>
      </p:sp>
      <p:sp>
        <p:nvSpPr>
          <p:cNvPr id="4" name="Slide Image Placeholder 3">
            <a:extLst>
              <a:ext uri="{FF2B5EF4-FFF2-40B4-BE49-F238E27FC236}">
                <a16:creationId xmlns:a16="http://schemas.microsoft.com/office/drawing/2014/main" id="{9A21B858-07AB-C943-A841-2556705CE7F6}"/>
              </a:ext>
            </a:extLst>
          </p:cNvPr>
          <p:cNvSpPr>
            <a:spLocks noGrp="1" noRot="1" noChangeAspect="1"/>
          </p:cNvSpPr>
          <p:nvPr>
            <p:ph type="sldImg" idx="2"/>
          </p:nvPr>
        </p:nvSpPr>
        <p:spPr>
          <a:xfrm>
            <a:off x="-17145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5C34E2A6-A86B-964B-87CF-93856FE08865}"/>
              </a:ext>
            </a:extLst>
          </p:cNvPr>
          <p:cNvSpPr txBox="1">
            <a:spLocks noGrp="1"/>
          </p:cNvSpPr>
          <p:nvPr>
            <p:ph type="body" sz="quarter" idx="3"/>
          </p:nvPr>
        </p:nvSpPr>
        <p:spPr>
          <a:xfrm>
            <a:off x="514350" y="4400549"/>
            <a:ext cx="4114800" cy="3600450"/>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1E9547B-9135-4B45-B85D-9B3FEE78DB67}"/>
              </a:ext>
            </a:extLst>
          </p:cNvPr>
          <p:cNvSpPr txBox="1">
            <a:spLocks noGrp="1"/>
          </p:cNvSpPr>
          <p:nvPr>
            <p:ph type="ftr" sz="quarter" idx="4"/>
          </p:nvPr>
        </p:nvSpPr>
        <p:spPr>
          <a:xfrm>
            <a:off x="0" y="8685208"/>
            <a:ext cx="2228850" cy="458791"/>
          </a:xfrm>
          <a:prstGeom prst="rect">
            <a:avLst/>
          </a:prstGeom>
          <a:noFill/>
          <a:ln>
            <a:noFill/>
          </a:ln>
        </p:spPr>
        <p:txBody>
          <a:bodyPr vert="horz" wrap="square" lIns="91440" tIns="45720" rIns="91440" bIns="45720" anchor="b" anchorCtr="0" compatLnSpc="1">
            <a:norm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5D3B9AD2-A788-8C48-8A3A-D87374DE40CA}"/>
              </a:ext>
            </a:extLst>
          </p:cNvPr>
          <p:cNvSpPr txBox="1">
            <a:spLocks noGrp="1"/>
          </p:cNvSpPr>
          <p:nvPr>
            <p:ph type="sldNum" sz="quarter" idx="5"/>
          </p:nvPr>
        </p:nvSpPr>
        <p:spPr>
          <a:xfrm>
            <a:off x="2913058" y="8685208"/>
            <a:ext cx="2228850" cy="458791"/>
          </a:xfrm>
          <a:prstGeom prst="rect">
            <a:avLst/>
          </a:prstGeom>
          <a:noFill/>
          <a:ln>
            <a:noFill/>
          </a:ln>
        </p:spPr>
        <p:txBody>
          <a:bodyPr vert="horz" wrap="square" lIns="91440" tIns="45720" rIns="91440" bIns="45720" anchor="b" anchorCtr="0" compatLnSpc="1">
            <a:normAutofit/>
          </a:bodyPr>
          <a:lstStyle>
            <a:lvl1pPr marL="0" marR="0" lvl="0" indent="0" algn="r" defTabSz="914400" rtl="0" fontAlgn="auto" hangingPunct="1">
              <a:lnSpc>
                <a:spcPct val="100000"/>
              </a:lnSpc>
              <a:spcBef>
                <a:spcPts val="0"/>
              </a:spcBef>
              <a:spcAft>
                <a:spcPts val="0"/>
              </a:spcAft>
              <a:buNone/>
              <a:tabLst/>
              <a:defRPr lang="en-CA" sz="1200" b="0" i="0" u="none" strike="noStrike" kern="1200" cap="none" spc="0" baseline="0">
                <a:solidFill>
                  <a:srgbClr val="000000"/>
                </a:solidFill>
                <a:uFillTx/>
                <a:latin typeface="Calibri"/>
              </a:defRPr>
            </a:lvl1pPr>
          </a:lstStyle>
          <a:p>
            <a:pPr lvl="0"/>
            <a:fld id="{38859185-8DBC-F84F-9CEB-FA028FB9F2F4}" type="slidenum">
              <a:t>‹#›</a:t>
            </a:fld>
            <a:endParaRPr lang="en-CA"/>
          </a:p>
        </p:txBody>
      </p:sp>
    </p:spTree>
    <p:extLst>
      <p:ext uri="{BB962C8B-B14F-4D97-AF65-F5344CB8AC3E}">
        <p14:creationId xmlns:p14="http://schemas.microsoft.com/office/powerpoint/2010/main" val="2440819481"/>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24818-C082-6943-BF32-195659B35DBA}"/>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A8036616-5DC5-3D4F-BC35-544315700939}"/>
              </a:ext>
            </a:extLst>
          </p:cNvPr>
          <p:cNvSpPr txBox="1">
            <a:spLocks noGrp="1"/>
          </p:cNvSpPr>
          <p:nvPr>
            <p:ph type="body" sz="quarter" idx="1"/>
          </p:nvPr>
        </p:nvSpPr>
        <p:spPr/>
        <p:txBody>
          <a:bodyPr/>
          <a:lstStyle/>
          <a:p>
            <a:endParaRPr lang="en-CA" dirty="0"/>
          </a:p>
        </p:txBody>
      </p:sp>
      <p:sp>
        <p:nvSpPr>
          <p:cNvPr id="4" name="Slide Number Placeholder 3">
            <a:extLst>
              <a:ext uri="{FF2B5EF4-FFF2-40B4-BE49-F238E27FC236}">
                <a16:creationId xmlns:a16="http://schemas.microsoft.com/office/drawing/2014/main" id="{8A622E9A-1A0E-D742-82FC-8BE8F475BF34}"/>
              </a:ext>
            </a:extLst>
          </p:cNvPr>
          <p:cNvSpPr txBox="1">
            <a:spLocks noGrp="1"/>
          </p:cNvSpPr>
          <p:nvPr>
            <p:ph type="sldNum" sz="quarter" idx="8"/>
          </p:nvPr>
        </p:nvSpPr>
        <p:spPr/>
        <p:txBody>
          <a:bodyPr/>
          <a:lstStyle/>
          <a:p>
            <a:pPr lvl="0"/>
            <a:fld id="{7C084B4E-8AC8-3A41-8CFF-49B430634EEC}" type="slidenum">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D7BDF-6631-7049-AC38-7BD686335F15}"/>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C69093C4-F2EC-3549-A5D5-9115D2676DF0}"/>
              </a:ext>
            </a:extLst>
          </p:cNvPr>
          <p:cNvSpPr txBox="1">
            <a:spLocks noGrp="1"/>
          </p:cNvSpPr>
          <p:nvPr>
            <p:ph type="body" sz="quarter" idx="1"/>
          </p:nvPr>
        </p:nvSpPr>
        <p:spPr/>
        <p:txBody>
          <a:bodyPr>
            <a:normAutofit fontScale="92500" lnSpcReduction="10000"/>
          </a:bodyPr>
          <a:lstStyle/>
          <a:p>
            <a:r>
              <a:rPr lang="en-CA" dirty="0"/>
              <a:t>This is why knowledge mobilization matters. Without reliable population screening, people need clear information about what Pap tests do not detect, what symptoms to watch for, and when to seek care.</a:t>
            </a:r>
          </a:p>
          <a:p>
            <a:endParaRPr lang="en-US" dirty="0"/>
          </a:p>
        </p:txBody>
      </p:sp>
      <p:sp>
        <p:nvSpPr>
          <p:cNvPr id="4" name="Slide Number Placeholder 3">
            <a:extLst>
              <a:ext uri="{FF2B5EF4-FFF2-40B4-BE49-F238E27FC236}">
                <a16:creationId xmlns:a16="http://schemas.microsoft.com/office/drawing/2014/main" id="{622EAC79-E371-6E42-80EC-D8FA0D2882DE}"/>
              </a:ext>
            </a:extLst>
          </p:cNvPr>
          <p:cNvSpPr txBox="1">
            <a:spLocks noGrp="1"/>
          </p:cNvSpPr>
          <p:nvPr>
            <p:ph type="sldNum" sz="quarter" idx="8"/>
          </p:nvPr>
        </p:nvSpPr>
        <p:spPr/>
        <p:txBody>
          <a:bodyPr/>
          <a:lstStyle/>
          <a:p>
            <a:pPr lvl="0"/>
            <a:fld id="{FD6E3C4E-EC89-5747-848E-73F020C44248}" type="slidenum">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35B59-A921-4840-8399-A906167CE2BD}"/>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0506820E-6D32-6044-8AEC-449F02440BFB}"/>
              </a:ext>
            </a:extLst>
          </p:cNvPr>
          <p:cNvSpPr txBox="1">
            <a:spLocks noGrp="1"/>
          </p:cNvSpPr>
          <p:nvPr>
            <p:ph type="body" sz="quarter"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BF86E25-5B7B-FE4C-8BB1-6199987ADDD3}"/>
              </a:ext>
            </a:extLst>
          </p:cNvPr>
          <p:cNvSpPr txBox="1">
            <a:spLocks noGrp="1"/>
          </p:cNvSpPr>
          <p:nvPr>
            <p:ph type="sldNum" sz="quarter" idx="8"/>
          </p:nvPr>
        </p:nvSpPr>
        <p:spPr/>
        <p:txBody>
          <a:bodyPr/>
          <a:lstStyle/>
          <a:p>
            <a:pPr lvl="0"/>
            <a:fld id="{F08E8B0C-1468-3D49-8272-48071A416D2C}" type="slidenum">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0A236-B7E5-EA4D-A66E-43C3CA303C1E}"/>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280F40B7-BD4B-4E46-A1D3-911B6F0DFC8A}"/>
              </a:ext>
            </a:extLst>
          </p:cNvPr>
          <p:cNvSpPr txBox="1">
            <a:spLocks noGrp="1"/>
          </p:cNvSpPr>
          <p:nvPr>
            <p:ph type="body" sz="quarter"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5F33C50-2E86-F54D-BAC6-59760A239355}"/>
              </a:ext>
            </a:extLst>
          </p:cNvPr>
          <p:cNvSpPr txBox="1">
            <a:spLocks noGrp="1"/>
          </p:cNvSpPr>
          <p:nvPr>
            <p:ph type="sldNum" sz="quarter" idx="8"/>
          </p:nvPr>
        </p:nvSpPr>
        <p:spPr/>
        <p:txBody>
          <a:bodyPr/>
          <a:lstStyle/>
          <a:p>
            <a:pPr lvl="0"/>
            <a:fld id="{DDC41CEB-FF3B-6F4F-8117-8485785F8976}" type="slidenum">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C952D-D6C7-0545-B8E9-D72069C38B62}"/>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8AB7D25B-C361-AF4E-8C1F-BCE0CFC05DC8}"/>
              </a:ext>
            </a:extLst>
          </p:cNvPr>
          <p:cNvSpPr txBox="1">
            <a:spLocks noGrp="1"/>
          </p:cNvSpPr>
          <p:nvPr>
            <p:ph type="body" sz="quarter"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1A47B49-586B-5946-9030-BB1266563BF6}"/>
              </a:ext>
            </a:extLst>
          </p:cNvPr>
          <p:cNvSpPr txBox="1">
            <a:spLocks noGrp="1"/>
          </p:cNvSpPr>
          <p:nvPr>
            <p:ph type="sldNum" sz="quarter" idx="8"/>
          </p:nvPr>
        </p:nvSpPr>
        <p:spPr/>
        <p:txBody>
          <a:bodyPr/>
          <a:lstStyle/>
          <a:p>
            <a:pPr lvl="0"/>
            <a:fld id="{D22D81D8-B66D-914D-8325-D8E8B89C0335}" type="slidenum">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E38D8-FD49-7A48-BF7C-A5EA409D2195}"/>
              </a:ext>
            </a:extLst>
          </p:cNvPr>
          <p:cNvSpPr>
            <a:spLocks noGrp="1" noRot="1" noChangeAspect="1"/>
          </p:cNvSpPr>
          <p:nvPr>
            <p:ph type="sldImg"/>
          </p:nvPr>
        </p:nvSpPr>
        <p:spPr>
          <a:xfrm>
            <a:off x="-171450" y="1143000"/>
            <a:ext cx="5486400" cy="3086100"/>
          </a:xfrm>
        </p:spPr>
      </p:sp>
      <p:sp>
        <p:nvSpPr>
          <p:cNvPr id="3" name="Notes Placeholder 2">
            <a:extLst>
              <a:ext uri="{FF2B5EF4-FFF2-40B4-BE49-F238E27FC236}">
                <a16:creationId xmlns:a16="http://schemas.microsoft.com/office/drawing/2014/main" id="{3695E8AD-F6D8-5943-BBF6-4489F30E098D}"/>
              </a:ext>
            </a:extLst>
          </p:cNvPr>
          <p:cNvSpPr txBox="1">
            <a:spLocks noGrp="1"/>
          </p:cNvSpPr>
          <p:nvPr>
            <p:ph type="body" sz="quarter" idx="1"/>
          </p:nvPr>
        </p:nvSpPr>
        <p:spPr/>
        <p:txBody>
          <a:bodyPr>
            <a:normAutofit fontScale="85000" lnSpcReduction="20000"/>
          </a:bodyPr>
          <a:lstStyle/>
          <a:p>
            <a:r>
              <a:rPr lang="en-CA" dirty="0"/>
              <a:t>What this project shows is that the challenge in ovarian cancer detection happens much earlier than oncology. It begins when symptoms are first noticed, how they are understood, how quickly someone seeks care, and how clearly providers respond.</a:t>
            </a:r>
          </a:p>
          <a:p>
            <a:endParaRPr lang="en-CA" dirty="0"/>
          </a:p>
          <a:p>
            <a:r>
              <a:rPr lang="en-CA" dirty="0"/>
              <a:t>That is the window this toolkit is designed to support.</a:t>
            </a:r>
          </a:p>
          <a:p>
            <a:endParaRPr lang="en-CA" dirty="0"/>
          </a:p>
          <a:p>
            <a:endParaRPr lang="en-CA" dirty="0"/>
          </a:p>
          <a:p>
            <a:r>
              <a:rPr lang="en-CA" dirty="0"/>
              <a:t>These toolkits belongs in primary care, community health, and public-facing spaces, because that is where earlier recognition and action are most likely to happen.</a:t>
            </a:r>
          </a:p>
          <a:p>
            <a:endParaRPr lang="en-CA" dirty="0"/>
          </a:p>
          <a:p>
            <a:r>
              <a:rPr lang="en-CA" dirty="0"/>
              <a:t>For next steps, I would focus on dissemination and evaluation. The toolkit could be shared through primary care clinics, community organizations, and ovarian cancer advocacy groups using handouts, QR codes, and digital links. It could then be piloted with patients and providers to see whether it improves understanding, symptom awareness, and confidence in seeking care.</a:t>
            </a:r>
          </a:p>
          <a:p>
            <a:endParaRPr lang="en-CA" dirty="0"/>
          </a:p>
        </p:txBody>
      </p:sp>
      <p:sp>
        <p:nvSpPr>
          <p:cNvPr id="4" name="Slide Number Placeholder 3">
            <a:extLst>
              <a:ext uri="{FF2B5EF4-FFF2-40B4-BE49-F238E27FC236}">
                <a16:creationId xmlns:a16="http://schemas.microsoft.com/office/drawing/2014/main" id="{06D1659D-A5EA-7248-91D0-C65EBEBB22D0}"/>
              </a:ext>
            </a:extLst>
          </p:cNvPr>
          <p:cNvSpPr txBox="1">
            <a:spLocks noGrp="1"/>
          </p:cNvSpPr>
          <p:nvPr>
            <p:ph type="sldNum" sz="quarter" idx="8"/>
          </p:nvPr>
        </p:nvSpPr>
        <p:spPr/>
        <p:txBody>
          <a:bodyPr/>
          <a:lstStyle/>
          <a:p>
            <a:pPr lvl="0"/>
            <a:fld id="{F563ECC0-8B32-D249-BF5F-7450F8798611}" type="slidenum">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9736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C34A30-10FD-9043-AD85-1291EFBDDE1D}"/>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pic>
        <p:nvPicPr>
          <p:cNvPr id="3" name="Image 0" descr="preencoded.png">
            <a:extLst>
              <a:ext uri="{FF2B5EF4-FFF2-40B4-BE49-F238E27FC236}">
                <a16:creationId xmlns:a16="http://schemas.microsoft.com/office/drawing/2014/main" id="{109A811E-B697-344B-BD84-DD2E0DB4AB12}"/>
              </a:ext>
            </a:extLst>
          </p:cNvPr>
          <p:cNvPicPr>
            <a:picLocks noChangeAspect="1"/>
          </p:cNvPicPr>
          <p:nvPr/>
        </p:nvPicPr>
        <p:blipFill>
          <a:blip r:embed="rId3"/>
          <a:stretch>
            <a:fillRect/>
          </a:stretch>
        </p:blipFill>
        <p:spPr>
          <a:xfrm>
            <a:off x="457200" y="320040"/>
            <a:ext cx="2141835" cy="475488"/>
          </a:xfrm>
          <a:prstGeom prst="rect">
            <a:avLst/>
          </a:prstGeom>
          <a:noFill/>
          <a:ln w="9528" cap="flat">
            <a:solidFill>
              <a:srgbClr val="FFFFFF"/>
            </a:solidFill>
            <a:prstDash val="solid"/>
            <a:miter/>
          </a:ln>
        </p:spPr>
      </p:pic>
      <p:sp>
        <p:nvSpPr>
          <p:cNvPr id="4" name="Shape 1">
            <a:extLst>
              <a:ext uri="{FF2B5EF4-FFF2-40B4-BE49-F238E27FC236}">
                <a16:creationId xmlns:a16="http://schemas.microsoft.com/office/drawing/2014/main" id="{5C3EE15B-5C32-9E4B-859A-427D577FD141}"/>
              </a:ext>
            </a:extLst>
          </p:cNvPr>
          <p:cNvSpPr/>
          <p:nvPr/>
        </p:nvSpPr>
        <p:spPr>
          <a:xfrm>
            <a:off x="457200" y="960120"/>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5" name="Text 2">
            <a:extLst>
              <a:ext uri="{FF2B5EF4-FFF2-40B4-BE49-F238E27FC236}">
                <a16:creationId xmlns:a16="http://schemas.microsoft.com/office/drawing/2014/main" id="{38F82221-AA93-A244-A14F-98018E16EDA0}"/>
              </a:ext>
            </a:extLst>
          </p:cNvPr>
          <p:cNvSpPr/>
          <p:nvPr/>
        </p:nvSpPr>
        <p:spPr>
          <a:xfrm>
            <a:off x="457200" y="1143000"/>
            <a:ext cx="8366760" cy="1371600"/>
          </a:xfrm>
          <a:prstGeom prst="rect">
            <a:avLst/>
          </a:prstGeom>
          <a:noFill/>
          <a:ln cap="flat">
            <a:noFill/>
            <a:prstDash val="solid"/>
          </a:ln>
        </p:spPr>
        <p:txBody>
          <a:bodyPr vert="horz" wrap="square" lIns="0" tIns="0" rIns="0" bIns="0" anchor="ctr" anchorCtr="0" compatLnSpc="1">
            <a:normAutofit lnSpcReduction="10000"/>
          </a:bodyPr>
          <a:lstStyle/>
          <a:p>
            <a:pPr>
              <a:defRPr sz="1800" b="0" i="0" u="none" strike="noStrike" kern="0" cap="none" spc="0" baseline="0">
                <a:solidFill>
                  <a:srgbClr val="000000"/>
                </a:solidFill>
                <a:uFillTx/>
              </a:defRPr>
            </a:pPr>
            <a:r>
              <a:rPr lang="en-US" sz="3200" b="1" i="0" u="none" strike="noStrike" kern="1200" cap="none" spc="0" baseline="0" dirty="0">
                <a:solidFill>
                  <a:srgbClr val="4F2683"/>
                </a:solidFill>
                <a:uFillTx/>
                <a:latin typeface="Calibri" pitchFamily="34"/>
                <a:ea typeface="Calibri" pitchFamily="34"/>
                <a:cs typeface="Calibri" pitchFamily="34"/>
              </a:rPr>
              <a:t>Knowledge Mobilization Gaps in the</a:t>
            </a:r>
          </a:p>
          <a:p>
            <a:pPr>
              <a:defRPr sz="1800" b="0" i="0" u="none" strike="noStrike" kern="0" cap="none" spc="0" baseline="0">
                <a:solidFill>
                  <a:srgbClr val="000000"/>
                </a:solidFill>
                <a:uFillTx/>
              </a:defRPr>
            </a:pPr>
            <a:r>
              <a:rPr lang="en-US" sz="3200" b="1" i="0" u="none" strike="noStrike" kern="1200" cap="none" spc="0" baseline="0" dirty="0">
                <a:solidFill>
                  <a:srgbClr val="4F2683"/>
                </a:solidFill>
                <a:uFillTx/>
                <a:latin typeface="Calibri" pitchFamily="34"/>
                <a:ea typeface="Calibri" pitchFamily="34"/>
                <a:cs typeface="Calibri" pitchFamily="34"/>
              </a:rPr>
              <a:t>Communication of Ovarian Cancer Detection</a:t>
            </a:r>
          </a:p>
          <a:p>
            <a:pPr>
              <a:defRPr sz="1800" b="0" i="0" u="none" strike="noStrike" kern="0" cap="none" spc="0" baseline="0">
                <a:solidFill>
                  <a:srgbClr val="000000"/>
                </a:solidFill>
                <a:uFillTx/>
              </a:defRPr>
            </a:pPr>
            <a:r>
              <a:rPr lang="en-US" sz="3200" b="1" i="0" u="none" strike="noStrike" kern="1200" cap="none" spc="0" baseline="0" dirty="0">
                <a:solidFill>
                  <a:srgbClr val="4F2683"/>
                </a:solidFill>
                <a:uFillTx/>
                <a:latin typeface="Calibri" pitchFamily="34"/>
                <a:ea typeface="Calibri" pitchFamily="34"/>
                <a:cs typeface="Calibri" pitchFamily="34"/>
              </a:rPr>
              <a:t>Without Population Screening</a:t>
            </a:r>
            <a:endParaRPr lang="en-US" sz="3200" b="0" i="0" u="none" strike="noStrike" kern="1200" cap="none" spc="0" baseline="0" dirty="0">
              <a:solidFill>
                <a:srgbClr val="000000"/>
              </a:solidFill>
              <a:uFillTx/>
              <a:latin typeface="Calibri"/>
            </a:endParaRPr>
          </a:p>
        </p:txBody>
      </p:sp>
      <p:sp>
        <p:nvSpPr>
          <p:cNvPr id="6" name="Text 3">
            <a:extLst>
              <a:ext uri="{FF2B5EF4-FFF2-40B4-BE49-F238E27FC236}">
                <a16:creationId xmlns:a16="http://schemas.microsoft.com/office/drawing/2014/main" id="{0F51973F-F872-2A4E-90B6-6F91E4B35B2C}"/>
              </a:ext>
            </a:extLst>
          </p:cNvPr>
          <p:cNvSpPr/>
          <p:nvPr/>
        </p:nvSpPr>
        <p:spPr>
          <a:xfrm>
            <a:off x="457200" y="2651760"/>
            <a:ext cx="5486400" cy="365760"/>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Dana Haidar</a:t>
            </a:r>
            <a:endParaRPr lang="en-US" sz="1600" b="0" i="0" u="none" strike="noStrike" kern="1200" cap="none" spc="0" baseline="0" dirty="0">
              <a:solidFill>
                <a:srgbClr val="000000"/>
              </a:solidFill>
              <a:uFillTx/>
              <a:latin typeface="Calibri"/>
            </a:endParaRPr>
          </a:p>
        </p:txBody>
      </p:sp>
      <p:sp>
        <p:nvSpPr>
          <p:cNvPr id="7" name="Text 4">
            <a:extLst>
              <a:ext uri="{FF2B5EF4-FFF2-40B4-BE49-F238E27FC236}">
                <a16:creationId xmlns:a16="http://schemas.microsoft.com/office/drawing/2014/main" id="{04C064A1-C789-0147-A786-F8985BCC7542}"/>
              </a:ext>
            </a:extLst>
          </p:cNvPr>
          <p:cNvSpPr/>
          <p:nvPr/>
        </p:nvSpPr>
        <p:spPr>
          <a:xfrm>
            <a:off x="457200" y="3035808"/>
            <a:ext cx="6400800" cy="274320"/>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1" u="none" strike="noStrike" kern="1200" cap="none" spc="0" baseline="0" dirty="0">
                <a:solidFill>
                  <a:srgbClr val="767676"/>
                </a:solidFill>
                <a:uFillTx/>
                <a:latin typeface="Calibri"/>
                <a:ea typeface="Calibri"/>
                <a:cs typeface="Calibri"/>
              </a:rPr>
              <a:t>Advanced Health Care Practice  |  Western University</a:t>
            </a:r>
            <a:endParaRPr lang="en-US" sz="1200" b="0" i="0" u="none" strike="noStrike" kern="1200" cap="none" spc="0" baseline="0" dirty="0">
              <a:solidFill>
                <a:srgbClr val="000000"/>
              </a:solidFill>
              <a:uFillTx/>
              <a:latin typeface="Calibri"/>
              <a:ea typeface="Calibri"/>
              <a:cs typeface="Calibri"/>
            </a:endParaRPr>
          </a:p>
        </p:txBody>
      </p:sp>
      <p:sp>
        <p:nvSpPr>
          <p:cNvPr id="8" name="Text 5">
            <a:extLst>
              <a:ext uri="{FF2B5EF4-FFF2-40B4-BE49-F238E27FC236}">
                <a16:creationId xmlns:a16="http://schemas.microsoft.com/office/drawing/2014/main" id="{50C16ABC-0230-734A-B43C-1F3635DF326D}"/>
              </a:ext>
            </a:extLst>
          </p:cNvPr>
          <p:cNvSpPr/>
          <p:nvPr/>
        </p:nvSpPr>
        <p:spPr>
          <a:xfrm>
            <a:off x="457200" y="3383280"/>
            <a:ext cx="6400800" cy="274320"/>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a:solidFill>
                  <a:srgbClr val="767676"/>
                </a:solidFill>
                <a:uFillTx/>
                <a:latin typeface="Calibri" pitchFamily="34"/>
                <a:ea typeface="Calibri" pitchFamily="34"/>
                <a:cs typeface="Calibri" pitchFamily="34"/>
              </a:rPr>
              <a:t>Field Mentor: Dr. Melanie Barwick, SickKids  |  Academic Lead: Dr. Marcy Saxe-Braithwaite  |  June 2026</a:t>
            </a:r>
            <a:endParaRPr lang="en-US" sz="1200" b="0" i="0" u="none" strike="noStrike" kern="1200" cap="none" spc="0" baseline="0" dirty="0">
              <a:solidFill>
                <a:srgbClr val="000000"/>
              </a:solidFill>
              <a:uFillTx/>
              <a:latin typeface="Calibri"/>
            </a:endParaRPr>
          </a:p>
        </p:txBody>
      </p:sp>
      <p:sp>
        <p:nvSpPr>
          <p:cNvPr id="9" name="Shape 6">
            <a:extLst>
              <a:ext uri="{FF2B5EF4-FFF2-40B4-BE49-F238E27FC236}">
                <a16:creationId xmlns:a16="http://schemas.microsoft.com/office/drawing/2014/main" id="{BD29A21D-12CD-384B-8234-A1E1EB37F12D}"/>
              </a:ext>
            </a:extLst>
          </p:cNvPr>
          <p:cNvSpPr/>
          <p:nvPr/>
        </p:nvSpPr>
        <p:spPr>
          <a:xfrm>
            <a:off x="457200" y="3794759"/>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10" name="Text 7">
            <a:extLst>
              <a:ext uri="{FF2B5EF4-FFF2-40B4-BE49-F238E27FC236}">
                <a16:creationId xmlns:a16="http://schemas.microsoft.com/office/drawing/2014/main" id="{A190E9D8-863D-BF4C-9103-EDB208988A25}"/>
              </a:ext>
            </a:extLst>
          </p:cNvPr>
          <p:cNvSpPr/>
          <p:nvPr/>
        </p:nvSpPr>
        <p:spPr>
          <a:xfrm>
            <a:off x="457200" y="3886200"/>
            <a:ext cx="8366760" cy="228600"/>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1" u="none" strike="noStrike" kern="1200" cap="none" spc="0" baseline="0" dirty="0">
                <a:solidFill>
                  <a:srgbClr val="767676"/>
                </a:solidFill>
                <a:uFillTx/>
                <a:latin typeface="Calibri"/>
                <a:ea typeface="Calibri"/>
                <a:cs typeface="Calibri"/>
              </a:rPr>
              <a:t>AHCP Capstone Conference 2026</a:t>
            </a:r>
            <a:endParaRPr lang="en-US" sz="1000" b="0" i="0" u="none" strike="noStrike" kern="1200" cap="none" spc="0" baseline="0" dirty="0">
              <a:solidFill>
                <a:srgbClr val="000000"/>
              </a:solidFill>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31D7EF-CC2D-DA48-88BF-2D3C3C2CDD5B}"/>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sp>
        <p:nvSpPr>
          <p:cNvPr id="3" name="Shape 1">
            <a:extLst>
              <a:ext uri="{FF2B5EF4-FFF2-40B4-BE49-F238E27FC236}">
                <a16:creationId xmlns:a16="http://schemas.microsoft.com/office/drawing/2014/main" id="{280B1664-3547-4045-B079-64692EED121A}"/>
              </a:ext>
            </a:extLst>
          </p:cNvPr>
          <p:cNvSpPr/>
          <p:nvPr/>
        </p:nvSpPr>
        <p:spPr>
          <a:xfrm>
            <a:off x="411480" y="256032"/>
            <a:ext cx="34747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F2683"/>
          </a:solidFill>
          <a:ln w="12701" cap="flat">
            <a:solidFill>
              <a:srgbClr val="4F2683"/>
            </a:solidFill>
            <a:prstDash val="solid"/>
            <a:miter/>
          </a:ln>
        </p:spPr>
        <p:txBody>
          <a:bodyPr lIns="0" tIns="0" rIns="0" bIns="0"/>
          <a:lstStyle/>
          <a:p>
            <a:endParaRPr lang="en-US"/>
          </a:p>
        </p:txBody>
      </p:sp>
      <p:sp>
        <p:nvSpPr>
          <p:cNvPr id="4" name="Text 2">
            <a:extLst>
              <a:ext uri="{FF2B5EF4-FFF2-40B4-BE49-F238E27FC236}">
                <a16:creationId xmlns:a16="http://schemas.microsoft.com/office/drawing/2014/main" id="{E42445C4-5377-7445-BDA9-15B6ED76369B}"/>
              </a:ext>
            </a:extLst>
          </p:cNvPr>
          <p:cNvSpPr/>
          <p:nvPr/>
        </p:nvSpPr>
        <p:spPr>
          <a:xfrm>
            <a:off x="411480" y="256032"/>
            <a:ext cx="347472" cy="347472"/>
          </a:xfrm>
          <a:prstGeom prst="rect">
            <a:avLst/>
          </a:prstGeom>
          <a:noFill/>
          <a:ln cap="flat">
            <a:noFill/>
            <a:prstDash val="solid"/>
          </a:ln>
        </p:spPr>
        <p:txBody>
          <a:bodyPr vert="horz" wrap="square" lIns="0" tIns="0" rIns="0" bIns="0" anchor="ctr" anchorCtr="1" compatLnSpc="1">
            <a:norm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libri" pitchFamily="34"/>
                <a:ea typeface="Calibri" pitchFamily="34"/>
                <a:cs typeface="Calibri" pitchFamily="34"/>
              </a:rPr>
              <a:t>1</a:t>
            </a:r>
            <a:endParaRPr lang="en-US" sz="12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904E649B-5EF9-3943-AD05-B1E0CE3C1728}"/>
              </a:ext>
            </a:extLst>
          </p:cNvPr>
          <p:cNvSpPr/>
          <p:nvPr/>
        </p:nvSpPr>
        <p:spPr>
          <a:xfrm>
            <a:off x="841248" y="265176"/>
            <a:ext cx="4572000" cy="301752"/>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200" baseline="0">
                <a:solidFill>
                  <a:srgbClr val="6B3FA0"/>
                </a:solidFill>
                <a:uFillTx/>
                <a:latin typeface="Calibri" pitchFamily="34"/>
                <a:ea typeface="Calibri" pitchFamily="34"/>
                <a:cs typeface="Calibri" pitchFamily="34"/>
              </a:rPr>
              <a:t>INTRODUCTION / BACKGROUND</a:t>
            </a:r>
            <a:endParaRPr lang="en-US" sz="90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56D52F7F-A31A-6B40-BE0C-CFA035C84FC0}"/>
              </a:ext>
            </a:extLst>
          </p:cNvPr>
          <p:cNvSpPr/>
          <p:nvPr/>
        </p:nvSpPr>
        <p:spPr>
          <a:xfrm>
            <a:off x="411480" y="658368"/>
            <a:ext cx="8366760" cy="530352"/>
          </a:xfrm>
          <a:prstGeom prst="rect">
            <a:avLst/>
          </a:prstGeom>
          <a:noFill/>
          <a:ln cap="flat">
            <a:noFill/>
            <a:prstDash val="solid"/>
          </a:ln>
        </p:spPr>
        <p:txBody>
          <a:bodyPr vert="horz" wrap="square" lIns="0" tIns="0" rIns="0" bIns="0" anchor="b"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dirty="0">
                <a:solidFill>
                  <a:srgbClr val="4F2683"/>
                </a:solidFill>
                <a:uFillTx/>
                <a:latin typeface="Calibri" pitchFamily="34"/>
                <a:ea typeface="Calibri" pitchFamily="34"/>
                <a:cs typeface="Calibri" pitchFamily="34"/>
              </a:rPr>
              <a:t>The Gap Between Evidence and Understanding</a:t>
            </a:r>
            <a:endParaRPr lang="en-US" sz="2400" b="0" i="0" u="none" strike="noStrike" kern="1200" cap="none" spc="0" baseline="0" dirty="0">
              <a:solidFill>
                <a:srgbClr val="000000"/>
              </a:solidFill>
              <a:uFillTx/>
              <a:latin typeface="Calibri"/>
            </a:endParaRPr>
          </a:p>
        </p:txBody>
      </p:sp>
      <p:sp>
        <p:nvSpPr>
          <p:cNvPr id="7" name="Shape 5">
            <a:extLst>
              <a:ext uri="{FF2B5EF4-FFF2-40B4-BE49-F238E27FC236}">
                <a16:creationId xmlns:a16="http://schemas.microsoft.com/office/drawing/2014/main" id="{AFE81674-5D74-304B-9DEC-FF815F25E840}"/>
              </a:ext>
            </a:extLst>
          </p:cNvPr>
          <p:cNvSpPr/>
          <p:nvPr/>
        </p:nvSpPr>
        <p:spPr>
          <a:xfrm>
            <a:off x="411480" y="1216152"/>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8" name="Text 6">
            <a:extLst>
              <a:ext uri="{FF2B5EF4-FFF2-40B4-BE49-F238E27FC236}">
                <a16:creationId xmlns:a16="http://schemas.microsoft.com/office/drawing/2014/main" id="{FD534FDE-242C-E746-849F-ACBAC83022B2}"/>
              </a:ext>
            </a:extLst>
          </p:cNvPr>
          <p:cNvSpPr/>
          <p:nvPr/>
        </p:nvSpPr>
        <p:spPr>
          <a:xfrm>
            <a:off x="365760" y="1427856"/>
            <a:ext cx="4932633" cy="3291840"/>
          </a:xfrm>
          <a:prstGeom prst="rect">
            <a:avLst/>
          </a:prstGeom>
          <a:noFill/>
          <a:ln cap="flat">
            <a:noFill/>
            <a:prstDash val="solid"/>
          </a:ln>
        </p:spPr>
        <p:txBody>
          <a:bodyPr vert="horz" wrap="square" lIns="0" tIns="0" rIns="0" bIns="0" anchor="t" anchorCtr="0" compatLnSpc="1">
            <a:normAutofit/>
          </a:bodyPr>
          <a:lstStyle/>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There is no population-based screening test anywhere. </a:t>
            </a:r>
          </a:p>
          <a:p>
            <a:pPr marL="342900" indent="-342900">
              <a:spcAft>
                <a:spcPts val="600"/>
              </a:spcAft>
              <a:buSzPct val="100000"/>
              <a:buFontTx/>
              <a:buChar char="•"/>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CA-125 (blood tumor marker test) and transvaginal ultrasound (an internal pelvic ultrasound) have not reduced deaths in routine screening.</a:t>
            </a:r>
          </a:p>
          <a:p>
            <a:pPr marL="342900" indent="-342900">
              <a:spcAft>
                <a:spcPts val="600"/>
              </a:spcAft>
              <a:buSzPct val="100000"/>
              <a:buFontTx/>
              <a:buChar char="•"/>
              <a:defRPr sz="1800" b="0" i="0" u="none" strike="noStrike" kern="0" cap="none" spc="0" baseline="0">
                <a:solidFill>
                  <a:srgbClr val="000000"/>
                </a:solidFill>
                <a:uFillTx/>
              </a:defRPr>
            </a:pPr>
            <a:r>
              <a:rPr lang="en-CA" sz="1600" dirty="0"/>
              <a:t>Pap test misconceptions are common. </a:t>
            </a:r>
          </a:p>
          <a:p>
            <a:pPr marL="342900" indent="-342900">
              <a:spcAft>
                <a:spcPts val="600"/>
              </a:spcAft>
              <a:buSzPct val="100000"/>
              <a:buFontTx/>
              <a:buChar char="•"/>
              <a:defRPr sz="1800" b="0" i="0" u="none" strike="noStrike" kern="0" cap="none" spc="0" baseline="0">
                <a:solidFill>
                  <a:srgbClr val="000000"/>
                </a:solidFill>
                <a:uFillTx/>
              </a:defRPr>
            </a:pPr>
            <a:r>
              <a:rPr lang="en-CA" sz="1600" dirty="0"/>
              <a:t>False reassurance can make people less likely to notice symptoms or seek care.</a:t>
            </a:r>
          </a:p>
        </p:txBody>
      </p:sp>
      <p:pic>
        <p:nvPicPr>
          <p:cNvPr id="12" name="Picture 11" descr="A screenshot of a cell phone&#10;&#10;AI-generated content may be incorrect.">
            <a:extLst>
              <a:ext uri="{FF2B5EF4-FFF2-40B4-BE49-F238E27FC236}">
                <a16:creationId xmlns:a16="http://schemas.microsoft.com/office/drawing/2014/main" id="{04C771B4-518A-6AF7-96A5-2AC3425C4179}"/>
              </a:ext>
            </a:extLst>
          </p:cNvPr>
          <p:cNvPicPr>
            <a:picLocks noChangeAspect="1"/>
          </p:cNvPicPr>
          <p:nvPr/>
        </p:nvPicPr>
        <p:blipFill>
          <a:blip r:embed="rId3"/>
          <a:stretch>
            <a:fillRect/>
          </a:stretch>
        </p:blipFill>
        <p:spPr>
          <a:xfrm>
            <a:off x="5409923" y="1280160"/>
            <a:ext cx="3472842" cy="37815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46C652A-AD0A-E347-9EB1-0973CB999227}"/>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sp>
        <p:nvSpPr>
          <p:cNvPr id="3" name="Shape 1">
            <a:extLst>
              <a:ext uri="{FF2B5EF4-FFF2-40B4-BE49-F238E27FC236}">
                <a16:creationId xmlns:a16="http://schemas.microsoft.com/office/drawing/2014/main" id="{A2C30720-9EB0-A94D-ACB8-5244A30B99F0}"/>
              </a:ext>
            </a:extLst>
          </p:cNvPr>
          <p:cNvSpPr/>
          <p:nvPr/>
        </p:nvSpPr>
        <p:spPr>
          <a:xfrm>
            <a:off x="411480" y="256032"/>
            <a:ext cx="34747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F2683"/>
          </a:solidFill>
          <a:ln w="12701" cap="flat">
            <a:solidFill>
              <a:srgbClr val="4F2683"/>
            </a:solidFill>
            <a:prstDash val="solid"/>
            <a:miter/>
          </a:ln>
        </p:spPr>
        <p:txBody>
          <a:bodyPr lIns="0" tIns="0" rIns="0" bIns="0"/>
          <a:lstStyle/>
          <a:p>
            <a:endParaRPr lang="en-US"/>
          </a:p>
        </p:txBody>
      </p:sp>
      <p:sp>
        <p:nvSpPr>
          <p:cNvPr id="4" name="Text 2">
            <a:extLst>
              <a:ext uri="{FF2B5EF4-FFF2-40B4-BE49-F238E27FC236}">
                <a16:creationId xmlns:a16="http://schemas.microsoft.com/office/drawing/2014/main" id="{3F6E8D55-14E8-0A48-BDD6-2BE232B9E3CE}"/>
              </a:ext>
            </a:extLst>
          </p:cNvPr>
          <p:cNvSpPr/>
          <p:nvPr/>
        </p:nvSpPr>
        <p:spPr>
          <a:xfrm>
            <a:off x="411480" y="256032"/>
            <a:ext cx="347472" cy="347472"/>
          </a:xfrm>
          <a:prstGeom prst="rect">
            <a:avLst/>
          </a:prstGeom>
          <a:noFill/>
          <a:ln cap="flat">
            <a:noFill/>
            <a:prstDash val="solid"/>
          </a:ln>
        </p:spPr>
        <p:txBody>
          <a:bodyPr vert="horz" wrap="square" lIns="0" tIns="0" rIns="0" bIns="0" anchor="ctr" anchorCtr="1" compatLnSpc="1">
            <a:norm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libri" pitchFamily="34"/>
                <a:ea typeface="Calibri" pitchFamily="34"/>
                <a:cs typeface="Calibri" pitchFamily="34"/>
              </a:rPr>
              <a:t>2</a:t>
            </a:r>
            <a:endParaRPr lang="en-US" sz="12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50DE043A-094F-024A-961F-1939C0CA6455}"/>
              </a:ext>
            </a:extLst>
          </p:cNvPr>
          <p:cNvSpPr/>
          <p:nvPr/>
        </p:nvSpPr>
        <p:spPr>
          <a:xfrm>
            <a:off x="841248" y="265176"/>
            <a:ext cx="4572000" cy="301752"/>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200" baseline="0">
                <a:solidFill>
                  <a:srgbClr val="6B3FA0"/>
                </a:solidFill>
                <a:uFillTx/>
                <a:latin typeface="Calibri" pitchFamily="34"/>
                <a:ea typeface="Calibri" pitchFamily="34"/>
                <a:cs typeface="Calibri" pitchFamily="34"/>
              </a:rPr>
              <a:t>OBJECTIVES / CAPSTONE AIM</a:t>
            </a:r>
            <a:endParaRPr lang="en-US" sz="90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0E9E23C8-CABE-5F43-849D-F4487B902DD6}"/>
              </a:ext>
            </a:extLst>
          </p:cNvPr>
          <p:cNvSpPr/>
          <p:nvPr/>
        </p:nvSpPr>
        <p:spPr>
          <a:xfrm>
            <a:off x="411480" y="658368"/>
            <a:ext cx="8366760" cy="530352"/>
          </a:xfrm>
          <a:prstGeom prst="rect">
            <a:avLst/>
          </a:prstGeom>
          <a:noFill/>
          <a:ln cap="flat">
            <a:noFill/>
            <a:prstDash val="solid"/>
          </a:ln>
        </p:spPr>
        <p:txBody>
          <a:bodyPr vert="horz" wrap="square" lIns="0" tIns="0" rIns="0" bIns="0" anchor="b"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dirty="0">
                <a:solidFill>
                  <a:srgbClr val="4F2683"/>
                </a:solidFill>
                <a:uFillTx/>
                <a:latin typeface="Calibri" pitchFamily="34"/>
                <a:ea typeface="Calibri" pitchFamily="34"/>
                <a:cs typeface="Calibri" pitchFamily="34"/>
              </a:rPr>
              <a:t>Research Question &amp; Project Aim</a:t>
            </a:r>
            <a:endParaRPr lang="en-US" sz="2400" b="0" i="0" u="none" strike="noStrike" kern="1200" cap="none" spc="0" baseline="0" dirty="0">
              <a:solidFill>
                <a:srgbClr val="000000"/>
              </a:solidFill>
              <a:uFillTx/>
              <a:latin typeface="Calibri"/>
            </a:endParaRPr>
          </a:p>
        </p:txBody>
      </p:sp>
      <p:sp>
        <p:nvSpPr>
          <p:cNvPr id="7" name="Shape 5">
            <a:extLst>
              <a:ext uri="{FF2B5EF4-FFF2-40B4-BE49-F238E27FC236}">
                <a16:creationId xmlns:a16="http://schemas.microsoft.com/office/drawing/2014/main" id="{0FC3907F-09BC-0246-B0F9-2A69E9C0B8C3}"/>
              </a:ext>
            </a:extLst>
          </p:cNvPr>
          <p:cNvSpPr/>
          <p:nvPr/>
        </p:nvSpPr>
        <p:spPr>
          <a:xfrm>
            <a:off x="411480" y="1216152"/>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8" name="Text 6">
            <a:extLst>
              <a:ext uri="{FF2B5EF4-FFF2-40B4-BE49-F238E27FC236}">
                <a16:creationId xmlns:a16="http://schemas.microsoft.com/office/drawing/2014/main" id="{0D9CEC67-B098-7D4F-9BA6-86DBC1D62CCE}"/>
              </a:ext>
            </a:extLst>
          </p:cNvPr>
          <p:cNvSpPr/>
          <p:nvPr/>
        </p:nvSpPr>
        <p:spPr>
          <a:xfrm>
            <a:off x="502920" y="1325880"/>
            <a:ext cx="8138160" cy="3291840"/>
          </a:xfrm>
          <a:prstGeom prst="rect">
            <a:avLst/>
          </a:prstGeom>
          <a:noFill/>
          <a:ln cap="flat">
            <a:noFill/>
            <a:prstDash val="solid"/>
          </a:ln>
        </p:spPr>
        <p:txBody>
          <a:bodyPr vert="horz" wrap="square" lIns="0" tIns="0" rIns="0" bIns="0" anchor="t" anchorCtr="0" compatLnSpc="1">
            <a:normAutofit/>
          </a:bodyPr>
          <a:lstStyle/>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Primary aim: identify knowledge mobilization gaps in how ovarian cancer detection is communicated when no population-based screening exists.</a:t>
            </a:r>
            <a:endParaRPr lang="en-US" sz="1600" b="0" i="0" u="none" strike="noStrike" kern="1200" cap="none" spc="0" baseline="0" dirty="0">
              <a:solidFill>
                <a:srgbClr val="000000"/>
              </a:solidFill>
              <a:uFillTx/>
              <a:latin typeface="Calibri"/>
            </a:endParaRPr>
          </a:p>
          <a:p>
            <a:pPr marL="342900" lvl="0" indent="-342900">
              <a:spcAft>
                <a:spcPts val="600"/>
              </a:spcAft>
              <a:buSzPct val="100000"/>
              <a:buChar char="•"/>
              <a:defRPr sz="1800" b="0" i="0" u="none" strike="noStrike" kern="0" cap="none" spc="0" baseline="0">
                <a:solidFill>
                  <a:srgbClr val="000000"/>
                </a:solidFill>
                <a:uFillTx/>
              </a:defRPr>
            </a:pPr>
            <a:r>
              <a:rPr lang="en-US" sz="1600" dirty="0">
                <a:solidFill>
                  <a:srgbClr val="2D2D2D"/>
                </a:solidFill>
                <a:latin typeface="Calibri" pitchFamily="34"/>
                <a:ea typeface="Calibri" pitchFamily="34"/>
                <a:cs typeface="Calibri" pitchFamily="34"/>
              </a:rPr>
              <a:t>Research question: </a:t>
            </a:r>
            <a:r>
              <a:rPr lang="en-US" sz="1600" b="1" dirty="0">
                <a:solidFill>
                  <a:srgbClr val="2D2D2D"/>
                </a:solidFill>
                <a:latin typeface="Calibri" pitchFamily="34"/>
                <a:ea typeface="Calibri" pitchFamily="34"/>
                <a:cs typeface="Calibri" pitchFamily="34"/>
              </a:rPr>
              <a:t>What evidence and knowledge mobilization resources address the  communication of ovarian cancer detection in the absence of population-based screening?</a:t>
            </a:r>
            <a:endParaRPr lang="en-US" sz="1600" b="1" dirty="0">
              <a:solidFill>
                <a:srgbClr val="000000"/>
              </a:solidFill>
            </a:endParaRPr>
          </a:p>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Map how detection is communicated across public and clinical sources, then build tools that respond directly to where it is failing.</a:t>
            </a:r>
            <a:endParaRPr lang="en-US" sz="1600" b="0" i="0" u="none" strike="noStrike" kern="1200" cap="none" spc="0" baseline="0" dirty="0">
              <a:solidFill>
                <a:srgbClr val="000000"/>
              </a:solidFill>
              <a:uFillTx/>
              <a:latin typeface="Calibri"/>
            </a:endParaRPr>
          </a:p>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Women with early symptoms, primary care providers, and community organizations benefit from clearer, evidence-based communication.</a:t>
            </a:r>
            <a:endParaRPr lang="en-US" sz="1600" b="0" i="0" u="none" strike="noStrike" kern="1200" cap="none" spc="0" baseline="0" dirty="0">
              <a:solidFill>
                <a:srgbClr val="000000"/>
              </a:solidFill>
              <a:uFillTx/>
              <a:latin typeface="Calibri"/>
            </a:endParaRPr>
          </a:p>
        </p:txBody>
      </p:sp>
      <p:sp>
        <p:nvSpPr>
          <p:cNvPr id="9" name="Shape 7">
            <a:extLst>
              <a:ext uri="{FF2B5EF4-FFF2-40B4-BE49-F238E27FC236}">
                <a16:creationId xmlns:a16="http://schemas.microsoft.com/office/drawing/2014/main" id="{3991021D-7F80-D24E-B271-8319A7EC2392}"/>
              </a:ext>
            </a:extLst>
          </p:cNvPr>
          <p:cNvSpPr/>
          <p:nvPr/>
        </p:nvSpPr>
        <p:spPr>
          <a:xfrm>
            <a:off x="0" y="4892040"/>
            <a:ext cx="9144000" cy="7315"/>
          </a:xfrm>
          <a:prstGeom prst="rect">
            <a:avLst/>
          </a:prstGeom>
          <a:solidFill>
            <a:srgbClr val="D6C8EC"/>
          </a:solidFill>
          <a:ln w="12701" cap="flat">
            <a:solidFill>
              <a:srgbClr val="D6C8EC"/>
            </a:solidFill>
            <a:prstDash val="solid"/>
            <a:miter/>
          </a:ln>
        </p:spPr>
        <p:txBody>
          <a:bodyPr lIns="0" tIns="0" rIns="0" bIns="0"/>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A4CFA13-0C66-A24F-BAC3-45268FBBA662}"/>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sp>
        <p:nvSpPr>
          <p:cNvPr id="3" name="Shape 1">
            <a:extLst>
              <a:ext uri="{FF2B5EF4-FFF2-40B4-BE49-F238E27FC236}">
                <a16:creationId xmlns:a16="http://schemas.microsoft.com/office/drawing/2014/main" id="{2912E806-D93C-7A44-B42E-7C5DB4C0FFE1}"/>
              </a:ext>
            </a:extLst>
          </p:cNvPr>
          <p:cNvSpPr/>
          <p:nvPr/>
        </p:nvSpPr>
        <p:spPr>
          <a:xfrm>
            <a:off x="411480" y="256032"/>
            <a:ext cx="34747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F2683"/>
          </a:solidFill>
          <a:ln w="12701" cap="flat">
            <a:solidFill>
              <a:srgbClr val="4F2683"/>
            </a:solidFill>
            <a:prstDash val="solid"/>
            <a:miter/>
          </a:ln>
        </p:spPr>
        <p:txBody>
          <a:bodyPr lIns="0" tIns="0" rIns="0" bIns="0"/>
          <a:lstStyle/>
          <a:p>
            <a:endParaRPr lang="en-US"/>
          </a:p>
        </p:txBody>
      </p:sp>
      <p:sp>
        <p:nvSpPr>
          <p:cNvPr id="4" name="Text 2">
            <a:extLst>
              <a:ext uri="{FF2B5EF4-FFF2-40B4-BE49-F238E27FC236}">
                <a16:creationId xmlns:a16="http://schemas.microsoft.com/office/drawing/2014/main" id="{183D0E66-AEC7-9E46-869A-C35F52014348}"/>
              </a:ext>
            </a:extLst>
          </p:cNvPr>
          <p:cNvSpPr/>
          <p:nvPr/>
        </p:nvSpPr>
        <p:spPr>
          <a:xfrm>
            <a:off x="411480" y="256032"/>
            <a:ext cx="347472" cy="347472"/>
          </a:xfrm>
          <a:prstGeom prst="rect">
            <a:avLst/>
          </a:prstGeom>
          <a:noFill/>
          <a:ln cap="flat">
            <a:noFill/>
            <a:prstDash val="solid"/>
          </a:ln>
        </p:spPr>
        <p:txBody>
          <a:bodyPr vert="horz" wrap="square" lIns="0" tIns="0" rIns="0" bIns="0" anchor="ctr" anchorCtr="1" compatLnSpc="1">
            <a:norm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libri" pitchFamily="34"/>
                <a:ea typeface="Calibri" pitchFamily="34"/>
                <a:cs typeface="Calibri" pitchFamily="34"/>
              </a:rPr>
              <a:t>3</a:t>
            </a:r>
            <a:endParaRPr lang="en-US" sz="12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86A77572-B673-B345-B9E1-69FD1CFDCD3A}"/>
              </a:ext>
            </a:extLst>
          </p:cNvPr>
          <p:cNvSpPr/>
          <p:nvPr/>
        </p:nvSpPr>
        <p:spPr>
          <a:xfrm>
            <a:off x="841248" y="265176"/>
            <a:ext cx="4572000" cy="301752"/>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200" baseline="0">
                <a:solidFill>
                  <a:srgbClr val="6B3FA0"/>
                </a:solidFill>
                <a:uFillTx/>
                <a:latin typeface="Calibri" pitchFamily="34"/>
                <a:ea typeface="Calibri" pitchFamily="34"/>
                <a:cs typeface="Calibri" pitchFamily="34"/>
              </a:rPr>
              <a:t>METHODS</a:t>
            </a:r>
            <a:endParaRPr lang="en-US" sz="90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52641BDA-C5B9-1F4F-9253-236AEC59ED7E}"/>
              </a:ext>
            </a:extLst>
          </p:cNvPr>
          <p:cNvSpPr/>
          <p:nvPr/>
        </p:nvSpPr>
        <p:spPr>
          <a:xfrm>
            <a:off x="411480" y="658368"/>
            <a:ext cx="8366760" cy="530352"/>
          </a:xfrm>
          <a:prstGeom prst="rect">
            <a:avLst/>
          </a:prstGeom>
          <a:noFill/>
          <a:ln cap="flat">
            <a:noFill/>
            <a:prstDash val="solid"/>
          </a:ln>
        </p:spPr>
        <p:txBody>
          <a:bodyPr vert="horz" wrap="square" lIns="0" tIns="0" rIns="0" bIns="0" anchor="b"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4F2683"/>
                </a:solidFill>
                <a:uFillTx/>
                <a:latin typeface="Calibri" pitchFamily="34"/>
                <a:ea typeface="Calibri" pitchFamily="34"/>
                <a:cs typeface="Calibri" pitchFamily="34"/>
              </a:rPr>
              <a:t>How This Project Was Conducted</a:t>
            </a:r>
            <a:endParaRPr lang="en-US" sz="2400" b="0" i="0" u="none" strike="noStrike" kern="1200" cap="none" spc="0" baseline="0">
              <a:solidFill>
                <a:srgbClr val="000000"/>
              </a:solidFill>
              <a:uFillTx/>
              <a:latin typeface="Calibri"/>
            </a:endParaRPr>
          </a:p>
        </p:txBody>
      </p:sp>
      <p:sp>
        <p:nvSpPr>
          <p:cNvPr id="7" name="Shape 5">
            <a:extLst>
              <a:ext uri="{FF2B5EF4-FFF2-40B4-BE49-F238E27FC236}">
                <a16:creationId xmlns:a16="http://schemas.microsoft.com/office/drawing/2014/main" id="{A41DE0E3-31CC-DA42-AFFB-E4A990D22CF1}"/>
              </a:ext>
            </a:extLst>
          </p:cNvPr>
          <p:cNvSpPr/>
          <p:nvPr/>
        </p:nvSpPr>
        <p:spPr>
          <a:xfrm>
            <a:off x="411480" y="1216152"/>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pic>
        <p:nvPicPr>
          <p:cNvPr id="11" name="Picture 10" descr="A screenshot of a computer&#10;&#10;AI-generated content may be incorrect.">
            <a:extLst>
              <a:ext uri="{FF2B5EF4-FFF2-40B4-BE49-F238E27FC236}">
                <a16:creationId xmlns:a16="http://schemas.microsoft.com/office/drawing/2014/main" id="{E2E71BD3-321A-1FA8-5EFA-2A9CB0AFD9CE}"/>
              </a:ext>
            </a:extLst>
          </p:cNvPr>
          <p:cNvPicPr>
            <a:picLocks noChangeAspect="1"/>
          </p:cNvPicPr>
          <p:nvPr/>
        </p:nvPicPr>
        <p:blipFill>
          <a:blip r:embed="rId3"/>
          <a:stretch>
            <a:fillRect/>
          </a:stretch>
        </p:blipFill>
        <p:spPr>
          <a:xfrm>
            <a:off x="411480" y="1379885"/>
            <a:ext cx="8477623" cy="37636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3F5EBAD-FAB1-AE44-A76C-224B777087F0}"/>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sp>
        <p:nvSpPr>
          <p:cNvPr id="3" name="Shape 1">
            <a:extLst>
              <a:ext uri="{FF2B5EF4-FFF2-40B4-BE49-F238E27FC236}">
                <a16:creationId xmlns:a16="http://schemas.microsoft.com/office/drawing/2014/main" id="{85A7CF1A-4966-9B45-9FA8-F6338E9A94AB}"/>
              </a:ext>
            </a:extLst>
          </p:cNvPr>
          <p:cNvSpPr/>
          <p:nvPr/>
        </p:nvSpPr>
        <p:spPr>
          <a:xfrm>
            <a:off x="411480" y="256032"/>
            <a:ext cx="34747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F2683"/>
          </a:solidFill>
          <a:ln w="12701" cap="flat">
            <a:solidFill>
              <a:srgbClr val="4F2683"/>
            </a:solidFill>
            <a:prstDash val="solid"/>
            <a:miter/>
          </a:ln>
        </p:spPr>
        <p:txBody>
          <a:bodyPr lIns="0" tIns="0" rIns="0" bIns="0"/>
          <a:lstStyle/>
          <a:p>
            <a:endParaRPr lang="en-US"/>
          </a:p>
        </p:txBody>
      </p:sp>
      <p:sp>
        <p:nvSpPr>
          <p:cNvPr id="4" name="Text 2">
            <a:extLst>
              <a:ext uri="{FF2B5EF4-FFF2-40B4-BE49-F238E27FC236}">
                <a16:creationId xmlns:a16="http://schemas.microsoft.com/office/drawing/2014/main" id="{0952D45C-7D7D-DE4C-865D-47CE99261FEE}"/>
              </a:ext>
            </a:extLst>
          </p:cNvPr>
          <p:cNvSpPr/>
          <p:nvPr/>
        </p:nvSpPr>
        <p:spPr>
          <a:xfrm>
            <a:off x="411480" y="256032"/>
            <a:ext cx="347472" cy="347472"/>
          </a:xfrm>
          <a:prstGeom prst="rect">
            <a:avLst/>
          </a:prstGeom>
          <a:noFill/>
          <a:ln cap="flat">
            <a:noFill/>
            <a:prstDash val="solid"/>
          </a:ln>
        </p:spPr>
        <p:txBody>
          <a:bodyPr vert="horz" wrap="square" lIns="0" tIns="0" rIns="0" bIns="0" anchor="ctr" anchorCtr="1" compatLnSpc="1">
            <a:norm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libri" pitchFamily="34"/>
                <a:ea typeface="Calibri" pitchFamily="34"/>
                <a:cs typeface="Calibri" pitchFamily="34"/>
              </a:rPr>
              <a:t>4</a:t>
            </a:r>
            <a:endParaRPr lang="en-US" sz="12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179A3FE9-E490-2146-BD26-FE623E1AF113}"/>
              </a:ext>
            </a:extLst>
          </p:cNvPr>
          <p:cNvSpPr/>
          <p:nvPr/>
        </p:nvSpPr>
        <p:spPr>
          <a:xfrm>
            <a:off x="841248" y="265176"/>
            <a:ext cx="4572000" cy="301752"/>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200" baseline="0">
                <a:solidFill>
                  <a:srgbClr val="6B3FA0"/>
                </a:solidFill>
                <a:uFillTx/>
                <a:latin typeface="Calibri" pitchFamily="34"/>
                <a:ea typeface="Calibri" pitchFamily="34"/>
                <a:cs typeface="Calibri" pitchFamily="34"/>
              </a:rPr>
              <a:t>RESULTS</a:t>
            </a:r>
            <a:endParaRPr lang="en-US" sz="90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68A6A079-BA44-324D-B954-EFE05B716AF6}"/>
              </a:ext>
            </a:extLst>
          </p:cNvPr>
          <p:cNvSpPr/>
          <p:nvPr/>
        </p:nvSpPr>
        <p:spPr>
          <a:xfrm>
            <a:off x="411480" y="658368"/>
            <a:ext cx="8366760" cy="530352"/>
          </a:xfrm>
          <a:prstGeom prst="rect">
            <a:avLst/>
          </a:prstGeom>
          <a:noFill/>
          <a:ln cap="flat">
            <a:noFill/>
            <a:prstDash val="solid"/>
          </a:ln>
        </p:spPr>
        <p:txBody>
          <a:bodyPr vert="horz" wrap="square" lIns="0" tIns="0" rIns="0" bIns="0" anchor="b"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4F2683"/>
                </a:solidFill>
                <a:uFillTx/>
                <a:latin typeface="Calibri" pitchFamily="34"/>
                <a:ea typeface="Calibri" pitchFamily="34"/>
                <a:cs typeface="Calibri" pitchFamily="34"/>
              </a:rPr>
              <a:t>What the Evidence Tells Us</a:t>
            </a:r>
            <a:endParaRPr lang="en-US" sz="2400" b="0" i="0" u="none" strike="noStrike" kern="1200" cap="none" spc="0" baseline="0">
              <a:solidFill>
                <a:srgbClr val="000000"/>
              </a:solidFill>
              <a:uFillTx/>
              <a:latin typeface="Calibri"/>
            </a:endParaRPr>
          </a:p>
        </p:txBody>
      </p:sp>
      <p:sp>
        <p:nvSpPr>
          <p:cNvPr id="7" name="Shape 5">
            <a:extLst>
              <a:ext uri="{FF2B5EF4-FFF2-40B4-BE49-F238E27FC236}">
                <a16:creationId xmlns:a16="http://schemas.microsoft.com/office/drawing/2014/main" id="{B8931B7A-50F4-E44A-AFB1-E131D68D47BB}"/>
              </a:ext>
            </a:extLst>
          </p:cNvPr>
          <p:cNvSpPr/>
          <p:nvPr/>
        </p:nvSpPr>
        <p:spPr>
          <a:xfrm>
            <a:off x="411480" y="1216152"/>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8" name="Text 6">
            <a:extLst>
              <a:ext uri="{FF2B5EF4-FFF2-40B4-BE49-F238E27FC236}">
                <a16:creationId xmlns:a16="http://schemas.microsoft.com/office/drawing/2014/main" id="{F72E9436-6797-E042-BE60-05FF5C3281BA}"/>
              </a:ext>
            </a:extLst>
          </p:cNvPr>
          <p:cNvSpPr/>
          <p:nvPr/>
        </p:nvSpPr>
        <p:spPr>
          <a:xfrm>
            <a:off x="502920" y="1325880"/>
            <a:ext cx="8138160" cy="3291840"/>
          </a:xfrm>
          <a:prstGeom prst="rect">
            <a:avLst/>
          </a:prstGeom>
          <a:noFill/>
          <a:ln cap="flat">
            <a:noFill/>
            <a:prstDash val="solid"/>
          </a:ln>
        </p:spPr>
        <p:txBody>
          <a:bodyPr vert="horz" wrap="square" lIns="0" tIns="0" rIns="0" bIns="0" anchor="t" anchorCtr="0" compatLnSpc="1">
            <a:normAutofit/>
          </a:bodyPr>
          <a:lstStyle/>
          <a:p>
            <a:pPr marL="342900" indent="-342900">
              <a:spcAft>
                <a:spcPts val="600"/>
              </a:spcAft>
              <a:buSzPct val="100000"/>
              <a:buFontTx/>
              <a:buChar char="•"/>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The United Kingdom Collaborative Trial of Ovarian Cancer Screening (UKCTOCS) found that routine ovarian cancer screening did not reduce deaths after 16-year follow-up and caused harm through false positives.</a:t>
            </a:r>
          </a:p>
          <a:p>
            <a:pPr marL="342900" indent="-342900">
              <a:spcAft>
                <a:spcPts val="600"/>
              </a:spcAft>
              <a:buSzPct val="100000"/>
              <a:buFontTx/>
              <a:buChar char="•"/>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Public misunderstanding is widespread</a:t>
            </a:r>
            <a:r>
              <a:rPr lang="en-US" sz="1600" dirty="0">
                <a:solidFill>
                  <a:srgbClr val="2D2D2D"/>
                </a:solidFill>
                <a:latin typeface="Calibri" pitchFamily="34"/>
                <a:ea typeface="Calibri" pitchFamily="34"/>
                <a:cs typeface="Calibri" pitchFamily="34"/>
              </a:rPr>
              <a:t>.</a:t>
            </a:r>
          </a:p>
          <a:p>
            <a:pPr marL="342900" indent="-342900">
              <a:spcAft>
                <a:spcPts val="600"/>
              </a:spcAft>
              <a:buSzPct val="100000"/>
              <a:buFontTx/>
              <a:buChar char="•"/>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The gap extends to providers. Studies show family physicians and nurse practitioners also held incorrect beliefs about CA-125 and screening. </a:t>
            </a:r>
          </a:p>
          <a:p>
            <a:pPr marL="342900" indent="-342900">
              <a:spcAft>
                <a:spcPts val="600"/>
              </a:spcAft>
              <a:buSzPct val="100000"/>
              <a:buFontTx/>
              <a:buChar char="•"/>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Symptom normalization and delayed help-seeking show why communication must happen earlier.</a:t>
            </a:r>
            <a:endParaRPr lang="en-US" sz="1600" b="0" i="0" u="none" strike="noStrike" kern="1200" cap="none" spc="0" baseline="0" dirty="0">
              <a:solidFill>
                <a:srgbClr val="000000"/>
              </a:solidFill>
              <a:uFillTx/>
              <a:latin typeface="Calibri"/>
            </a:endParaRPr>
          </a:p>
        </p:txBody>
      </p:sp>
      <p:sp>
        <p:nvSpPr>
          <p:cNvPr id="9" name="Shape 7">
            <a:extLst>
              <a:ext uri="{FF2B5EF4-FFF2-40B4-BE49-F238E27FC236}">
                <a16:creationId xmlns:a16="http://schemas.microsoft.com/office/drawing/2014/main" id="{89B61F8B-BB88-0B4F-AA79-74870354941B}"/>
              </a:ext>
            </a:extLst>
          </p:cNvPr>
          <p:cNvSpPr/>
          <p:nvPr/>
        </p:nvSpPr>
        <p:spPr>
          <a:xfrm>
            <a:off x="0" y="4892040"/>
            <a:ext cx="9144000" cy="7315"/>
          </a:xfrm>
          <a:prstGeom prst="rect">
            <a:avLst/>
          </a:prstGeom>
          <a:solidFill>
            <a:srgbClr val="D6C8EC"/>
          </a:solidFill>
          <a:ln w="12701" cap="flat">
            <a:solidFill>
              <a:srgbClr val="D6C8EC"/>
            </a:solidFill>
            <a:prstDash val="solid"/>
            <a:miter/>
          </a:ln>
        </p:spPr>
        <p:txBody>
          <a:bodyPr lIns="0" tIns="0" rIns="0" bIns="0"/>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912EC7-F451-CC40-9E21-3DEA5469017E}"/>
              </a:ext>
            </a:extLst>
          </p:cNvPr>
          <p:cNvSpPr/>
          <p:nvPr/>
        </p:nvSpPr>
        <p:spPr>
          <a:xfrm>
            <a:off x="0" y="0"/>
            <a:ext cx="201168" cy="5143499"/>
          </a:xfrm>
          <a:prstGeom prst="rect">
            <a:avLst/>
          </a:prstGeom>
          <a:solidFill>
            <a:srgbClr val="4F2683"/>
          </a:solidFill>
          <a:ln w="12701" cap="flat">
            <a:solidFill>
              <a:srgbClr val="4F2683"/>
            </a:solidFill>
            <a:prstDash val="solid"/>
            <a:miter/>
          </a:ln>
        </p:spPr>
        <p:txBody>
          <a:bodyPr lIns="0" tIns="0" rIns="0" bIns="0"/>
          <a:lstStyle/>
          <a:p>
            <a:endParaRPr lang="en-US"/>
          </a:p>
        </p:txBody>
      </p:sp>
      <p:sp>
        <p:nvSpPr>
          <p:cNvPr id="3" name="Shape 1">
            <a:extLst>
              <a:ext uri="{FF2B5EF4-FFF2-40B4-BE49-F238E27FC236}">
                <a16:creationId xmlns:a16="http://schemas.microsoft.com/office/drawing/2014/main" id="{6269BC7E-DA5C-4541-A0D6-6660876B96BB}"/>
              </a:ext>
            </a:extLst>
          </p:cNvPr>
          <p:cNvSpPr/>
          <p:nvPr/>
        </p:nvSpPr>
        <p:spPr>
          <a:xfrm>
            <a:off x="411480" y="256032"/>
            <a:ext cx="34747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F2683"/>
          </a:solidFill>
          <a:ln w="12701" cap="flat">
            <a:solidFill>
              <a:srgbClr val="4F2683"/>
            </a:solidFill>
            <a:prstDash val="solid"/>
            <a:miter/>
          </a:ln>
        </p:spPr>
        <p:txBody>
          <a:bodyPr lIns="0" tIns="0" rIns="0" bIns="0"/>
          <a:lstStyle/>
          <a:p>
            <a:endParaRPr lang="en-US"/>
          </a:p>
        </p:txBody>
      </p:sp>
      <p:sp>
        <p:nvSpPr>
          <p:cNvPr id="4" name="Text 2">
            <a:extLst>
              <a:ext uri="{FF2B5EF4-FFF2-40B4-BE49-F238E27FC236}">
                <a16:creationId xmlns:a16="http://schemas.microsoft.com/office/drawing/2014/main" id="{CBB50FF2-A678-F241-B35F-03D8E6ACA6CD}"/>
              </a:ext>
            </a:extLst>
          </p:cNvPr>
          <p:cNvSpPr/>
          <p:nvPr/>
        </p:nvSpPr>
        <p:spPr>
          <a:xfrm>
            <a:off x="411480" y="256032"/>
            <a:ext cx="347472" cy="347472"/>
          </a:xfrm>
          <a:prstGeom prst="rect">
            <a:avLst/>
          </a:prstGeom>
          <a:noFill/>
          <a:ln cap="flat">
            <a:noFill/>
            <a:prstDash val="solid"/>
          </a:ln>
        </p:spPr>
        <p:txBody>
          <a:bodyPr vert="horz" wrap="square" lIns="0" tIns="0" rIns="0" bIns="0" anchor="ctr" anchorCtr="1" compatLnSpc="1">
            <a:norm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libri" pitchFamily="34"/>
                <a:ea typeface="Calibri" pitchFamily="34"/>
                <a:cs typeface="Calibri" pitchFamily="34"/>
              </a:rPr>
              <a:t>5</a:t>
            </a:r>
            <a:endParaRPr lang="en-US" sz="12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8A49AA10-27E7-744A-A06E-D16D74D49C13}"/>
              </a:ext>
            </a:extLst>
          </p:cNvPr>
          <p:cNvSpPr/>
          <p:nvPr/>
        </p:nvSpPr>
        <p:spPr>
          <a:xfrm>
            <a:off x="841248" y="265176"/>
            <a:ext cx="4572000" cy="301752"/>
          </a:xfrm>
          <a:prstGeom prst="rect">
            <a:avLst/>
          </a:prstGeom>
          <a:noFill/>
          <a:ln cap="flat">
            <a:noFill/>
            <a:prstDash val="solid"/>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200" baseline="0">
                <a:solidFill>
                  <a:srgbClr val="6B3FA0"/>
                </a:solidFill>
                <a:uFillTx/>
                <a:latin typeface="Calibri" pitchFamily="34"/>
                <a:ea typeface="Calibri" pitchFamily="34"/>
                <a:cs typeface="Calibri" pitchFamily="34"/>
              </a:rPr>
              <a:t>CONCLUSION / IMPACT</a:t>
            </a:r>
            <a:endParaRPr lang="en-US" sz="90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7945BF20-4D31-C643-91BD-240616D90A24}"/>
              </a:ext>
            </a:extLst>
          </p:cNvPr>
          <p:cNvSpPr/>
          <p:nvPr/>
        </p:nvSpPr>
        <p:spPr>
          <a:xfrm>
            <a:off x="411480" y="658368"/>
            <a:ext cx="8366760" cy="530352"/>
          </a:xfrm>
          <a:prstGeom prst="rect">
            <a:avLst/>
          </a:prstGeom>
          <a:noFill/>
          <a:ln cap="flat">
            <a:noFill/>
            <a:prstDash val="solid"/>
          </a:ln>
        </p:spPr>
        <p:txBody>
          <a:bodyPr vert="horz" wrap="square" lIns="0" tIns="0" rIns="0" bIns="0" anchor="b"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4F2683"/>
                </a:solidFill>
                <a:uFillTx/>
                <a:latin typeface="Calibri" pitchFamily="34"/>
                <a:ea typeface="Calibri" pitchFamily="34"/>
                <a:cs typeface="Calibri" pitchFamily="34"/>
              </a:rPr>
              <a:t>What This Means and What Comes Next</a:t>
            </a:r>
            <a:endParaRPr lang="en-US" sz="2400" b="0" i="0" u="none" strike="noStrike" kern="1200" cap="none" spc="0" baseline="0">
              <a:solidFill>
                <a:srgbClr val="000000"/>
              </a:solidFill>
              <a:uFillTx/>
              <a:latin typeface="Calibri"/>
            </a:endParaRPr>
          </a:p>
        </p:txBody>
      </p:sp>
      <p:sp>
        <p:nvSpPr>
          <p:cNvPr id="7" name="Shape 5">
            <a:extLst>
              <a:ext uri="{FF2B5EF4-FFF2-40B4-BE49-F238E27FC236}">
                <a16:creationId xmlns:a16="http://schemas.microsoft.com/office/drawing/2014/main" id="{B389D1C0-7117-3240-B39F-2B842C5DD19F}"/>
              </a:ext>
            </a:extLst>
          </p:cNvPr>
          <p:cNvSpPr/>
          <p:nvPr/>
        </p:nvSpPr>
        <p:spPr>
          <a:xfrm>
            <a:off x="411480" y="1216152"/>
            <a:ext cx="8366760" cy="6400"/>
          </a:xfrm>
          <a:prstGeom prst="rect">
            <a:avLst/>
          </a:prstGeom>
          <a:solidFill>
            <a:srgbClr val="D6C8EC"/>
          </a:solidFill>
          <a:ln w="12701" cap="flat">
            <a:solidFill>
              <a:srgbClr val="D6C8EC"/>
            </a:solidFill>
            <a:prstDash val="solid"/>
            <a:miter/>
          </a:ln>
        </p:spPr>
        <p:txBody>
          <a:bodyPr lIns="0" tIns="0" rIns="0" bIns="0"/>
          <a:lstStyle/>
          <a:p>
            <a:endParaRPr lang="en-US"/>
          </a:p>
        </p:txBody>
      </p:sp>
      <p:sp>
        <p:nvSpPr>
          <p:cNvPr id="8" name="Text 6">
            <a:extLst>
              <a:ext uri="{FF2B5EF4-FFF2-40B4-BE49-F238E27FC236}">
                <a16:creationId xmlns:a16="http://schemas.microsoft.com/office/drawing/2014/main" id="{01A6E816-35F0-3048-A1B5-2BD8519CBD7D}"/>
              </a:ext>
            </a:extLst>
          </p:cNvPr>
          <p:cNvSpPr/>
          <p:nvPr/>
        </p:nvSpPr>
        <p:spPr>
          <a:xfrm>
            <a:off x="502919" y="1325880"/>
            <a:ext cx="8366759" cy="3291840"/>
          </a:xfrm>
          <a:prstGeom prst="rect">
            <a:avLst/>
          </a:prstGeom>
          <a:noFill/>
          <a:ln cap="flat">
            <a:noFill/>
            <a:prstDash val="solid"/>
          </a:ln>
        </p:spPr>
        <p:txBody>
          <a:bodyPr vert="horz" wrap="square" lIns="0" tIns="0" rIns="0" bIns="0" anchor="t" anchorCtr="0" compatLnSpc="1">
            <a:normAutofit/>
          </a:bodyPr>
          <a:lstStyle/>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The key opportunity is earlier than oncology: symptom recognition, care-seeking, and provider communication.</a:t>
            </a:r>
          </a:p>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The toolkit targets that earlier window: primary care, community health, and public-facing spaces, where communication can still change outcomes.</a:t>
            </a:r>
            <a:endParaRPr lang="en-US" sz="1600" b="0" i="0" u="none" strike="noStrike" kern="1200" cap="none" spc="0" baseline="0" dirty="0">
              <a:solidFill>
                <a:srgbClr val="000000"/>
              </a:solidFill>
              <a:uFillTx/>
              <a:latin typeface="Calibri"/>
            </a:endParaRPr>
          </a:p>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Each component answers a documented gap: </a:t>
            </a:r>
          </a:p>
          <a:p>
            <a:pPr marL="800100" lvl="1" indent="-342900">
              <a:spcAft>
                <a:spcPts val="600"/>
              </a:spcAft>
              <a:buSzPct val="100000"/>
              <a:buChar char="•"/>
              <a:defRPr sz="1800" b="0" i="0" u="none" strike="noStrike" kern="0" cap="none" spc="0" baseline="0">
                <a:solidFill>
                  <a:srgbClr val="000000"/>
                </a:solidFill>
                <a:uFillTx/>
              </a:defRPr>
            </a:pPr>
            <a:r>
              <a:rPr lang="en-US" sz="1600" dirty="0">
                <a:solidFill>
                  <a:srgbClr val="2D2D2D"/>
                </a:solidFill>
                <a:latin typeface="Calibri" pitchFamily="34"/>
                <a:ea typeface="Calibri" pitchFamily="34"/>
                <a:cs typeface="Calibri" pitchFamily="34"/>
              </a:rPr>
              <a:t>T</a:t>
            </a:r>
            <a:r>
              <a:rPr lang="en-US" sz="1600" b="0" i="0" u="none" strike="noStrike" kern="1200" cap="none" spc="0" baseline="0" dirty="0">
                <a:solidFill>
                  <a:srgbClr val="2D2D2D"/>
                </a:solidFill>
                <a:uFillTx/>
                <a:latin typeface="Calibri" pitchFamily="34"/>
                <a:ea typeface="Calibri" pitchFamily="34"/>
                <a:cs typeface="Calibri" pitchFamily="34"/>
              </a:rPr>
              <a:t>he Fact Sheet and Myth-Busting Page reduce false reassurance.</a:t>
            </a:r>
          </a:p>
          <a:p>
            <a:pPr marL="800100" lvl="1" indent="-342900">
              <a:spcAft>
                <a:spcPts val="600"/>
              </a:spcAft>
              <a:buSzPct val="100000"/>
              <a:buChar char="•"/>
              <a:defRPr sz="1800" b="0" i="0" u="none" strike="noStrike" kern="0" cap="none" spc="0" baseline="0">
                <a:solidFill>
                  <a:srgbClr val="000000"/>
                </a:solidFill>
                <a:uFillTx/>
              </a:defRPr>
            </a:pPr>
            <a:r>
              <a:rPr lang="en-US" sz="1600" dirty="0">
                <a:solidFill>
                  <a:srgbClr val="2D2D2D"/>
                </a:solidFill>
                <a:latin typeface="Calibri" pitchFamily="34"/>
                <a:ea typeface="Calibri" pitchFamily="34"/>
                <a:cs typeface="Calibri" pitchFamily="34"/>
              </a:rPr>
              <a:t>T</a:t>
            </a:r>
            <a:r>
              <a:rPr lang="en-US" sz="1600" b="0" i="0" u="none" strike="noStrike" kern="1200" cap="none" spc="0" baseline="0" dirty="0">
                <a:solidFill>
                  <a:srgbClr val="2D2D2D"/>
                </a:solidFill>
                <a:uFillTx/>
                <a:latin typeface="Calibri" pitchFamily="34"/>
                <a:ea typeface="Calibri" pitchFamily="34"/>
                <a:cs typeface="Calibri" pitchFamily="34"/>
              </a:rPr>
              <a:t>he Conversation Guide supports clear clinical messaging. </a:t>
            </a:r>
          </a:p>
          <a:p>
            <a:pPr marL="800100" lvl="1" indent="-342900">
              <a:spcAft>
                <a:spcPts val="600"/>
              </a:spcAft>
              <a:buSzPct val="100000"/>
              <a:buChar char="•"/>
              <a:defRPr sz="1800" b="0" i="0" u="none" strike="noStrike" kern="0" cap="none" spc="0" baseline="0">
                <a:solidFill>
                  <a:srgbClr val="000000"/>
                </a:solidFill>
                <a:uFillTx/>
              </a:defRPr>
            </a:pPr>
            <a:r>
              <a:rPr lang="en-US" sz="1600" dirty="0">
                <a:solidFill>
                  <a:srgbClr val="2D2D2D"/>
                </a:solidFill>
                <a:latin typeface="Calibri" pitchFamily="34"/>
                <a:ea typeface="Calibri" pitchFamily="34"/>
                <a:cs typeface="Calibri" pitchFamily="34"/>
              </a:rPr>
              <a:t>T</a:t>
            </a:r>
            <a:r>
              <a:rPr lang="en-US" sz="1600" b="0" i="0" u="none" strike="noStrike" kern="1200" cap="none" spc="0" baseline="0" dirty="0">
                <a:solidFill>
                  <a:srgbClr val="2D2D2D"/>
                </a:solidFill>
                <a:uFillTx/>
                <a:latin typeface="Calibri" pitchFamily="34"/>
                <a:ea typeface="Calibri" pitchFamily="34"/>
                <a:cs typeface="Calibri" pitchFamily="34"/>
              </a:rPr>
              <a:t>he Measurement Tool enables evaluation.</a:t>
            </a:r>
            <a:endParaRPr lang="en-US" sz="1600" b="0" i="0" u="none" strike="noStrike" kern="1200" cap="none" spc="0" baseline="0" dirty="0">
              <a:solidFill>
                <a:srgbClr val="000000"/>
              </a:solidFill>
              <a:uFillTx/>
              <a:latin typeface="Calibri"/>
            </a:endParaRPr>
          </a:p>
          <a:p>
            <a:pPr marL="342900" marR="0" lvl="0" indent="-342900" algn="l" defTabSz="914400" rtl="0" fontAlgn="auto" hangingPunct="1">
              <a:lnSpc>
                <a:spcPct val="100000"/>
              </a:lnSpc>
              <a:spcBef>
                <a:spcPts val="0"/>
              </a:spcBef>
              <a:spcAft>
                <a:spcPts val="600"/>
              </a:spcAft>
              <a:buSzPct val="100000"/>
              <a:buChar char="•"/>
              <a:tabLst/>
              <a:defRPr sz="1800" b="0" i="0" u="none" strike="noStrike" kern="0" cap="none" spc="0" baseline="0">
                <a:solidFill>
                  <a:srgbClr val="000000"/>
                </a:solidFill>
                <a:uFillTx/>
              </a:defRPr>
            </a:pPr>
            <a:r>
              <a:rPr lang="en-US" sz="1600" b="0" i="0" u="none" strike="noStrike" kern="1200" cap="none" spc="0" baseline="0" dirty="0">
                <a:solidFill>
                  <a:srgbClr val="2D2D2D"/>
                </a:solidFill>
                <a:uFillTx/>
                <a:latin typeface="Calibri" pitchFamily="34"/>
                <a:ea typeface="Calibri" pitchFamily="34"/>
                <a:cs typeface="Calibri" pitchFamily="34"/>
              </a:rPr>
              <a:t>Next steps: pilot with patients and primary care providers, integrate into community settings, and study which approaches most reduce diagnostic delay.</a:t>
            </a:r>
          </a:p>
        </p:txBody>
      </p:sp>
      <p:sp>
        <p:nvSpPr>
          <p:cNvPr id="9" name="Shape 7">
            <a:extLst>
              <a:ext uri="{FF2B5EF4-FFF2-40B4-BE49-F238E27FC236}">
                <a16:creationId xmlns:a16="http://schemas.microsoft.com/office/drawing/2014/main" id="{89009068-F46C-C946-BC5E-D3AC098E4D6F}"/>
              </a:ext>
            </a:extLst>
          </p:cNvPr>
          <p:cNvSpPr/>
          <p:nvPr/>
        </p:nvSpPr>
        <p:spPr>
          <a:xfrm>
            <a:off x="0" y="4892040"/>
            <a:ext cx="9144000" cy="7315"/>
          </a:xfrm>
          <a:prstGeom prst="rect">
            <a:avLst/>
          </a:prstGeom>
          <a:solidFill>
            <a:srgbClr val="D6C8EC"/>
          </a:solidFill>
          <a:ln w="12701" cap="flat">
            <a:solidFill>
              <a:srgbClr val="D6C8EC"/>
            </a:solidFill>
            <a:prstDash val="solid"/>
            <a:miter/>
          </a:ln>
        </p:spPr>
        <p:txBody>
          <a:bodyPr lIns="0" tIns="0" rIns="0" bIns="0"/>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585</Words>
  <Application>Microsoft Macintosh PowerPoint</Application>
  <PresentationFormat>On-screen Show (16:9)</PresentationFormat>
  <Paragraphs>56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Thesis Conference — Presentation Template</dc:title>
  <dc:subject>PptxGenJS Presentation</dc:subject>
  <dc:creator>Western Health Sciences</dc:creator>
  <cp:lastModifiedBy>dana haidar</cp:lastModifiedBy>
  <cp:revision>56</cp:revision>
  <dcterms:created xsi:type="dcterms:W3CDTF">2026-04-29T18:29:28Z</dcterms:created>
  <dcterms:modified xsi:type="dcterms:W3CDTF">2026-06-17T16:51:14Z</dcterms:modified>
</cp:coreProperties>
</file>