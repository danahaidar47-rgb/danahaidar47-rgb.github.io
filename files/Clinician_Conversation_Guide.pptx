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560"/>
    <p:restoredTop sz="94610"/>
  </p:normalViewPr>
  <p:slideViewPr>
    <p:cSldViewPr snapToGrid="0" snapToObjects="1">
      <p:cViewPr varScale="1">
        <p:scale>
          <a:sx n="131" d="100"/>
          <a:sy n="131" d="100"/>
        </p:scale>
        <p:origin x="192"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504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D30"/>
        </a:solidFill>
        <a:effectLst/>
      </p:bgPr>
    </p:bg>
    <p:spTree>
      <p:nvGrpSpPr>
        <p:cNvPr id="1" name=""/>
        <p:cNvGrpSpPr/>
        <p:nvPr/>
      </p:nvGrpSpPr>
      <p:grpSpPr>
        <a:xfrm>
          <a:off x="0" y="0"/>
          <a:ext cx="0" cy="0"/>
          <a:chOff x="0" y="0"/>
          <a:chExt cx="0" cy="0"/>
        </a:xfrm>
      </p:grpSpPr>
      <p:sp>
        <p:nvSpPr>
          <p:cNvPr id="6" name="Text 4"/>
          <p:cNvSpPr/>
          <p:nvPr/>
        </p:nvSpPr>
        <p:spPr>
          <a:xfrm>
            <a:off x="548640" y="457200"/>
            <a:ext cx="7315200" cy="228600"/>
          </a:xfrm>
          <a:prstGeom prst="rect">
            <a:avLst/>
          </a:prstGeom>
          <a:noFill/>
          <a:ln/>
        </p:spPr>
        <p:txBody>
          <a:bodyPr wrap="square" lIns="0" tIns="0" rIns="0" bIns="0" rtlCol="0" anchor="ctr"/>
          <a:lstStyle/>
          <a:p>
            <a:pPr marL="0" indent="0" algn="l">
              <a:buNone/>
            </a:pPr>
            <a:r>
              <a:rPr lang="en-US" sz="850" b="1" kern="0" spc="200" dirty="0">
                <a:solidFill>
                  <a:srgbClr val="7BBFAA"/>
                </a:solidFill>
                <a:latin typeface="Calibri" pitchFamily="34" charset="0"/>
                <a:ea typeface="Calibri" pitchFamily="34" charset="-122"/>
                <a:cs typeface="Calibri" pitchFamily="34" charset="-120"/>
              </a:rPr>
              <a:t>KNOWLEDGE MOBILIZATION TOOLKIT  -  CLINICIAN RESOURCE</a:t>
            </a:r>
            <a:endParaRPr lang="en-US" sz="850" dirty="0"/>
          </a:p>
        </p:txBody>
      </p:sp>
      <p:sp>
        <p:nvSpPr>
          <p:cNvPr id="7" name="Text 5"/>
          <p:cNvSpPr/>
          <p:nvPr/>
        </p:nvSpPr>
        <p:spPr>
          <a:xfrm>
            <a:off x="548640" y="804672"/>
            <a:ext cx="7498080" cy="1600200"/>
          </a:xfrm>
          <a:prstGeom prst="rect">
            <a:avLst/>
          </a:prstGeom>
          <a:noFill/>
          <a:ln/>
        </p:spPr>
        <p:txBody>
          <a:bodyPr wrap="square" lIns="0" tIns="0" rIns="0" bIns="0" rtlCol="0" anchor="ctr"/>
          <a:lstStyle/>
          <a:p>
            <a:pPr marL="0" indent="0" algn="l">
              <a:buNone/>
            </a:pPr>
            <a:r>
              <a:rPr lang="en-US" sz="4000" b="1" dirty="0">
                <a:solidFill>
                  <a:srgbClr val="FFFFFF"/>
                </a:solidFill>
                <a:latin typeface="Georgia" pitchFamily="34" charset="0"/>
                <a:ea typeface="Georgia" pitchFamily="34" charset="-122"/>
                <a:cs typeface="Georgia" pitchFamily="34" charset="-120"/>
              </a:rPr>
              <a:t>Clinician Conversation</a:t>
            </a:r>
            <a:endParaRPr lang="en-US" sz="4000" dirty="0"/>
          </a:p>
          <a:p>
            <a:pPr marL="0" indent="0" algn="l">
              <a:buNone/>
            </a:pPr>
            <a:r>
              <a:rPr lang="en-US" sz="4000" b="1" dirty="0">
                <a:solidFill>
                  <a:srgbClr val="FFFFFF"/>
                </a:solidFill>
                <a:latin typeface="Georgia" pitchFamily="34" charset="0"/>
                <a:ea typeface="Georgia" pitchFamily="34" charset="-122"/>
                <a:cs typeface="Georgia" pitchFamily="34" charset="-120"/>
              </a:rPr>
              <a:t>Guide</a:t>
            </a:r>
            <a:endParaRPr lang="en-US" sz="4000" dirty="0"/>
          </a:p>
        </p:txBody>
      </p:sp>
      <p:sp>
        <p:nvSpPr>
          <p:cNvPr id="8" name="Text 6"/>
          <p:cNvSpPr/>
          <p:nvPr/>
        </p:nvSpPr>
        <p:spPr>
          <a:xfrm>
            <a:off x="548640" y="2514600"/>
            <a:ext cx="7498080" cy="594360"/>
          </a:xfrm>
          <a:prstGeom prst="rect">
            <a:avLst/>
          </a:prstGeom>
          <a:noFill/>
          <a:ln/>
        </p:spPr>
        <p:txBody>
          <a:bodyPr wrap="square" lIns="0" tIns="0" rIns="0" bIns="0" rtlCol="0" anchor="ctr"/>
          <a:lstStyle/>
          <a:p>
            <a:pPr marL="0" indent="0" algn="l">
              <a:buNone/>
            </a:pPr>
            <a:r>
              <a:rPr lang="en-US" sz="1300" dirty="0">
                <a:solidFill>
                  <a:srgbClr val="A8D9C8"/>
                </a:solidFill>
                <a:latin typeface="Calibri" pitchFamily="34" charset="0"/>
                <a:ea typeface="Calibri" pitchFamily="34" charset="-122"/>
                <a:cs typeface="Calibri" pitchFamily="34" charset="-120"/>
              </a:rPr>
              <a:t>Ovarian cancer detection in primary care: explaining screening absence, responding to patient concerns, and supporting timely investigation</a:t>
            </a:r>
            <a:endParaRPr lang="en-US" sz="1300" dirty="0"/>
          </a:p>
        </p:txBody>
      </p:sp>
      <p:sp>
        <p:nvSpPr>
          <p:cNvPr id="9" name="Shape 7"/>
          <p:cNvSpPr/>
          <p:nvPr/>
        </p:nvSpPr>
        <p:spPr>
          <a:xfrm>
            <a:off x="548640" y="3218688"/>
            <a:ext cx="1463040" cy="36576"/>
          </a:xfrm>
          <a:prstGeom prst="rect">
            <a:avLst/>
          </a:prstGeom>
          <a:solidFill>
            <a:srgbClr val="1D9E75"/>
          </a:solidFill>
          <a:ln w="12700">
            <a:solidFill>
              <a:srgbClr val="1D9E75"/>
            </a:solidFill>
            <a:prstDash val="solid"/>
          </a:ln>
        </p:spPr>
        <p:txBody>
          <a:bodyPr/>
          <a:lstStyle/>
          <a:p>
            <a:endParaRPr lang="en-US"/>
          </a:p>
        </p:txBody>
      </p:sp>
      <p:sp>
        <p:nvSpPr>
          <p:cNvPr id="10" name="Shape 8"/>
          <p:cNvSpPr/>
          <p:nvPr/>
        </p:nvSpPr>
        <p:spPr>
          <a:xfrm>
            <a:off x="548640" y="3419856"/>
            <a:ext cx="2697480" cy="365760"/>
          </a:xfrm>
          <a:prstGeom prst="rect">
            <a:avLst/>
          </a:prstGeom>
          <a:solidFill>
            <a:srgbClr val="0A5C46"/>
          </a:solidFill>
          <a:ln w="12700">
            <a:solidFill>
              <a:srgbClr val="0A5C46"/>
            </a:solidFill>
            <a:prstDash val="solid"/>
          </a:ln>
        </p:spPr>
        <p:txBody>
          <a:bodyPr/>
          <a:lstStyle/>
          <a:p>
            <a:endParaRPr lang="en-US"/>
          </a:p>
        </p:txBody>
      </p:sp>
      <p:sp>
        <p:nvSpPr>
          <p:cNvPr id="11" name="Text 9"/>
          <p:cNvSpPr/>
          <p:nvPr/>
        </p:nvSpPr>
        <p:spPr>
          <a:xfrm>
            <a:off x="548640" y="3419856"/>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1. Why no routine screening</a:t>
            </a:r>
            <a:endParaRPr lang="en-US" sz="1000" dirty="0"/>
          </a:p>
        </p:txBody>
      </p:sp>
      <p:sp>
        <p:nvSpPr>
          <p:cNvPr id="12" name="Shape 10"/>
          <p:cNvSpPr/>
          <p:nvPr/>
        </p:nvSpPr>
        <p:spPr>
          <a:xfrm>
            <a:off x="3401568" y="3419856"/>
            <a:ext cx="2697480" cy="365760"/>
          </a:xfrm>
          <a:prstGeom prst="rect">
            <a:avLst/>
          </a:prstGeom>
          <a:solidFill>
            <a:srgbClr val="0A5C46"/>
          </a:solidFill>
          <a:ln w="12700">
            <a:solidFill>
              <a:srgbClr val="0A5C46"/>
            </a:solidFill>
            <a:prstDash val="solid"/>
          </a:ln>
        </p:spPr>
        <p:txBody>
          <a:bodyPr/>
          <a:lstStyle/>
          <a:p>
            <a:endParaRPr lang="en-US"/>
          </a:p>
        </p:txBody>
      </p:sp>
      <p:sp>
        <p:nvSpPr>
          <p:cNvPr id="13" name="Text 11"/>
          <p:cNvSpPr/>
          <p:nvPr/>
        </p:nvSpPr>
        <p:spPr>
          <a:xfrm>
            <a:off x="3401568" y="3419856"/>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2. Explaining it to patients</a:t>
            </a:r>
            <a:endParaRPr lang="en-US" sz="1000" dirty="0"/>
          </a:p>
        </p:txBody>
      </p:sp>
      <p:sp>
        <p:nvSpPr>
          <p:cNvPr id="14" name="Shape 12"/>
          <p:cNvSpPr/>
          <p:nvPr/>
        </p:nvSpPr>
        <p:spPr>
          <a:xfrm>
            <a:off x="6254496" y="3419856"/>
            <a:ext cx="2697480" cy="365760"/>
          </a:xfrm>
          <a:prstGeom prst="rect">
            <a:avLst/>
          </a:prstGeom>
          <a:solidFill>
            <a:srgbClr val="0A5C46"/>
          </a:solidFill>
          <a:ln w="12700">
            <a:solidFill>
              <a:srgbClr val="0A5C46"/>
            </a:solidFill>
            <a:prstDash val="solid"/>
          </a:ln>
        </p:spPr>
        <p:txBody>
          <a:bodyPr/>
          <a:lstStyle/>
          <a:p>
            <a:endParaRPr lang="en-US"/>
          </a:p>
        </p:txBody>
      </p:sp>
      <p:sp>
        <p:nvSpPr>
          <p:cNvPr id="15" name="Text 13"/>
          <p:cNvSpPr/>
          <p:nvPr/>
        </p:nvSpPr>
        <p:spPr>
          <a:xfrm>
            <a:off x="6254496" y="3419856"/>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3. Responding to CA-125 requests</a:t>
            </a:r>
            <a:endParaRPr lang="en-US" sz="1000" dirty="0"/>
          </a:p>
        </p:txBody>
      </p:sp>
      <p:sp>
        <p:nvSpPr>
          <p:cNvPr id="16" name="Shape 14"/>
          <p:cNvSpPr/>
          <p:nvPr/>
        </p:nvSpPr>
        <p:spPr>
          <a:xfrm>
            <a:off x="548640" y="3895344"/>
            <a:ext cx="2697480" cy="365760"/>
          </a:xfrm>
          <a:prstGeom prst="rect">
            <a:avLst/>
          </a:prstGeom>
          <a:solidFill>
            <a:srgbClr val="0A5C46"/>
          </a:solidFill>
          <a:ln w="12700">
            <a:solidFill>
              <a:srgbClr val="0A5C46"/>
            </a:solidFill>
            <a:prstDash val="solid"/>
          </a:ln>
        </p:spPr>
        <p:txBody>
          <a:bodyPr/>
          <a:lstStyle/>
          <a:p>
            <a:endParaRPr lang="en-US"/>
          </a:p>
        </p:txBody>
      </p:sp>
      <p:sp>
        <p:nvSpPr>
          <p:cNvPr id="17" name="Text 15"/>
          <p:cNvSpPr/>
          <p:nvPr/>
        </p:nvSpPr>
        <p:spPr>
          <a:xfrm>
            <a:off x="548640" y="3895344"/>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4. Investigating symptoms</a:t>
            </a:r>
            <a:endParaRPr lang="en-US" sz="1000" dirty="0"/>
          </a:p>
        </p:txBody>
      </p:sp>
      <p:sp>
        <p:nvSpPr>
          <p:cNvPr id="18" name="Shape 16"/>
          <p:cNvSpPr/>
          <p:nvPr/>
        </p:nvSpPr>
        <p:spPr>
          <a:xfrm>
            <a:off x="3401568" y="3895344"/>
            <a:ext cx="2697480" cy="365760"/>
          </a:xfrm>
          <a:prstGeom prst="rect">
            <a:avLst/>
          </a:prstGeom>
          <a:solidFill>
            <a:srgbClr val="0A5C46"/>
          </a:solidFill>
          <a:ln w="12700">
            <a:solidFill>
              <a:srgbClr val="0A5C46"/>
            </a:solidFill>
            <a:prstDash val="solid"/>
          </a:ln>
        </p:spPr>
        <p:txBody>
          <a:bodyPr/>
          <a:lstStyle/>
          <a:p>
            <a:endParaRPr lang="en-US"/>
          </a:p>
        </p:txBody>
      </p:sp>
      <p:sp>
        <p:nvSpPr>
          <p:cNvPr id="19" name="Text 17"/>
          <p:cNvSpPr/>
          <p:nvPr/>
        </p:nvSpPr>
        <p:spPr>
          <a:xfrm>
            <a:off x="3401568" y="3895344"/>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5. Managing uncertainty</a:t>
            </a:r>
            <a:endParaRPr lang="en-US" sz="1000" dirty="0"/>
          </a:p>
        </p:txBody>
      </p:sp>
      <p:sp>
        <p:nvSpPr>
          <p:cNvPr id="20" name="Shape 18"/>
          <p:cNvSpPr/>
          <p:nvPr/>
        </p:nvSpPr>
        <p:spPr>
          <a:xfrm>
            <a:off x="6254496" y="3895344"/>
            <a:ext cx="2697480" cy="365760"/>
          </a:xfrm>
          <a:prstGeom prst="rect">
            <a:avLst/>
          </a:prstGeom>
          <a:solidFill>
            <a:srgbClr val="0A5C46"/>
          </a:solidFill>
          <a:ln w="12700">
            <a:solidFill>
              <a:srgbClr val="0A5C46"/>
            </a:solidFill>
            <a:prstDash val="solid"/>
          </a:ln>
        </p:spPr>
        <p:txBody>
          <a:bodyPr/>
          <a:lstStyle/>
          <a:p>
            <a:endParaRPr lang="en-US"/>
          </a:p>
        </p:txBody>
      </p:sp>
      <p:sp>
        <p:nvSpPr>
          <p:cNvPr id="21" name="Text 19"/>
          <p:cNvSpPr/>
          <p:nvPr/>
        </p:nvSpPr>
        <p:spPr>
          <a:xfrm>
            <a:off x="6254496" y="3895344"/>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6. Referral pathway</a:t>
            </a:r>
            <a:endParaRPr lang="en-US" sz="1000" dirty="0"/>
          </a:p>
        </p:txBody>
      </p:sp>
      <p:sp>
        <p:nvSpPr>
          <p:cNvPr id="22" name="Text 20"/>
          <p:cNvSpPr/>
          <p:nvPr/>
        </p:nvSpPr>
        <p:spPr>
          <a:xfrm>
            <a:off x="548640" y="4773168"/>
            <a:ext cx="8046720" cy="201168"/>
          </a:xfrm>
          <a:prstGeom prst="rect">
            <a:avLst/>
          </a:prstGeom>
          <a:noFill/>
          <a:ln/>
        </p:spPr>
        <p:txBody>
          <a:bodyPr wrap="square" lIns="0" tIns="0" rIns="0" bIns="0" rtlCol="0" anchor="ctr"/>
          <a:lstStyle/>
          <a:p>
            <a:r>
              <a:rPr lang="en-US" sz="800" dirty="0">
                <a:solidFill>
                  <a:srgbClr val="7BBFAA"/>
                </a:solidFill>
                <a:latin typeface="Calibri" pitchFamily="34" charset="0"/>
                <a:ea typeface="Calibri" pitchFamily="34" charset="-122"/>
                <a:cs typeface="Calibri" pitchFamily="34" charset="-120"/>
              </a:rPr>
              <a:t>For use by GPs, NPs, and family medicine residents. Aligned with American College of Obstetricians and Gynecologists (ACOG) Committee Opinion 716 and National Institute for Health and Care Excellence (NICE).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1  --  Why no routine screening exists: the evidence base for clinicians</a:t>
            </a:r>
            <a:endParaRPr lang="en-US" sz="800" dirty="0"/>
          </a:p>
        </p:txBody>
      </p:sp>
      <p:sp>
        <p:nvSpPr>
          <p:cNvPr id="3" name="Shape 1"/>
          <p:cNvSpPr/>
          <p:nvPr/>
        </p:nvSpPr>
        <p:spPr>
          <a:xfrm>
            <a:off x="0" y="0"/>
            <a:ext cx="9144000" cy="1298448"/>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28016"/>
            <a:ext cx="832104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1</a:t>
            </a:r>
            <a:endParaRPr lang="en-US" sz="800" dirty="0"/>
          </a:p>
        </p:txBody>
      </p:sp>
      <p:sp>
        <p:nvSpPr>
          <p:cNvPr id="5" name="Text 3"/>
          <p:cNvSpPr/>
          <p:nvPr/>
        </p:nvSpPr>
        <p:spPr>
          <a:xfrm>
            <a:off x="411480" y="365760"/>
            <a:ext cx="832104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Why no routine ovarian cancer screening exists</a:t>
            </a:r>
            <a:endParaRPr lang="en-US" sz="2600" dirty="0"/>
          </a:p>
        </p:txBody>
      </p:sp>
      <p:sp>
        <p:nvSpPr>
          <p:cNvPr id="6" name="Text 4"/>
          <p:cNvSpPr/>
          <p:nvPr/>
        </p:nvSpPr>
        <p:spPr>
          <a:xfrm>
            <a:off x="411480" y="1417320"/>
            <a:ext cx="8321040" cy="292608"/>
          </a:xfrm>
          <a:prstGeom prst="rect">
            <a:avLst/>
          </a:prstGeom>
          <a:noFill/>
          <a:ln/>
        </p:spPr>
        <p:txBody>
          <a:bodyPr wrap="square" lIns="0" tIns="0" rIns="0" bIns="0" rtlCol="0" anchor="ctr"/>
          <a:lstStyle/>
          <a:p>
            <a:pPr marL="0" indent="0" algn="l">
              <a:buNone/>
            </a:pPr>
            <a:r>
              <a:rPr lang="en-US" sz="1250" dirty="0">
                <a:solidFill>
                  <a:srgbClr val="4A6B60"/>
                </a:solidFill>
                <a:latin typeface="Calibri" pitchFamily="34" charset="0"/>
                <a:ea typeface="Calibri" pitchFamily="34" charset="-122"/>
                <a:cs typeface="Calibri" pitchFamily="34" charset="-120"/>
              </a:rPr>
              <a:t>Understanding the evidence base helps you explain it clearly and confidently to patients.</a:t>
            </a:r>
            <a:endParaRPr lang="en-US" sz="1250" dirty="0"/>
          </a:p>
        </p:txBody>
      </p:sp>
      <p:sp>
        <p:nvSpPr>
          <p:cNvPr id="7" name="Shape 5"/>
          <p:cNvSpPr/>
          <p:nvPr/>
        </p:nvSpPr>
        <p:spPr>
          <a:xfrm>
            <a:off x="411480" y="1810512"/>
            <a:ext cx="2697480" cy="1938528"/>
          </a:xfrm>
          <a:prstGeom prst="rect">
            <a:avLst/>
          </a:prstGeom>
          <a:solidFill>
            <a:srgbClr val="EBF7F2"/>
          </a:solidFill>
          <a:ln w="9525">
            <a:solidFill>
              <a:srgbClr val="C4E5D8"/>
            </a:solidFill>
            <a:prstDash val="solid"/>
          </a:ln>
        </p:spPr>
        <p:txBody>
          <a:bodyPr/>
          <a:lstStyle/>
          <a:p>
            <a:endParaRPr lang="en-US"/>
          </a:p>
        </p:txBody>
      </p:sp>
      <p:sp>
        <p:nvSpPr>
          <p:cNvPr id="8" name="Shape 6"/>
          <p:cNvSpPr/>
          <p:nvPr/>
        </p:nvSpPr>
        <p:spPr>
          <a:xfrm>
            <a:off x="411480" y="1810512"/>
            <a:ext cx="2697480" cy="329184"/>
          </a:xfrm>
          <a:prstGeom prst="rect">
            <a:avLst/>
          </a:prstGeom>
          <a:solidFill>
            <a:srgbClr val="0F6E56"/>
          </a:solidFill>
          <a:ln w="12700">
            <a:solidFill>
              <a:srgbClr val="0F6E56"/>
            </a:solidFill>
            <a:prstDash val="solid"/>
          </a:ln>
        </p:spPr>
        <p:txBody>
          <a:bodyPr/>
          <a:lstStyle/>
          <a:p>
            <a:endParaRPr lang="en-US"/>
          </a:p>
        </p:txBody>
      </p:sp>
      <p:sp>
        <p:nvSpPr>
          <p:cNvPr id="9" name="Text 7"/>
          <p:cNvSpPr/>
          <p:nvPr/>
        </p:nvSpPr>
        <p:spPr>
          <a:xfrm>
            <a:off x="539496" y="1865376"/>
            <a:ext cx="2496312" cy="237744"/>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UKCTOCS trial (Menon et al., 2023)</a:t>
            </a:r>
            <a:endParaRPr lang="en-US" sz="1050" dirty="0"/>
          </a:p>
        </p:txBody>
      </p:sp>
      <p:sp>
        <p:nvSpPr>
          <p:cNvPr id="10" name="Text 8"/>
          <p:cNvSpPr/>
          <p:nvPr/>
        </p:nvSpPr>
        <p:spPr>
          <a:xfrm>
            <a:off x="539496" y="2249424"/>
            <a:ext cx="2496312" cy="1371600"/>
          </a:xfrm>
          <a:prstGeom prst="rect">
            <a:avLst/>
          </a:prstGeom>
          <a:noFill/>
          <a:ln/>
        </p:spPr>
        <p:txBody>
          <a:bodyPr wrap="square" lIns="0" tIns="0" rIns="0" bIns="0" rtlCol="0" anchor="t"/>
          <a:lstStyle/>
          <a:p>
            <a:pPr marL="0" indent="0" algn="l">
              <a:buNone/>
            </a:pPr>
            <a:r>
              <a:rPr lang="en-US" sz="1100" dirty="0">
                <a:solidFill>
                  <a:srgbClr val="2E4A40"/>
                </a:solidFill>
                <a:latin typeface="Calibri" pitchFamily="34" charset="0"/>
                <a:ea typeface="Calibri" pitchFamily="34" charset="-122"/>
                <a:cs typeface="Calibri" pitchFamily="34" charset="-120"/>
              </a:rPr>
              <a:t>The largest ovarian cancer screening RCT to date, involving over 200,000 women showed that neither annual CA-125 monitoring nor transvaginal ultrasound screening reduced ovarian cancer mortality in average-risk, asymptomatic women over 16 years of follow-up.</a:t>
            </a:r>
            <a:endParaRPr lang="en-US" sz="1100" dirty="0"/>
          </a:p>
        </p:txBody>
      </p:sp>
      <p:sp>
        <p:nvSpPr>
          <p:cNvPr id="11" name="Shape 9"/>
          <p:cNvSpPr/>
          <p:nvPr/>
        </p:nvSpPr>
        <p:spPr>
          <a:xfrm>
            <a:off x="3264408" y="1810512"/>
            <a:ext cx="2697480" cy="1938528"/>
          </a:xfrm>
          <a:prstGeom prst="rect">
            <a:avLst/>
          </a:prstGeom>
          <a:solidFill>
            <a:srgbClr val="EBF7F2"/>
          </a:solidFill>
          <a:ln w="9525">
            <a:solidFill>
              <a:srgbClr val="C4E5D8"/>
            </a:solidFill>
            <a:prstDash val="solid"/>
          </a:ln>
        </p:spPr>
        <p:txBody>
          <a:bodyPr/>
          <a:lstStyle/>
          <a:p>
            <a:endParaRPr lang="en-US"/>
          </a:p>
        </p:txBody>
      </p:sp>
      <p:sp>
        <p:nvSpPr>
          <p:cNvPr id="12" name="Shape 10"/>
          <p:cNvSpPr/>
          <p:nvPr/>
        </p:nvSpPr>
        <p:spPr>
          <a:xfrm>
            <a:off x="3264408" y="1810512"/>
            <a:ext cx="2697480" cy="329184"/>
          </a:xfrm>
          <a:prstGeom prst="rect">
            <a:avLst/>
          </a:prstGeom>
          <a:solidFill>
            <a:srgbClr val="0F6E56"/>
          </a:solidFill>
          <a:ln w="12700">
            <a:solidFill>
              <a:srgbClr val="0F6E56"/>
            </a:solidFill>
            <a:prstDash val="solid"/>
          </a:ln>
        </p:spPr>
        <p:txBody>
          <a:bodyPr/>
          <a:lstStyle/>
          <a:p>
            <a:endParaRPr lang="en-US"/>
          </a:p>
        </p:txBody>
      </p:sp>
      <p:sp>
        <p:nvSpPr>
          <p:cNvPr id="13" name="Text 11"/>
          <p:cNvSpPr/>
          <p:nvPr/>
        </p:nvSpPr>
        <p:spPr>
          <a:xfrm>
            <a:off x="3392424" y="1865376"/>
            <a:ext cx="2496312" cy="237744"/>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Harms of false positives</a:t>
            </a:r>
            <a:endParaRPr lang="en-US" sz="1050" dirty="0"/>
          </a:p>
        </p:txBody>
      </p:sp>
      <p:sp>
        <p:nvSpPr>
          <p:cNvPr id="14" name="Text 12"/>
          <p:cNvSpPr/>
          <p:nvPr/>
        </p:nvSpPr>
        <p:spPr>
          <a:xfrm>
            <a:off x="3392424" y="2249424"/>
            <a:ext cx="2496312" cy="1371600"/>
          </a:xfrm>
          <a:prstGeom prst="rect">
            <a:avLst/>
          </a:prstGeom>
          <a:noFill/>
          <a:ln/>
        </p:spPr>
        <p:txBody>
          <a:bodyPr wrap="square" lIns="0" tIns="0" rIns="0" bIns="0" rtlCol="0" anchor="t"/>
          <a:lstStyle/>
          <a:p>
            <a:pPr marL="0" indent="0" algn="l">
              <a:buNone/>
            </a:pPr>
            <a:r>
              <a:rPr lang="en-US" sz="1100" dirty="0">
                <a:solidFill>
                  <a:srgbClr val="2E4A40"/>
                </a:solidFill>
                <a:latin typeface="Calibri" pitchFamily="34" charset="0"/>
                <a:ea typeface="Calibri" pitchFamily="34" charset="-122"/>
                <a:cs typeface="Calibri" pitchFamily="34" charset="-120"/>
              </a:rPr>
              <a:t>CA-125 and ultrasound screening generate false-positive results that can lead to unnecessary surgical intervention, procedural complications, and significant patient anxiety, without a corresponding mortality benefit in asymptomatic populations.</a:t>
            </a:r>
            <a:endParaRPr lang="en-US" sz="1100" dirty="0"/>
          </a:p>
        </p:txBody>
      </p:sp>
      <p:sp>
        <p:nvSpPr>
          <p:cNvPr id="15" name="Shape 13"/>
          <p:cNvSpPr/>
          <p:nvPr/>
        </p:nvSpPr>
        <p:spPr>
          <a:xfrm>
            <a:off x="6117336" y="1810512"/>
            <a:ext cx="2697480" cy="1938528"/>
          </a:xfrm>
          <a:prstGeom prst="rect">
            <a:avLst/>
          </a:prstGeom>
          <a:solidFill>
            <a:srgbClr val="EBF7F2"/>
          </a:solidFill>
          <a:ln w="9525">
            <a:solidFill>
              <a:srgbClr val="C4E5D8"/>
            </a:solidFill>
            <a:prstDash val="solid"/>
          </a:ln>
        </p:spPr>
        <p:txBody>
          <a:bodyPr/>
          <a:lstStyle/>
          <a:p>
            <a:endParaRPr lang="en-US"/>
          </a:p>
        </p:txBody>
      </p:sp>
      <p:sp>
        <p:nvSpPr>
          <p:cNvPr id="16" name="Shape 14"/>
          <p:cNvSpPr/>
          <p:nvPr/>
        </p:nvSpPr>
        <p:spPr>
          <a:xfrm>
            <a:off x="6117336" y="1810512"/>
            <a:ext cx="2697480" cy="329184"/>
          </a:xfrm>
          <a:prstGeom prst="rect">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6245352" y="1865376"/>
            <a:ext cx="2496312" cy="237744"/>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Guideline consensus</a:t>
            </a:r>
            <a:endParaRPr lang="en-US" sz="1050" dirty="0"/>
          </a:p>
        </p:txBody>
      </p:sp>
      <p:sp>
        <p:nvSpPr>
          <p:cNvPr id="18" name="Text 16"/>
          <p:cNvSpPr/>
          <p:nvPr/>
        </p:nvSpPr>
        <p:spPr>
          <a:xfrm>
            <a:off x="6245352" y="2249424"/>
            <a:ext cx="2496312" cy="1371600"/>
          </a:xfrm>
          <a:prstGeom prst="rect">
            <a:avLst/>
          </a:prstGeom>
          <a:noFill/>
          <a:ln/>
        </p:spPr>
        <p:txBody>
          <a:bodyPr wrap="square" lIns="0" tIns="0" rIns="0" bIns="0" rtlCol="0" anchor="t"/>
          <a:lstStyle/>
          <a:p>
            <a:pPr marL="0" indent="0" algn="l">
              <a:buNone/>
            </a:pPr>
            <a:r>
              <a:rPr lang="en-US" sz="1100" dirty="0">
                <a:solidFill>
                  <a:srgbClr val="2E4A40"/>
                </a:solidFill>
                <a:latin typeface="Calibri" pitchFamily="34" charset="0"/>
                <a:ea typeface="Calibri" pitchFamily="34" charset="-122"/>
                <a:cs typeface="Calibri" pitchFamily="34" charset="-120"/>
              </a:rPr>
              <a:t>ACOG, NICE, Cancer Care Ontario, and the Canadian Task Force on Preventive Health Care all recommend against routine ovarian cancer screening in average-risk asymptomatic women. This is not a gap: it reflects the weight of global evidence.</a:t>
            </a:r>
            <a:endParaRPr lang="en-US" sz="1100" dirty="0"/>
          </a:p>
        </p:txBody>
      </p:sp>
      <p:sp>
        <p:nvSpPr>
          <p:cNvPr id="19" name="Shape 17"/>
          <p:cNvSpPr/>
          <p:nvPr/>
        </p:nvSpPr>
        <p:spPr>
          <a:xfrm>
            <a:off x="411480" y="3858768"/>
            <a:ext cx="8321040" cy="566928"/>
          </a:xfrm>
          <a:prstGeom prst="rect">
            <a:avLst/>
          </a:prstGeom>
          <a:solidFill>
            <a:srgbClr val="E1F5EE"/>
          </a:solidFill>
          <a:ln w="12700">
            <a:solidFill>
              <a:srgbClr val="E1F5EE"/>
            </a:solidFill>
            <a:prstDash val="solid"/>
          </a:ln>
        </p:spPr>
        <p:txBody>
          <a:bodyPr/>
          <a:lstStyle/>
          <a:p>
            <a:endParaRPr lang="en-US"/>
          </a:p>
        </p:txBody>
      </p:sp>
      <p:sp>
        <p:nvSpPr>
          <p:cNvPr id="20" name="Shape 18"/>
          <p:cNvSpPr/>
          <p:nvPr/>
        </p:nvSpPr>
        <p:spPr>
          <a:xfrm>
            <a:off x="411480" y="3858768"/>
            <a:ext cx="64008" cy="566928"/>
          </a:xfrm>
          <a:prstGeom prst="rect">
            <a:avLst/>
          </a:prstGeom>
          <a:solidFill>
            <a:srgbClr val="1D9E75"/>
          </a:solidFill>
          <a:ln w="12700">
            <a:solidFill>
              <a:srgbClr val="1D9E75"/>
            </a:solidFill>
            <a:prstDash val="solid"/>
          </a:ln>
        </p:spPr>
        <p:txBody>
          <a:bodyPr/>
          <a:lstStyle/>
          <a:p>
            <a:endParaRPr lang="en-US"/>
          </a:p>
        </p:txBody>
      </p:sp>
      <p:sp>
        <p:nvSpPr>
          <p:cNvPr id="21" name="Text 19"/>
          <p:cNvSpPr/>
          <p:nvPr/>
        </p:nvSpPr>
        <p:spPr>
          <a:xfrm>
            <a:off x="548640" y="3931920"/>
            <a:ext cx="1645920" cy="219456"/>
          </a:xfrm>
          <a:prstGeom prst="rect">
            <a:avLst/>
          </a:prstGeom>
          <a:noFill/>
          <a:ln/>
        </p:spPr>
        <p:txBody>
          <a:bodyPr wrap="square" lIns="0" tIns="0" rIns="0" bIns="0" rtlCol="0" anchor="ctr"/>
          <a:lstStyle/>
          <a:p>
            <a:pPr marL="0" indent="0" algn="l">
              <a:buNone/>
            </a:pPr>
            <a:r>
              <a:rPr lang="en-US" sz="1200" b="1" dirty="0">
                <a:solidFill>
                  <a:srgbClr val="0A5C46"/>
                </a:solidFill>
                <a:latin typeface="Calibri" pitchFamily="34" charset="0"/>
                <a:ea typeface="Calibri" pitchFamily="34" charset="-122"/>
                <a:cs typeface="Calibri" pitchFamily="34" charset="-120"/>
              </a:rPr>
              <a:t>Key clinical distinction: </a:t>
            </a:r>
            <a:endParaRPr lang="en-US" sz="1200" dirty="0"/>
          </a:p>
        </p:txBody>
      </p:sp>
      <p:sp>
        <p:nvSpPr>
          <p:cNvPr id="22" name="Text 20"/>
          <p:cNvSpPr/>
          <p:nvPr/>
        </p:nvSpPr>
        <p:spPr>
          <a:xfrm>
            <a:off x="2176272" y="3913632"/>
            <a:ext cx="6400800" cy="457200"/>
          </a:xfrm>
          <a:prstGeom prst="rect">
            <a:avLst/>
          </a:prstGeom>
          <a:noFill/>
          <a:ln/>
        </p:spPr>
        <p:txBody>
          <a:bodyPr wrap="square" lIns="0" tIns="0" rIns="0" bIns="0" rtlCol="0" anchor="t"/>
          <a:lstStyle/>
          <a:p>
            <a:pPr marL="0" indent="0" algn="l">
              <a:buNone/>
            </a:pPr>
            <a:r>
              <a:rPr lang="en-US" sz="1150" dirty="0">
                <a:solidFill>
                  <a:srgbClr val="0A5C46"/>
                </a:solidFill>
                <a:latin typeface="Calibri" pitchFamily="34" charset="0"/>
                <a:ea typeface="Calibri" pitchFamily="34" charset="-122"/>
                <a:cs typeface="Calibri" pitchFamily="34" charset="-120"/>
              </a:rPr>
              <a:t>CA-125 and transvaginal ultrasound are appropriate and evidence-supported as diagnostic tools when a patient presents with symptoms. They are not appropriate as population screening tests in asymptomatic, average-risk women.</a:t>
            </a:r>
            <a:endParaRPr lang="en-US" sz="1150" dirty="0"/>
          </a:p>
        </p:txBody>
      </p:sp>
      <p:sp>
        <p:nvSpPr>
          <p:cNvPr id="23" name="Shape 21"/>
          <p:cNvSpPr/>
          <p:nvPr/>
        </p:nvSpPr>
        <p:spPr>
          <a:xfrm>
            <a:off x="411480" y="4526280"/>
            <a:ext cx="8321040" cy="411480"/>
          </a:xfrm>
          <a:prstGeom prst="rect">
            <a:avLst/>
          </a:prstGeom>
          <a:solidFill>
            <a:srgbClr val="F5D99A"/>
          </a:solidFill>
          <a:ln w="12700">
            <a:solidFill>
              <a:srgbClr val="F5D99A"/>
            </a:solidFill>
            <a:prstDash val="solid"/>
          </a:ln>
        </p:spPr>
        <p:txBody>
          <a:bodyPr/>
          <a:lstStyle/>
          <a:p>
            <a:endParaRPr lang="en-US"/>
          </a:p>
        </p:txBody>
      </p:sp>
      <p:sp>
        <p:nvSpPr>
          <p:cNvPr id="24" name="Shape 22"/>
          <p:cNvSpPr/>
          <p:nvPr/>
        </p:nvSpPr>
        <p:spPr>
          <a:xfrm>
            <a:off x="411480" y="4526280"/>
            <a:ext cx="64008" cy="411480"/>
          </a:xfrm>
          <a:prstGeom prst="rect">
            <a:avLst/>
          </a:prstGeom>
          <a:solidFill>
            <a:srgbClr val="BA7517"/>
          </a:solidFill>
          <a:ln w="12700">
            <a:solidFill>
              <a:srgbClr val="BA7517"/>
            </a:solidFill>
            <a:prstDash val="solid"/>
          </a:ln>
        </p:spPr>
        <p:txBody>
          <a:bodyPr/>
          <a:lstStyle/>
          <a:p>
            <a:endParaRPr lang="en-US"/>
          </a:p>
        </p:txBody>
      </p:sp>
      <p:sp>
        <p:nvSpPr>
          <p:cNvPr id="25" name="Text 23"/>
          <p:cNvSpPr/>
          <p:nvPr/>
        </p:nvSpPr>
        <p:spPr>
          <a:xfrm>
            <a:off x="548640" y="4562856"/>
            <a:ext cx="8046720" cy="347472"/>
          </a:xfrm>
          <a:prstGeom prst="rect">
            <a:avLst/>
          </a:prstGeom>
          <a:noFill/>
          <a:ln/>
        </p:spPr>
        <p:txBody>
          <a:bodyPr wrap="square" lIns="0" tIns="0" rIns="0" bIns="0" rtlCol="0" anchor="t"/>
          <a:lstStyle/>
          <a:p>
            <a:r>
              <a:rPr lang="en-US" sz="1000" dirty="0">
                <a:solidFill>
                  <a:srgbClr val="854F0B"/>
                </a:solidFill>
                <a:latin typeface="Calibri" pitchFamily="34" charset="0"/>
                <a:ea typeface="Calibri" pitchFamily="34" charset="-122"/>
                <a:cs typeface="Calibri" pitchFamily="34" charset="-120"/>
              </a:rPr>
              <a:t>Note for clinicians: Stewart et al. (2012) found that that most primary care physicians incorrectly believed CA-125 to be an effective screening tool for asymptomatic women. Reviewing this evidence supports both personal clinical practice and patient communication.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2  --  Explaining the absence of screening to patients: suggested language</a:t>
            </a:r>
            <a:endParaRPr lang="en-US" sz="800" dirty="0"/>
          </a:p>
        </p:txBody>
      </p:sp>
      <p:sp>
        <p:nvSpPr>
          <p:cNvPr id="3" name="Shape 1"/>
          <p:cNvSpPr/>
          <p:nvPr/>
        </p:nvSpPr>
        <p:spPr>
          <a:xfrm>
            <a:off x="0" y="0"/>
            <a:ext cx="9144000" cy="1298448"/>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28016"/>
            <a:ext cx="832104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2</a:t>
            </a:r>
            <a:endParaRPr lang="en-US" sz="800" dirty="0"/>
          </a:p>
        </p:txBody>
      </p:sp>
      <p:sp>
        <p:nvSpPr>
          <p:cNvPr id="5" name="Text 3"/>
          <p:cNvSpPr/>
          <p:nvPr/>
        </p:nvSpPr>
        <p:spPr>
          <a:xfrm>
            <a:off x="411480" y="365760"/>
            <a:ext cx="832104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Explaining the absence of screening to patients</a:t>
            </a:r>
            <a:endParaRPr lang="en-US" sz="2600" dirty="0"/>
          </a:p>
        </p:txBody>
      </p:sp>
      <p:sp>
        <p:nvSpPr>
          <p:cNvPr id="6" name="Text 4"/>
          <p:cNvSpPr/>
          <p:nvPr/>
        </p:nvSpPr>
        <p:spPr>
          <a:xfrm>
            <a:off x="411480" y="1417320"/>
            <a:ext cx="8321040" cy="475488"/>
          </a:xfrm>
          <a:prstGeom prst="rect">
            <a:avLst/>
          </a:prstGeom>
          <a:noFill/>
          <a:ln/>
        </p:spPr>
        <p:txBody>
          <a:bodyPr wrap="square" lIns="0" tIns="0" rIns="0" bIns="0" rtlCol="0" anchor="ctr"/>
          <a:lstStyle/>
          <a:p>
            <a:pPr marL="0" indent="0" algn="l">
              <a:buNone/>
            </a:pPr>
            <a:r>
              <a:rPr lang="en-US" sz="1200" dirty="0">
                <a:solidFill>
                  <a:srgbClr val="2E4A40"/>
                </a:solidFill>
                <a:latin typeface="Calibri" pitchFamily="34" charset="0"/>
                <a:ea typeface="Calibri" pitchFamily="34" charset="-122"/>
                <a:cs typeface="Calibri" pitchFamily="34" charset="-120"/>
              </a:rPr>
              <a:t>Patients often feel alarmed when told there is no routine screening. The goal is to explain the evidence clearly, acknowledge their concern, and redirect toward symptom awareness without creating false reassurance.</a:t>
            </a:r>
            <a:endParaRPr lang="en-US" sz="1200" dirty="0"/>
          </a:p>
        </p:txBody>
      </p:sp>
      <p:sp>
        <p:nvSpPr>
          <p:cNvPr id="7" name="Shape 5"/>
          <p:cNvSpPr/>
          <p:nvPr/>
        </p:nvSpPr>
        <p:spPr>
          <a:xfrm>
            <a:off x="411480" y="1975104"/>
            <a:ext cx="8321040" cy="1298448"/>
          </a:xfrm>
          <a:prstGeom prst="rect">
            <a:avLst/>
          </a:prstGeom>
          <a:solidFill>
            <a:srgbClr val="F2FAF7"/>
          </a:solidFill>
          <a:ln w="12700">
            <a:solidFill>
              <a:srgbClr val="F2FAF7"/>
            </a:solidFill>
            <a:prstDash val="solid"/>
          </a:ln>
        </p:spPr>
        <p:txBody>
          <a:bodyPr/>
          <a:lstStyle/>
          <a:p>
            <a:endParaRPr lang="en-US"/>
          </a:p>
        </p:txBody>
      </p:sp>
      <p:sp>
        <p:nvSpPr>
          <p:cNvPr id="8" name="Shape 6"/>
          <p:cNvSpPr/>
          <p:nvPr/>
        </p:nvSpPr>
        <p:spPr>
          <a:xfrm>
            <a:off x="411480" y="1975104"/>
            <a:ext cx="64008" cy="1298448"/>
          </a:xfrm>
          <a:prstGeom prst="rect">
            <a:avLst/>
          </a:prstGeom>
          <a:solidFill>
            <a:srgbClr val="1D9E75"/>
          </a:solidFill>
          <a:ln w="12700">
            <a:solidFill>
              <a:srgbClr val="1D9E75"/>
            </a:solidFill>
            <a:prstDash val="solid"/>
          </a:ln>
        </p:spPr>
        <p:txBody>
          <a:bodyPr/>
          <a:lstStyle/>
          <a:p>
            <a:endParaRPr lang="en-US"/>
          </a:p>
        </p:txBody>
      </p:sp>
      <p:sp>
        <p:nvSpPr>
          <p:cNvPr id="9" name="Text 7"/>
          <p:cNvSpPr/>
          <p:nvPr/>
        </p:nvSpPr>
        <p:spPr>
          <a:xfrm>
            <a:off x="576072" y="2066544"/>
            <a:ext cx="8065008" cy="182880"/>
          </a:xfrm>
          <a:prstGeom prst="rect">
            <a:avLst/>
          </a:prstGeom>
          <a:noFill/>
          <a:ln/>
        </p:spPr>
        <p:txBody>
          <a:bodyPr wrap="square" lIns="0" tIns="0" rIns="0" bIns="0" rtlCol="0" anchor="ctr"/>
          <a:lstStyle/>
          <a:p>
            <a:pPr marL="0" indent="0" algn="l">
              <a:buNone/>
            </a:pPr>
            <a:r>
              <a:rPr lang="en-US" sz="700" b="1" kern="0" spc="100" dirty="0">
                <a:solidFill>
                  <a:srgbClr val="7BBFAA"/>
                </a:solidFill>
                <a:latin typeface="Calibri" pitchFamily="34" charset="0"/>
                <a:ea typeface="Calibri" pitchFamily="34" charset="-122"/>
                <a:cs typeface="Calibri" pitchFamily="34" charset="-120"/>
              </a:rPr>
              <a:t>SUGGESTED LANGUAGE - EXPLAINING NO ROUTINE SCREENING</a:t>
            </a:r>
            <a:endParaRPr lang="en-US" sz="700" dirty="0"/>
          </a:p>
        </p:txBody>
      </p:sp>
      <p:sp>
        <p:nvSpPr>
          <p:cNvPr id="10" name="Text 8"/>
          <p:cNvSpPr/>
          <p:nvPr/>
        </p:nvSpPr>
        <p:spPr>
          <a:xfrm>
            <a:off x="576072" y="2286000"/>
            <a:ext cx="8065008" cy="896112"/>
          </a:xfrm>
          <a:prstGeom prst="rect">
            <a:avLst/>
          </a:prstGeom>
          <a:noFill/>
          <a:ln/>
        </p:spPr>
        <p:txBody>
          <a:bodyPr wrap="square" lIns="0" tIns="0" rIns="0" bIns="0" rtlCol="0" anchor="t"/>
          <a:lstStyle/>
          <a:p>
            <a:pPr marL="0" indent="0" algn="l">
              <a:buNone/>
            </a:pPr>
            <a:r>
              <a:rPr lang="en-US" sz="1050" i="1" dirty="0">
                <a:solidFill>
                  <a:srgbClr val="053D30"/>
                </a:solidFill>
                <a:latin typeface="Calibri" pitchFamily="34" charset="0"/>
                <a:ea typeface="Calibri" pitchFamily="34" charset="-122"/>
                <a:cs typeface="Calibri" pitchFamily="34" charset="-120"/>
              </a:rPr>
              <a:t>"Right now, there is no routine blood test or scan that reliably detects ovarian cancer in women who have no symptoms. This is not a gap in care; large clinical trials have tested these approaches and found they do not reduce ovarian cancer deaths in women who do not experience symptoms, and they can sometimes lead to unnecessary procedures. What we do know is that ovarian cancer does cause symptoms, and recognizing those symptoms early and coming in promptly makes a real difference."</a:t>
            </a:r>
            <a:endParaRPr lang="en-US" sz="1050" dirty="0"/>
          </a:p>
        </p:txBody>
      </p:sp>
      <p:sp>
        <p:nvSpPr>
          <p:cNvPr id="11" name="Shape 9"/>
          <p:cNvSpPr/>
          <p:nvPr/>
        </p:nvSpPr>
        <p:spPr>
          <a:xfrm>
            <a:off x="411480" y="3364992"/>
            <a:ext cx="3977640" cy="1554480"/>
          </a:xfrm>
          <a:prstGeom prst="rect">
            <a:avLst/>
          </a:prstGeom>
          <a:solidFill>
            <a:srgbClr val="FAECE7"/>
          </a:solidFill>
          <a:ln w="12700">
            <a:solidFill>
              <a:srgbClr val="FAECE7"/>
            </a:solidFill>
            <a:prstDash val="solid"/>
          </a:ln>
        </p:spPr>
        <p:txBody>
          <a:bodyPr/>
          <a:lstStyle/>
          <a:p>
            <a:endParaRPr lang="en-US"/>
          </a:p>
        </p:txBody>
      </p:sp>
      <p:sp>
        <p:nvSpPr>
          <p:cNvPr id="12" name="Shape 10"/>
          <p:cNvSpPr/>
          <p:nvPr/>
        </p:nvSpPr>
        <p:spPr>
          <a:xfrm>
            <a:off x="411480" y="3364992"/>
            <a:ext cx="64008" cy="1554480"/>
          </a:xfrm>
          <a:prstGeom prst="rect">
            <a:avLst/>
          </a:prstGeom>
          <a:solidFill>
            <a:srgbClr val="993C1D"/>
          </a:solidFill>
          <a:ln w="12700">
            <a:solidFill>
              <a:srgbClr val="993C1D"/>
            </a:solidFill>
            <a:prstDash val="solid"/>
          </a:ln>
        </p:spPr>
        <p:txBody>
          <a:bodyPr/>
          <a:lstStyle/>
          <a:p>
            <a:endParaRPr lang="en-US"/>
          </a:p>
        </p:txBody>
      </p:sp>
      <p:sp>
        <p:nvSpPr>
          <p:cNvPr id="13" name="Text 11"/>
          <p:cNvSpPr/>
          <p:nvPr/>
        </p:nvSpPr>
        <p:spPr>
          <a:xfrm>
            <a:off x="548640" y="3438144"/>
            <a:ext cx="3749040" cy="182880"/>
          </a:xfrm>
          <a:prstGeom prst="rect">
            <a:avLst/>
          </a:prstGeom>
          <a:noFill/>
          <a:ln/>
        </p:spPr>
        <p:txBody>
          <a:bodyPr wrap="square" lIns="0" tIns="0" rIns="0" bIns="0" rtlCol="0" anchor="ctr"/>
          <a:lstStyle/>
          <a:p>
            <a:pPr marL="0" indent="0" algn="l">
              <a:buNone/>
            </a:pPr>
            <a:r>
              <a:rPr lang="en-US" sz="750" b="1" kern="0" spc="100" dirty="0">
                <a:solidFill>
                  <a:srgbClr val="993C1D"/>
                </a:solidFill>
                <a:latin typeface="Calibri" pitchFamily="34" charset="0"/>
                <a:ea typeface="Calibri" pitchFamily="34" charset="-122"/>
                <a:cs typeface="Calibri" pitchFamily="34" charset="-120"/>
              </a:rPr>
              <a:t>AVOID</a:t>
            </a:r>
            <a:endParaRPr lang="en-US" sz="750" dirty="0"/>
          </a:p>
        </p:txBody>
      </p:sp>
      <p:sp>
        <p:nvSpPr>
          <p:cNvPr id="14" name="Text 12"/>
          <p:cNvSpPr/>
          <p:nvPr/>
        </p:nvSpPr>
        <p:spPr>
          <a:xfrm>
            <a:off x="548640" y="3621024"/>
            <a:ext cx="3749040" cy="1170432"/>
          </a:xfrm>
          <a:prstGeom prst="rect">
            <a:avLst/>
          </a:prstGeom>
          <a:noFill/>
          <a:ln/>
        </p:spPr>
        <p:txBody>
          <a:bodyPr wrap="square" lIns="0" tIns="0" rIns="0" bIns="0" rtlCol="0" anchor="t"/>
          <a:lstStyle/>
          <a:p>
            <a:pPr marL="0" indent="0" algn="l">
              <a:buNone/>
            </a:pPr>
            <a:r>
              <a:rPr lang="en-US" sz="1050" dirty="0">
                <a:solidFill>
                  <a:srgbClr val="993C1D"/>
                </a:solidFill>
                <a:latin typeface="Calibri" pitchFamily="34" charset="0"/>
                <a:ea typeface="Calibri" pitchFamily="34" charset="-122"/>
                <a:cs typeface="Calibri" pitchFamily="34" charset="-120"/>
              </a:rPr>
              <a:t>"There is nothing we can do to check for ovarian cancer" overstates the situation and causes alarm</a:t>
            </a:r>
            <a:endParaRPr lang="en-US" sz="1050" dirty="0"/>
          </a:p>
          <a:p>
            <a:pPr marL="0" indent="0" algn="l">
              <a:buNone/>
            </a:pPr>
            <a:endParaRPr lang="en-US" sz="1050" dirty="0"/>
          </a:p>
          <a:p>
            <a:pPr marL="0" indent="0" algn="l">
              <a:buNone/>
            </a:pPr>
            <a:r>
              <a:rPr lang="en-US" sz="1050" dirty="0">
                <a:solidFill>
                  <a:srgbClr val="993C1D"/>
                </a:solidFill>
                <a:latin typeface="Calibri" pitchFamily="34" charset="0"/>
                <a:ea typeface="Calibri" pitchFamily="34" charset="-122"/>
                <a:cs typeface="Calibri" pitchFamily="34" charset="-120"/>
              </a:rPr>
              <a:t>"You are fine, your pelvic exam was normal" creates false reassurance about ovarian status</a:t>
            </a:r>
            <a:endParaRPr lang="en-US" sz="1050" dirty="0"/>
          </a:p>
          <a:p>
            <a:pPr marL="0" indent="0" algn="l">
              <a:buNone/>
            </a:pPr>
            <a:endParaRPr lang="en-US" sz="1050" dirty="0"/>
          </a:p>
          <a:p>
            <a:pPr marL="0" indent="0" algn="l">
              <a:buNone/>
            </a:pPr>
            <a:r>
              <a:rPr lang="en-US" sz="1050" dirty="0">
                <a:solidFill>
                  <a:srgbClr val="993C1D"/>
                </a:solidFill>
                <a:latin typeface="Calibri" pitchFamily="34" charset="0"/>
                <a:ea typeface="Calibri" pitchFamily="34" charset="-122"/>
                <a:cs typeface="Calibri" pitchFamily="34" charset="-120"/>
              </a:rPr>
              <a:t>"We only screen high-risk patients” may suggest screening exists when it does not</a:t>
            </a:r>
            <a:endParaRPr lang="en-US" sz="1050" dirty="0"/>
          </a:p>
        </p:txBody>
      </p:sp>
      <p:sp>
        <p:nvSpPr>
          <p:cNvPr id="15" name="Shape 13"/>
          <p:cNvSpPr/>
          <p:nvPr/>
        </p:nvSpPr>
        <p:spPr>
          <a:xfrm>
            <a:off x="4754880" y="3364992"/>
            <a:ext cx="3977640" cy="1554480"/>
          </a:xfrm>
          <a:prstGeom prst="rect">
            <a:avLst/>
          </a:prstGeom>
          <a:solidFill>
            <a:srgbClr val="E1F5EE"/>
          </a:solidFill>
          <a:ln w="12700">
            <a:solidFill>
              <a:srgbClr val="E1F5EE"/>
            </a:solidFill>
            <a:prstDash val="solid"/>
          </a:ln>
        </p:spPr>
        <p:txBody>
          <a:bodyPr/>
          <a:lstStyle/>
          <a:p>
            <a:endParaRPr lang="en-US"/>
          </a:p>
        </p:txBody>
      </p:sp>
      <p:sp>
        <p:nvSpPr>
          <p:cNvPr id="16" name="Shape 14"/>
          <p:cNvSpPr/>
          <p:nvPr/>
        </p:nvSpPr>
        <p:spPr>
          <a:xfrm>
            <a:off x="4754880" y="3364992"/>
            <a:ext cx="64008" cy="1554480"/>
          </a:xfrm>
          <a:prstGeom prst="rect">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892040" y="3438144"/>
            <a:ext cx="3749040" cy="182880"/>
          </a:xfrm>
          <a:prstGeom prst="rect">
            <a:avLst/>
          </a:prstGeom>
          <a:noFill/>
          <a:ln/>
        </p:spPr>
        <p:txBody>
          <a:bodyPr wrap="square" lIns="0" tIns="0" rIns="0" bIns="0" rtlCol="0" anchor="ctr"/>
          <a:lstStyle/>
          <a:p>
            <a:pPr marL="0" indent="0" algn="l">
              <a:buNone/>
            </a:pPr>
            <a:r>
              <a:rPr lang="en-US" sz="750" b="1" kern="0" spc="100" dirty="0">
                <a:solidFill>
                  <a:srgbClr val="0F6E56"/>
                </a:solidFill>
                <a:latin typeface="Calibri" pitchFamily="34" charset="0"/>
                <a:ea typeface="Calibri" pitchFamily="34" charset="-122"/>
                <a:cs typeface="Calibri" pitchFamily="34" charset="-120"/>
              </a:rPr>
              <a:t>WHAT WORKS WELL</a:t>
            </a:r>
            <a:endParaRPr lang="en-US" sz="750" dirty="0"/>
          </a:p>
        </p:txBody>
      </p:sp>
      <p:sp>
        <p:nvSpPr>
          <p:cNvPr id="18" name="Text 16"/>
          <p:cNvSpPr/>
          <p:nvPr/>
        </p:nvSpPr>
        <p:spPr>
          <a:xfrm>
            <a:off x="4892040" y="3675888"/>
            <a:ext cx="3749040" cy="1170432"/>
          </a:xfrm>
          <a:prstGeom prst="rect">
            <a:avLst/>
          </a:prstGeom>
          <a:noFill/>
          <a:ln/>
        </p:spPr>
        <p:txBody>
          <a:bodyPr wrap="square" lIns="0" tIns="0" rIns="0" bIns="0" rtlCol="0" anchor="t"/>
          <a:lstStyle/>
          <a:p>
            <a:pPr marL="0" indent="0" algn="l">
              <a:buNone/>
            </a:pPr>
            <a:r>
              <a:rPr lang="en-US" sz="1050" dirty="0">
                <a:solidFill>
                  <a:srgbClr val="0A5C46"/>
                </a:solidFill>
                <a:latin typeface="Calibri" pitchFamily="34" charset="0"/>
                <a:ea typeface="Calibri" pitchFamily="34" charset="-122"/>
                <a:cs typeface="Calibri" pitchFamily="34" charset="-120"/>
              </a:rPr>
              <a:t>Name the evidence directly. Patients find "large clinical trials" more reassuring than vague statements</a:t>
            </a:r>
            <a:endParaRPr lang="en-US" sz="1050" dirty="0"/>
          </a:p>
          <a:p>
            <a:pPr marL="0" indent="0" algn="l">
              <a:buNone/>
            </a:pPr>
            <a:endParaRPr lang="en-US" sz="1050" dirty="0"/>
          </a:p>
          <a:p>
            <a:pPr marL="0" indent="0" algn="l">
              <a:buNone/>
            </a:pPr>
            <a:r>
              <a:rPr lang="en-US" sz="1050" dirty="0">
                <a:solidFill>
                  <a:srgbClr val="0A5C46"/>
                </a:solidFill>
                <a:latin typeface="Calibri" pitchFamily="34" charset="0"/>
                <a:ea typeface="Calibri" pitchFamily="34" charset="-122"/>
                <a:cs typeface="Calibri" pitchFamily="34" charset="-120"/>
              </a:rPr>
              <a:t>Pair the absence of screening with a clear action: symptom awareness and prompt help-seeking</a:t>
            </a:r>
            <a:endParaRPr lang="en-US" sz="1050" dirty="0"/>
          </a:p>
          <a:p>
            <a:pPr marL="0" indent="0" algn="l">
              <a:buNone/>
            </a:pPr>
            <a:endParaRPr lang="en-US" sz="1050" dirty="0">
              <a:solidFill>
                <a:srgbClr val="0A5C46"/>
              </a:solidFill>
              <a:latin typeface="Calibri" pitchFamily="34" charset="0"/>
              <a:ea typeface="Calibri" pitchFamily="34" charset="-122"/>
              <a:cs typeface="Calibri" pitchFamily="34" charset="-120"/>
            </a:endParaRPr>
          </a:p>
          <a:p>
            <a:pPr marL="0" indent="0" algn="l">
              <a:buNone/>
            </a:pPr>
            <a:r>
              <a:rPr lang="en-US" sz="1050" dirty="0">
                <a:solidFill>
                  <a:srgbClr val="0A5C46"/>
                </a:solidFill>
                <a:latin typeface="Calibri" pitchFamily="34" charset="0"/>
                <a:ea typeface="Calibri" pitchFamily="34" charset="-122"/>
                <a:cs typeface="Calibri" pitchFamily="34" charset="-120"/>
              </a:rPr>
              <a:t>Validate the concern before correcting the misconception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3  --  Responding to CA-125 requests and Pap test misconceptions</a:t>
            </a:r>
            <a:endParaRPr lang="en-US" sz="800" dirty="0"/>
          </a:p>
        </p:txBody>
      </p:sp>
      <p:sp>
        <p:nvSpPr>
          <p:cNvPr id="3" name="Shape 1"/>
          <p:cNvSpPr/>
          <p:nvPr/>
        </p:nvSpPr>
        <p:spPr>
          <a:xfrm>
            <a:off x="0" y="0"/>
            <a:ext cx="9144000" cy="1298448"/>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28016"/>
            <a:ext cx="832104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3</a:t>
            </a:r>
            <a:endParaRPr lang="en-US" sz="800" dirty="0"/>
          </a:p>
        </p:txBody>
      </p:sp>
      <p:sp>
        <p:nvSpPr>
          <p:cNvPr id="5" name="Text 3"/>
          <p:cNvSpPr/>
          <p:nvPr/>
        </p:nvSpPr>
        <p:spPr>
          <a:xfrm>
            <a:off x="411480" y="365760"/>
            <a:ext cx="832104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Responding to CA-125 requests and Pap test misconceptions</a:t>
            </a:r>
            <a:endParaRPr lang="en-US" sz="2600" dirty="0"/>
          </a:p>
        </p:txBody>
      </p:sp>
      <p:sp>
        <p:nvSpPr>
          <p:cNvPr id="6" name="Text 4"/>
          <p:cNvSpPr/>
          <p:nvPr/>
        </p:nvSpPr>
        <p:spPr>
          <a:xfrm>
            <a:off x="411480" y="1389888"/>
            <a:ext cx="4069080" cy="292608"/>
          </a:xfrm>
          <a:prstGeom prst="rect">
            <a:avLst/>
          </a:prstGeom>
          <a:noFill/>
          <a:ln/>
        </p:spPr>
        <p:txBody>
          <a:bodyPr wrap="square" lIns="0" tIns="0" rIns="0" bIns="0" rtlCol="0" anchor="ctr"/>
          <a:lstStyle/>
          <a:p>
            <a:pPr marL="0" indent="0" algn="l">
              <a:buNone/>
            </a:pPr>
            <a:r>
              <a:rPr lang="en-US" sz="1300" b="1" dirty="0">
                <a:solidFill>
                  <a:srgbClr val="0F6E56"/>
                </a:solidFill>
                <a:latin typeface="Calibri" pitchFamily="34" charset="0"/>
                <a:ea typeface="Calibri" pitchFamily="34" charset="-122"/>
                <a:cs typeface="Calibri" pitchFamily="34" charset="-120"/>
              </a:rPr>
              <a:t>When a patient asks for CA-125 testing</a:t>
            </a:r>
            <a:endParaRPr lang="en-US" sz="1300" dirty="0"/>
          </a:p>
        </p:txBody>
      </p:sp>
      <p:sp>
        <p:nvSpPr>
          <p:cNvPr id="7" name="Text 5"/>
          <p:cNvSpPr/>
          <p:nvPr/>
        </p:nvSpPr>
        <p:spPr>
          <a:xfrm>
            <a:off x="411480" y="1737360"/>
            <a:ext cx="4069080" cy="384048"/>
          </a:xfrm>
          <a:prstGeom prst="rect">
            <a:avLst/>
          </a:prstGeom>
          <a:noFill/>
          <a:ln/>
        </p:spPr>
        <p:txBody>
          <a:bodyPr wrap="square" lIns="0" tIns="0" rIns="0" bIns="0" rtlCol="0" anchor="ctr"/>
          <a:lstStyle/>
          <a:p>
            <a:pPr marL="0" indent="0" algn="l">
              <a:buNone/>
            </a:pPr>
            <a:r>
              <a:rPr lang="en-US" sz="1100" dirty="0">
                <a:solidFill>
                  <a:srgbClr val="2E4A40"/>
                </a:solidFill>
                <a:latin typeface="Calibri" pitchFamily="34" charset="0"/>
                <a:ea typeface="Calibri" pitchFamily="34" charset="-122"/>
                <a:cs typeface="Calibri" pitchFamily="34" charset="-120"/>
              </a:rPr>
              <a:t>This is a common and understandable request. The goal is to explain the limitation without dismissing the concern.</a:t>
            </a:r>
            <a:endParaRPr lang="en-US" sz="1100" dirty="0"/>
          </a:p>
        </p:txBody>
      </p:sp>
      <p:sp>
        <p:nvSpPr>
          <p:cNvPr id="8" name="Shape 6"/>
          <p:cNvSpPr/>
          <p:nvPr/>
        </p:nvSpPr>
        <p:spPr>
          <a:xfrm>
            <a:off x="411480" y="2194560"/>
            <a:ext cx="4069080" cy="1371600"/>
          </a:xfrm>
          <a:prstGeom prst="rect">
            <a:avLst/>
          </a:prstGeom>
          <a:solidFill>
            <a:srgbClr val="F2FAF7"/>
          </a:solidFill>
          <a:ln w="12700">
            <a:solidFill>
              <a:srgbClr val="F2FAF7"/>
            </a:solidFill>
            <a:prstDash val="solid"/>
          </a:ln>
        </p:spPr>
        <p:txBody>
          <a:bodyPr/>
          <a:lstStyle/>
          <a:p>
            <a:endParaRPr lang="en-US"/>
          </a:p>
        </p:txBody>
      </p:sp>
      <p:sp>
        <p:nvSpPr>
          <p:cNvPr id="9" name="Shape 7"/>
          <p:cNvSpPr/>
          <p:nvPr/>
        </p:nvSpPr>
        <p:spPr>
          <a:xfrm>
            <a:off x="411480" y="2194560"/>
            <a:ext cx="64008" cy="1371600"/>
          </a:xfrm>
          <a:prstGeom prst="rect">
            <a:avLst/>
          </a:prstGeom>
          <a:solidFill>
            <a:srgbClr val="1D9E75"/>
          </a:solidFill>
          <a:ln w="12700">
            <a:solidFill>
              <a:srgbClr val="1D9E75"/>
            </a:solidFill>
            <a:prstDash val="solid"/>
          </a:ln>
        </p:spPr>
        <p:txBody>
          <a:bodyPr/>
          <a:lstStyle/>
          <a:p>
            <a:endParaRPr lang="en-US"/>
          </a:p>
        </p:txBody>
      </p:sp>
      <p:sp>
        <p:nvSpPr>
          <p:cNvPr id="10" name="Text 8"/>
          <p:cNvSpPr/>
          <p:nvPr/>
        </p:nvSpPr>
        <p:spPr>
          <a:xfrm>
            <a:off x="576072" y="2286000"/>
            <a:ext cx="3813048" cy="182880"/>
          </a:xfrm>
          <a:prstGeom prst="rect">
            <a:avLst/>
          </a:prstGeom>
          <a:noFill/>
          <a:ln/>
        </p:spPr>
        <p:txBody>
          <a:bodyPr wrap="square" lIns="0" tIns="0" rIns="0" bIns="0" rtlCol="0" anchor="ctr"/>
          <a:lstStyle/>
          <a:p>
            <a:pPr marL="0" indent="0" algn="l">
              <a:buNone/>
            </a:pPr>
            <a:r>
              <a:rPr lang="en-US" sz="700" b="1" kern="0" spc="100" dirty="0">
                <a:solidFill>
                  <a:srgbClr val="7BBFAA"/>
                </a:solidFill>
                <a:latin typeface="Calibri" pitchFamily="34" charset="0"/>
                <a:ea typeface="Calibri" pitchFamily="34" charset="-122"/>
                <a:cs typeface="Calibri" pitchFamily="34" charset="-120"/>
              </a:rPr>
              <a:t>SUGGESTED RESPONSE</a:t>
            </a:r>
            <a:endParaRPr lang="en-US" sz="700" dirty="0"/>
          </a:p>
        </p:txBody>
      </p:sp>
      <p:sp>
        <p:nvSpPr>
          <p:cNvPr id="11" name="Text 9"/>
          <p:cNvSpPr/>
          <p:nvPr/>
        </p:nvSpPr>
        <p:spPr>
          <a:xfrm>
            <a:off x="576072" y="2505456"/>
            <a:ext cx="3813048" cy="969264"/>
          </a:xfrm>
          <a:prstGeom prst="rect">
            <a:avLst/>
          </a:prstGeom>
          <a:noFill/>
          <a:ln/>
        </p:spPr>
        <p:txBody>
          <a:bodyPr wrap="square" lIns="0" tIns="0" rIns="0" bIns="0" rtlCol="0" anchor="t"/>
          <a:lstStyle/>
          <a:p>
            <a:pPr marL="0" indent="0" algn="l">
              <a:buNone/>
            </a:pPr>
            <a:r>
              <a:rPr lang="en-US" sz="1050" i="1" dirty="0">
                <a:solidFill>
                  <a:srgbClr val="053D30"/>
                </a:solidFill>
                <a:latin typeface="Calibri" pitchFamily="34" charset="0"/>
                <a:ea typeface="Calibri" pitchFamily="34" charset="-122"/>
                <a:cs typeface="Calibri" pitchFamily="34" charset="-120"/>
              </a:rPr>
              <a:t>"CA-125 is a blood test we use when someone already has symptoms that concern us. In women without symptoms, it produces a lot of false alarms and can lead to procedures you do not need. That is why it is not recommended as a routine screening test. I want to make sure that you know what symptoms to watch for so you can come in promptly if something feels off."</a:t>
            </a:r>
            <a:endParaRPr lang="en-US" sz="1050" dirty="0"/>
          </a:p>
        </p:txBody>
      </p:sp>
      <p:sp>
        <p:nvSpPr>
          <p:cNvPr id="12" name="Shape 10"/>
          <p:cNvSpPr/>
          <p:nvPr/>
        </p:nvSpPr>
        <p:spPr>
          <a:xfrm>
            <a:off x="411480" y="3657599"/>
            <a:ext cx="4069080" cy="840449"/>
          </a:xfrm>
          <a:prstGeom prst="rect">
            <a:avLst/>
          </a:prstGeom>
          <a:solidFill>
            <a:srgbClr val="D2EFE4"/>
          </a:solidFill>
          <a:ln w="12700">
            <a:solidFill>
              <a:srgbClr val="D2EFE4"/>
            </a:solidFill>
            <a:prstDash val="solid"/>
          </a:ln>
        </p:spPr>
        <p:txBody>
          <a:bodyPr/>
          <a:lstStyle/>
          <a:p>
            <a:endParaRPr lang="en-US"/>
          </a:p>
        </p:txBody>
      </p:sp>
      <p:sp>
        <p:nvSpPr>
          <p:cNvPr id="13" name="Shape 11"/>
          <p:cNvSpPr/>
          <p:nvPr/>
        </p:nvSpPr>
        <p:spPr>
          <a:xfrm>
            <a:off x="411480" y="3657600"/>
            <a:ext cx="73152" cy="840448"/>
          </a:xfrm>
          <a:prstGeom prst="rect">
            <a:avLst/>
          </a:prstGeom>
          <a:solidFill>
            <a:srgbClr val="1D9E75"/>
          </a:solidFill>
          <a:ln w="12700">
            <a:solidFill>
              <a:srgbClr val="1D9E75"/>
            </a:solidFill>
            <a:prstDash val="solid"/>
          </a:ln>
        </p:spPr>
        <p:txBody>
          <a:bodyPr/>
          <a:lstStyle/>
          <a:p>
            <a:endParaRPr lang="en-US"/>
          </a:p>
        </p:txBody>
      </p:sp>
      <p:sp>
        <p:nvSpPr>
          <p:cNvPr id="14" name="Text 12"/>
          <p:cNvSpPr/>
          <p:nvPr/>
        </p:nvSpPr>
        <p:spPr>
          <a:xfrm>
            <a:off x="576072" y="3658398"/>
            <a:ext cx="3813048" cy="218657"/>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When CA-125 is appropriate</a:t>
            </a:r>
            <a:endParaRPr lang="en-US" sz="1100" dirty="0"/>
          </a:p>
        </p:txBody>
      </p:sp>
      <p:sp>
        <p:nvSpPr>
          <p:cNvPr id="15" name="Text 13"/>
          <p:cNvSpPr/>
          <p:nvPr/>
        </p:nvSpPr>
        <p:spPr>
          <a:xfrm>
            <a:off x="576072" y="3950208"/>
            <a:ext cx="3813048" cy="438912"/>
          </a:xfrm>
          <a:prstGeom prst="rect">
            <a:avLst/>
          </a:prstGeom>
          <a:noFill/>
          <a:ln/>
        </p:spPr>
        <p:txBody>
          <a:bodyPr wrap="square" lIns="0" tIns="0" rIns="0" bIns="0" rtlCol="0" anchor="ctr"/>
          <a:lstStyle/>
          <a:p>
            <a:pPr marL="0" indent="0" algn="l">
              <a:buNone/>
            </a:pPr>
            <a:r>
              <a:rPr lang="en-US" sz="1050" dirty="0">
                <a:solidFill>
                  <a:srgbClr val="2E4A40"/>
                </a:solidFill>
                <a:latin typeface="Calibri" pitchFamily="34" charset="0"/>
                <a:ea typeface="Calibri" pitchFamily="34" charset="-122"/>
                <a:cs typeface="Calibri" pitchFamily="34" charset="-120"/>
              </a:rPr>
              <a:t>Persistent or frequent symptoms (bloating, pelvic pain, early satiety, urinary changes) that are new or different from baseline, especially occurring 12 or more times per month.</a:t>
            </a:r>
            <a:endParaRPr lang="en-US" sz="1050" dirty="0"/>
          </a:p>
        </p:txBody>
      </p:sp>
      <p:sp>
        <p:nvSpPr>
          <p:cNvPr id="16" name="Shape 14"/>
          <p:cNvSpPr/>
          <p:nvPr/>
        </p:nvSpPr>
        <p:spPr>
          <a:xfrm>
            <a:off x="4663440" y="1371600"/>
            <a:ext cx="18288" cy="2743200"/>
          </a:xfrm>
          <a:prstGeom prst="rect">
            <a:avLst/>
          </a:prstGeom>
          <a:solidFill>
            <a:srgbClr val="C4E5D8"/>
          </a:solidFill>
          <a:ln w="12700">
            <a:solidFill>
              <a:srgbClr val="C4E5D8"/>
            </a:solidFill>
            <a:prstDash val="solid"/>
          </a:ln>
        </p:spPr>
        <p:txBody>
          <a:bodyPr/>
          <a:lstStyle/>
          <a:p>
            <a:endParaRPr lang="en-US"/>
          </a:p>
        </p:txBody>
      </p:sp>
      <p:sp>
        <p:nvSpPr>
          <p:cNvPr id="17" name="Text 15"/>
          <p:cNvSpPr/>
          <p:nvPr/>
        </p:nvSpPr>
        <p:spPr>
          <a:xfrm>
            <a:off x="4846320" y="1389888"/>
            <a:ext cx="3886200" cy="420624"/>
          </a:xfrm>
          <a:prstGeom prst="rect">
            <a:avLst/>
          </a:prstGeom>
          <a:noFill/>
          <a:ln/>
        </p:spPr>
        <p:txBody>
          <a:bodyPr wrap="square" lIns="0" tIns="0" rIns="0" bIns="0" rtlCol="0" anchor="ctr"/>
          <a:lstStyle/>
          <a:p>
            <a:pPr marL="0" indent="0" algn="l">
              <a:buNone/>
            </a:pPr>
            <a:r>
              <a:rPr lang="en-US" sz="1300" b="1" dirty="0">
                <a:solidFill>
                  <a:srgbClr val="0F6E56"/>
                </a:solidFill>
                <a:latin typeface="Calibri" pitchFamily="34" charset="0"/>
                <a:ea typeface="Calibri" pitchFamily="34" charset="-122"/>
                <a:cs typeface="Calibri" pitchFamily="34" charset="-120"/>
              </a:rPr>
              <a:t>When a patient believes her Pap test screens for ovarian cancer</a:t>
            </a:r>
            <a:endParaRPr lang="en-US" sz="1300" dirty="0"/>
          </a:p>
        </p:txBody>
      </p:sp>
      <p:sp>
        <p:nvSpPr>
          <p:cNvPr id="18" name="Text 16"/>
          <p:cNvSpPr/>
          <p:nvPr/>
        </p:nvSpPr>
        <p:spPr>
          <a:xfrm>
            <a:off x="4846320" y="1865376"/>
            <a:ext cx="3886200" cy="256032"/>
          </a:xfrm>
          <a:prstGeom prst="rect">
            <a:avLst/>
          </a:prstGeom>
          <a:noFill/>
          <a:ln/>
        </p:spPr>
        <p:txBody>
          <a:bodyPr wrap="square" lIns="0" tIns="0" rIns="0" bIns="0" rtlCol="0" anchor="ctr"/>
          <a:lstStyle/>
          <a:p>
            <a:pPr marL="0" indent="0" algn="l">
              <a:buNone/>
            </a:pPr>
            <a:r>
              <a:rPr lang="en-US" sz="1100" dirty="0">
                <a:solidFill>
                  <a:srgbClr val="2E4A40"/>
                </a:solidFill>
                <a:latin typeface="Calibri" pitchFamily="34" charset="0"/>
                <a:ea typeface="Calibri" pitchFamily="34" charset="-122"/>
                <a:cs typeface="Calibri" pitchFamily="34" charset="-120"/>
              </a:rPr>
              <a:t>Multiple studies document this misconception. It is very common not a patient failing.</a:t>
            </a:r>
            <a:endParaRPr lang="en-US" sz="1100" dirty="0"/>
          </a:p>
        </p:txBody>
      </p:sp>
      <p:sp>
        <p:nvSpPr>
          <p:cNvPr id="19" name="Shape 17"/>
          <p:cNvSpPr/>
          <p:nvPr/>
        </p:nvSpPr>
        <p:spPr>
          <a:xfrm>
            <a:off x="4846320" y="2194560"/>
            <a:ext cx="3886200" cy="1207008"/>
          </a:xfrm>
          <a:prstGeom prst="rect">
            <a:avLst/>
          </a:prstGeom>
          <a:solidFill>
            <a:srgbClr val="F2FAF7"/>
          </a:solidFill>
          <a:ln w="12700">
            <a:solidFill>
              <a:srgbClr val="F2FAF7"/>
            </a:solidFill>
            <a:prstDash val="solid"/>
          </a:ln>
        </p:spPr>
        <p:txBody>
          <a:bodyPr/>
          <a:lstStyle/>
          <a:p>
            <a:endParaRPr lang="en-US"/>
          </a:p>
        </p:txBody>
      </p:sp>
      <p:sp>
        <p:nvSpPr>
          <p:cNvPr id="20" name="Shape 18"/>
          <p:cNvSpPr/>
          <p:nvPr/>
        </p:nvSpPr>
        <p:spPr>
          <a:xfrm>
            <a:off x="4846320" y="2194560"/>
            <a:ext cx="64008" cy="1207008"/>
          </a:xfrm>
          <a:prstGeom prst="rect">
            <a:avLst/>
          </a:prstGeom>
          <a:solidFill>
            <a:srgbClr val="1D9E75"/>
          </a:solidFill>
          <a:ln w="12700">
            <a:solidFill>
              <a:srgbClr val="1D9E75"/>
            </a:solidFill>
            <a:prstDash val="solid"/>
          </a:ln>
        </p:spPr>
        <p:txBody>
          <a:bodyPr/>
          <a:lstStyle/>
          <a:p>
            <a:endParaRPr lang="en-US"/>
          </a:p>
        </p:txBody>
      </p:sp>
      <p:sp>
        <p:nvSpPr>
          <p:cNvPr id="21" name="Text 19"/>
          <p:cNvSpPr/>
          <p:nvPr/>
        </p:nvSpPr>
        <p:spPr>
          <a:xfrm>
            <a:off x="5010912" y="2286000"/>
            <a:ext cx="3630168" cy="182880"/>
          </a:xfrm>
          <a:prstGeom prst="rect">
            <a:avLst/>
          </a:prstGeom>
          <a:noFill/>
          <a:ln/>
        </p:spPr>
        <p:txBody>
          <a:bodyPr wrap="square" lIns="0" tIns="0" rIns="0" bIns="0" rtlCol="0" anchor="ctr"/>
          <a:lstStyle/>
          <a:p>
            <a:pPr marL="0" indent="0" algn="l">
              <a:buNone/>
            </a:pPr>
            <a:r>
              <a:rPr lang="en-US" sz="700" b="1" kern="0" spc="100" dirty="0">
                <a:solidFill>
                  <a:srgbClr val="7BBFAA"/>
                </a:solidFill>
                <a:latin typeface="Calibri" pitchFamily="34" charset="0"/>
                <a:ea typeface="Calibri" pitchFamily="34" charset="-122"/>
                <a:cs typeface="Calibri" pitchFamily="34" charset="-120"/>
              </a:rPr>
              <a:t>SUGGESTED RESPONSE</a:t>
            </a:r>
            <a:endParaRPr lang="en-US" sz="700" dirty="0"/>
          </a:p>
        </p:txBody>
      </p:sp>
      <p:sp>
        <p:nvSpPr>
          <p:cNvPr id="22" name="Text 20"/>
          <p:cNvSpPr/>
          <p:nvPr/>
        </p:nvSpPr>
        <p:spPr>
          <a:xfrm>
            <a:off x="5010912" y="2505456"/>
            <a:ext cx="3630168" cy="804672"/>
          </a:xfrm>
          <a:prstGeom prst="rect">
            <a:avLst/>
          </a:prstGeom>
          <a:noFill/>
          <a:ln/>
        </p:spPr>
        <p:txBody>
          <a:bodyPr wrap="square" lIns="0" tIns="0" rIns="0" bIns="0" rtlCol="0" anchor="t"/>
          <a:lstStyle/>
          <a:p>
            <a:pPr marL="0" indent="0" algn="l">
              <a:buNone/>
            </a:pPr>
            <a:r>
              <a:rPr lang="en-US" sz="1050" i="1" dirty="0">
                <a:solidFill>
                  <a:srgbClr val="053D30"/>
                </a:solidFill>
                <a:latin typeface="Calibri" pitchFamily="34" charset="0"/>
                <a:ea typeface="Calibri" pitchFamily="34" charset="-122"/>
                <a:cs typeface="Calibri" pitchFamily="34" charset="-120"/>
              </a:rPr>
              <a:t>"I am really glad you mentioned that, because it is a very common misunderstanding. The Pap test only looks at cells from your cervix; it screens specifically for cervical cancer. It does not look at your ovaries at all. So, a normal Pap result is good news for your cervix, but it does not tell us anything about your ovaries."</a:t>
            </a:r>
            <a:endParaRPr lang="en-US" sz="1050" dirty="0"/>
          </a:p>
        </p:txBody>
      </p:sp>
      <p:sp>
        <p:nvSpPr>
          <p:cNvPr id="23" name="Shape 21"/>
          <p:cNvSpPr/>
          <p:nvPr/>
        </p:nvSpPr>
        <p:spPr>
          <a:xfrm>
            <a:off x="4846320" y="3493008"/>
            <a:ext cx="3886200" cy="1115568"/>
          </a:xfrm>
          <a:prstGeom prst="rect">
            <a:avLst/>
          </a:prstGeom>
          <a:solidFill>
            <a:srgbClr val="F5D99A"/>
          </a:solidFill>
          <a:ln w="12700">
            <a:solidFill>
              <a:srgbClr val="F5D99A"/>
            </a:solidFill>
            <a:prstDash val="solid"/>
          </a:ln>
        </p:spPr>
        <p:txBody>
          <a:bodyPr/>
          <a:lstStyle/>
          <a:p>
            <a:endParaRPr lang="en-US"/>
          </a:p>
        </p:txBody>
      </p:sp>
      <p:sp>
        <p:nvSpPr>
          <p:cNvPr id="24" name="Shape 22"/>
          <p:cNvSpPr/>
          <p:nvPr/>
        </p:nvSpPr>
        <p:spPr>
          <a:xfrm>
            <a:off x="4846320" y="3493008"/>
            <a:ext cx="45719" cy="1115568"/>
          </a:xfrm>
          <a:prstGeom prst="rect">
            <a:avLst/>
          </a:prstGeom>
          <a:solidFill>
            <a:srgbClr val="BA7517"/>
          </a:solidFill>
          <a:ln w="12700">
            <a:solidFill>
              <a:srgbClr val="BA7517"/>
            </a:solidFill>
            <a:prstDash val="solid"/>
          </a:ln>
        </p:spPr>
        <p:txBody>
          <a:bodyPr/>
          <a:lstStyle/>
          <a:p>
            <a:endParaRPr lang="en-US"/>
          </a:p>
        </p:txBody>
      </p:sp>
      <p:sp>
        <p:nvSpPr>
          <p:cNvPr id="25" name="Text 23"/>
          <p:cNvSpPr/>
          <p:nvPr/>
        </p:nvSpPr>
        <p:spPr>
          <a:xfrm>
            <a:off x="5010912" y="3547872"/>
            <a:ext cx="3630168" cy="201168"/>
          </a:xfrm>
          <a:prstGeom prst="rect">
            <a:avLst/>
          </a:prstGeom>
          <a:noFill/>
          <a:ln/>
        </p:spPr>
        <p:txBody>
          <a:bodyPr wrap="square" lIns="0" tIns="0" rIns="0" bIns="0" rtlCol="0" anchor="ctr"/>
          <a:lstStyle/>
          <a:p>
            <a:pPr marL="0" indent="0" algn="l">
              <a:buNone/>
            </a:pPr>
            <a:r>
              <a:rPr lang="en-US" sz="1100" b="1" dirty="0">
                <a:solidFill>
                  <a:srgbClr val="854F0B"/>
                </a:solidFill>
                <a:latin typeface="Calibri" pitchFamily="34" charset="0"/>
                <a:ea typeface="Calibri" pitchFamily="34" charset="-122"/>
                <a:cs typeface="Calibri" pitchFamily="34" charset="-120"/>
              </a:rPr>
              <a:t>Why this correction matters</a:t>
            </a:r>
            <a:endParaRPr lang="en-US" sz="1100" dirty="0"/>
          </a:p>
        </p:txBody>
      </p:sp>
      <p:sp>
        <p:nvSpPr>
          <p:cNvPr id="26" name="Text 24"/>
          <p:cNvSpPr/>
          <p:nvPr/>
        </p:nvSpPr>
        <p:spPr>
          <a:xfrm>
            <a:off x="5010912" y="3767328"/>
            <a:ext cx="3630168" cy="493776"/>
          </a:xfrm>
          <a:prstGeom prst="rect">
            <a:avLst/>
          </a:prstGeom>
          <a:noFill/>
          <a:ln/>
        </p:spPr>
        <p:txBody>
          <a:bodyPr wrap="square" lIns="0" tIns="0" rIns="0" bIns="0" rtlCol="0" anchor="t"/>
          <a:lstStyle/>
          <a:p>
            <a:pPr marL="0" indent="0" algn="l">
              <a:buNone/>
            </a:pPr>
            <a:r>
              <a:rPr lang="en-US" sz="1050" dirty="0">
                <a:solidFill>
                  <a:srgbClr val="854F0B"/>
                </a:solidFill>
                <a:latin typeface="Calibri" pitchFamily="34" charset="0"/>
                <a:ea typeface="Calibri" pitchFamily="34" charset="-122"/>
                <a:cs typeface="Calibri" pitchFamily="34" charset="-120"/>
              </a:rPr>
              <a:t>Women who believe their Pap test screens for ovarian cancer may experience false reassurance after a normal result, making them less likely to report persistent symptoms or seek care promptly. Correcting this directly, without embarrassing the patient is one of the highest-value communication acts in this space.</a:t>
            </a:r>
            <a:endParaRPr lang="en-US" sz="1050" dirty="0"/>
          </a:p>
        </p:txBody>
      </p:sp>
      <p:sp>
        <p:nvSpPr>
          <p:cNvPr id="27" name="Shape 25"/>
          <p:cNvSpPr/>
          <p:nvPr/>
        </p:nvSpPr>
        <p:spPr>
          <a:xfrm>
            <a:off x="0" y="4777740"/>
            <a:ext cx="9144000" cy="365760"/>
          </a:xfrm>
          <a:prstGeom prst="rect">
            <a:avLst/>
          </a:prstGeom>
          <a:solidFill>
            <a:srgbClr val="053D30"/>
          </a:solidFill>
          <a:ln w="12700">
            <a:solidFill>
              <a:srgbClr val="053D30"/>
            </a:solidFill>
            <a:prstDash val="solid"/>
          </a:ln>
        </p:spPr>
        <p:txBody>
          <a:bodyPr/>
          <a:lstStyle/>
          <a:p>
            <a:endParaRPr lang="en-US"/>
          </a:p>
        </p:txBody>
      </p:sp>
      <p:sp>
        <p:nvSpPr>
          <p:cNvPr id="28" name="Text 26"/>
          <p:cNvSpPr/>
          <p:nvPr/>
        </p:nvSpPr>
        <p:spPr>
          <a:xfrm>
            <a:off x="411480" y="4809744"/>
            <a:ext cx="8321040" cy="256032"/>
          </a:xfrm>
          <a:prstGeom prst="rect">
            <a:avLst/>
          </a:prstGeom>
          <a:noFill/>
          <a:ln/>
        </p:spPr>
        <p:txBody>
          <a:bodyPr wrap="square" lIns="0" tIns="0" rIns="0" bIns="0" rtlCol="0" anchor="ctr"/>
          <a:lstStyle/>
          <a:p>
            <a:pPr marL="0" indent="0" algn="l">
              <a:buNone/>
            </a:pPr>
            <a:r>
              <a:rPr lang="en-US" sz="800" dirty="0">
                <a:solidFill>
                  <a:srgbClr val="7BBFAA"/>
                </a:solidFill>
                <a:latin typeface="Calibri" pitchFamily="34" charset="0"/>
                <a:ea typeface="Calibri" pitchFamily="34" charset="-122"/>
                <a:cs typeface="Calibri" pitchFamily="34" charset="-120"/>
              </a:rPr>
              <a:t>Evidence: Cooper et al. (2011), Hawkins et al. (2011), Lockwood-Rayermann et al. (2009) all document high prevalence of Pap test misconceptions across patient populations.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4  --  Investigating symptoms: when and how to act in primary care</a:t>
            </a:r>
            <a:endParaRPr lang="en-US" sz="800" dirty="0"/>
          </a:p>
        </p:txBody>
      </p:sp>
      <p:sp>
        <p:nvSpPr>
          <p:cNvPr id="3" name="Shape 1"/>
          <p:cNvSpPr/>
          <p:nvPr/>
        </p:nvSpPr>
        <p:spPr>
          <a:xfrm>
            <a:off x="0" y="0"/>
            <a:ext cx="9144000" cy="1298448"/>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28016"/>
            <a:ext cx="832104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4</a:t>
            </a:r>
            <a:endParaRPr lang="en-US" sz="800" dirty="0"/>
          </a:p>
        </p:txBody>
      </p:sp>
      <p:sp>
        <p:nvSpPr>
          <p:cNvPr id="5" name="Text 3"/>
          <p:cNvSpPr/>
          <p:nvPr/>
        </p:nvSpPr>
        <p:spPr>
          <a:xfrm>
            <a:off x="411480" y="365760"/>
            <a:ext cx="832104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Investigating symptoms: when and how to act</a:t>
            </a:r>
            <a:endParaRPr lang="en-US" sz="2600" dirty="0"/>
          </a:p>
        </p:txBody>
      </p:sp>
      <p:sp>
        <p:nvSpPr>
          <p:cNvPr id="6" name="Text 4"/>
          <p:cNvSpPr/>
          <p:nvPr/>
        </p:nvSpPr>
        <p:spPr>
          <a:xfrm>
            <a:off x="411480" y="1417320"/>
            <a:ext cx="8321040" cy="457200"/>
          </a:xfrm>
          <a:prstGeom prst="rect">
            <a:avLst/>
          </a:prstGeom>
          <a:noFill/>
          <a:ln/>
        </p:spPr>
        <p:txBody>
          <a:bodyPr wrap="square" lIns="0" tIns="0" rIns="0" bIns="0" rtlCol="0" anchor="ctr"/>
          <a:lstStyle/>
          <a:p>
            <a:pPr marL="0" indent="0" algn="l">
              <a:buNone/>
            </a:pPr>
            <a:r>
              <a:rPr lang="en-US" sz="1200" dirty="0">
                <a:solidFill>
                  <a:srgbClr val="2E4A40"/>
                </a:solidFill>
                <a:latin typeface="Calibri" pitchFamily="34" charset="0"/>
                <a:ea typeface="Calibri" pitchFamily="34" charset="-122"/>
                <a:cs typeface="Calibri" pitchFamily="34" charset="-120"/>
              </a:rPr>
              <a:t>Because there is no screening, the primary care encounter is the critical point in the diagnostic pathway. Consistent, timely response to symptoms is where outcomes are most likely to improve.</a:t>
            </a:r>
            <a:endParaRPr lang="en-US" sz="1200" dirty="0"/>
          </a:p>
        </p:txBody>
      </p:sp>
      <p:sp>
        <p:nvSpPr>
          <p:cNvPr id="7" name="Shape 5"/>
          <p:cNvSpPr/>
          <p:nvPr/>
        </p:nvSpPr>
        <p:spPr>
          <a:xfrm>
            <a:off x="411480" y="1956816"/>
            <a:ext cx="4069080" cy="2606040"/>
          </a:xfrm>
          <a:prstGeom prst="rect">
            <a:avLst/>
          </a:prstGeom>
          <a:solidFill>
            <a:srgbClr val="EBF7F2"/>
          </a:solidFill>
          <a:ln w="9525">
            <a:solidFill>
              <a:srgbClr val="C4E5D8"/>
            </a:solidFill>
            <a:prstDash val="solid"/>
          </a:ln>
        </p:spPr>
        <p:txBody>
          <a:bodyPr/>
          <a:lstStyle/>
          <a:p>
            <a:endParaRPr lang="en-US"/>
          </a:p>
        </p:txBody>
      </p:sp>
      <p:sp>
        <p:nvSpPr>
          <p:cNvPr id="8" name="Shape 6"/>
          <p:cNvSpPr/>
          <p:nvPr/>
        </p:nvSpPr>
        <p:spPr>
          <a:xfrm>
            <a:off x="411480" y="1956816"/>
            <a:ext cx="4069080" cy="329184"/>
          </a:xfrm>
          <a:prstGeom prst="rect">
            <a:avLst/>
          </a:prstGeom>
          <a:solidFill>
            <a:srgbClr val="0F6E56"/>
          </a:solidFill>
          <a:ln w="12700">
            <a:solidFill>
              <a:srgbClr val="0F6E56"/>
            </a:solidFill>
            <a:prstDash val="solid"/>
          </a:ln>
        </p:spPr>
        <p:txBody>
          <a:bodyPr/>
          <a:lstStyle/>
          <a:p>
            <a:endParaRPr lang="en-US"/>
          </a:p>
        </p:txBody>
      </p:sp>
      <p:sp>
        <p:nvSpPr>
          <p:cNvPr id="9" name="Text 7"/>
          <p:cNvSpPr/>
          <p:nvPr/>
        </p:nvSpPr>
        <p:spPr>
          <a:xfrm>
            <a:off x="530352" y="1993392"/>
            <a:ext cx="3840480" cy="237744"/>
          </a:xfrm>
          <a:prstGeom prst="rect">
            <a:avLst/>
          </a:prstGeom>
          <a:noFill/>
          <a:ln/>
        </p:spPr>
        <p:txBody>
          <a:bodyPr wrap="square" lIns="0" tIns="0" rIns="0" bIns="0" rtlCol="0" anchor="ctr"/>
          <a:lstStyle/>
          <a:p>
            <a:pPr marL="0" indent="0" algn="l">
              <a:buNone/>
            </a:pPr>
            <a:r>
              <a:rPr lang="en-US" sz="900" b="1" dirty="0">
                <a:solidFill>
                  <a:srgbClr val="FFFFFF"/>
                </a:solidFill>
                <a:latin typeface="Calibri" pitchFamily="34" charset="0"/>
                <a:ea typeface="Calibri" pitchFamily="34" charset="-122"/>
                <a:cs typeface="Calibri" pitchFamily="34" charset="-120"/>
              </a:rPr>
              <a:t>THE SYMPTOM INDEX - investigation threshold</a:t>
            </a:r>
            <a:endParaRPr lang="en-US" sz="900" dirty="0"/>
          </a:p>
        </p:txBody>
      </p:sp>
      <p:sp>
        <p:nvSpPr>
          <p:cNvPr id="10" name="Shape 8"/>
          <p:cNvSpPr/>
          <p:nvPr/>
        </p:nvSpPr>
        <p:spPr>
          <a:xfrm>
            <a:off x="411480" y="2359152"/>
            <a:ext cx="4069080" cy="329184"/>
          </a:xfrm>
          <a:prstGeom prst="rect">
            <a:avLst/>
          </a:prstGeom>
          <a:solidFill>
            <a:srgbClr val="FFFFFF"/>
          </a:solidFill>
          <a:ln w="12700">
            <a:solidFill>
              <a:srgbClr val="FFFFFF"/>
            </a:solidFill>
            <a:prstDash val="solid"/>
          </a:ln>
        </p:spPr>
        <p:txBody>
          <a:bodyPr/>
          <a:lstStyle/>
          <a:p>
            <a:endParaRPr lang="en-US"/>
          </a:p>
        </p:txBody>
      </p:sp>
      <p:sp>
        <p:nvSpPr>
          <p:cNvPr id="12" name="Text 10"/>
          <p:cNvSpPr/>
          <p:nvPr/>
        </p:nvSpPr>
        <p:spPr>
          <a:xfrm>
            <a:off x="621792" y="2395728"/>
            <a:ext cx="1828800" cy="256032"/>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Bloating</a:t>
            </a:r>
            <a:endParaRPr lang="en-US" sz="1050" dirty="0"/>
          </a:p>
        </p:txBody>
      </p:sp>
      <p:sp>
        <p:nvSpPr>
          <p:cNvPr id="13" name="Text 11"/>
          <p:cNvSpPr/>
          <p:nvPr/>
        </p:nvSpPr>
        <p:spPr>
          <a:xfrm>
            <a:off x="2468880" y="2395728"/>
            <a:ext cx="1920240" cy="256032"/>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New, frequent, persistent</a:t>
            </a:r>
            <a:endParaRPr lang="en-US" sz="1000" dirty="0"/>
          </a:p>
        </p:txBody>
      </p:sp>
      <p:sp>
        <p:nvSpPr>
          <p:cNvPr id="14" name="Shape 12"/>
          <p:cNvSpPr/>
          <p:nvPr/>
        </p:nvSpPr>
        <p:spPr>
          <a:xfrm>
            <a:off x="411480" y="2706624"/>
            <a:ext cx="4069080" cy="329184"/>
          </a:xfrm>
          <a:prstGeom prst="rect">
            <a:avLst/>
          </a:prstGeom>
          <a:solidFill>
            <a:srgbClr val="EBF7F2"/>
          </a:solidFill>
          <a:ln w="12700">
            <a:solidFill>
              <a:srgbClr val="EBF7F2"/>
            </a:solidFill>
            <a:prstDash val="solid"/>
          </a:ln>
        </p:spPr>
        <p:txBody>
          <a:bodyPr/>
          <a:lstStyle/>
          <a:p>
            <a:endParaRPr lang="en-US"/>
          </a:p>
        </p:txBody>
      </p:sp>
      <p:sp>
        <p:nvSpPr>
          <p:cNvPr id="16" name="Text 14"/>
          <p:cNvSpPr/>
          <p:nvPr/>
        </p:nvSpPr>
        <p:spPr>
          <a:xfrm>
            <a:off x="621792" y="2743200"/>
            <a:ext cx="1828800" cy="256032"/>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Pelvic or abdominal pain</a:t>
            </a:r>
            <a:endParaRPr lang="en-US" sz="1050" dirty="0"/>
          </a:p>
        </p:txBody>
      </p:sp>
      <p:sp>
        <p:nvSpPr>
          <p:cNvPr id="17" name="Text 15"/>
          <p:cNvSpPr/>
          <p:nvPr/>
        </p:nvSpPr>
        <p:spPr>
          <a:xfrm>
            <a:off x="2468880" y="2743200"/>
            <a:ext cx="1920240" cy="256032"/>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Including pressure or discomfort</a:t>
            </a:r>
            <a:endParaRPr lang="en-US" sz="1000" dirty="0"/>
          </a:p>
        </p:txBody>
      </p:sp>
      <p:sp>
        <p:nvSpPr>
          <p:cNvPr id="18" name="Shape 16"/>
          <p:cNvSpPr/>
          <p:nvPr/>
        </p:nvSpPr>
        <p:spPr>
          <a:xfrm>
            <a:off x="411480" y="3054096"/>
            <a:ext cx="4069080" cy="329184"/>
          </a:xfrm>
          <a:prstGeom prst="rect">
            <a:avLst/>
          </a:prstGeom>
          <a:solidFill>
            <a:srgbClr val="FFFFFF"/>
          </a:solidFill>
          <a:ln w="12700">
            <a:solidFill>
              <a:srgbClr val="FFFFFF"/>
            </a:solidFill>
            <a:prstDash val="solid"/>
          </a:ln>
        </p:spPr>
        <p:txBody>
          <a:bodyPr/>
          <a:lstStyle/>
          <a:p>
            <a:endParaRPr lang="en-US"/>
          </a:p>
        </p:txBody>
      </p:sp>
      <p:sp>
        <p:nvSpPr>
          <p:cNvPr id="20" name="Text 18"/>
          <p:cNvSpPr/>
          <p:nvPr/>
        </p:nvSpPr>
        <p:spPr>
          <a:xfrm>
            <a:off x="621792" y="3090672"/>
            <a:ext cx="1828800" cy="256032"/>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Early satiety or difficulty eating</a:t>
            </a:r>
            <a:endParaRPr lang="en-US" sz="1050" dirty="0"/>
          </a:p>
        </p:txBody>
      </p:sp>
      <p:sp>
        <p:nvSpPr>
          <p:cNvPr id="21" name="Text 19"/>
          <p:cNvSpPr/>
          <p:nvPr/>
        </p:nvSpPr>
        <p:spPr>
          <a:xfrm>
            <a:off x="2468880" y="3090672"/>
            <a:ext cx="1920240" cy="256032"/>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Feeling full quickly</a:t>
            </a:r>
            <a:endParaRPr lang="en-US" sz="1000" dirty="0"/>
          </a:p>
        </p:txBody>
      </p:sp>
      <p:sp>
        <p:nvSpPr>
          <p:cNvPr id="22" name="Shape 20"/>
          <p:cNvSpPr/>
          <p:nvPr/>
        </p:nvSpPr>
        <p:spPr>
          <a:xfrm>
            <a:off x="411480" y="3401568"/>
            <a:ext cx="4069080" cy="329184"/>
          </a:xfrm>
          <a:prstGeom prst="rect">
            <a:avLst/>
          </a:prstGeom>
          <a:solidFill>
            <a:srgbClr val="EBF7F2"/>
          </a:solidFill>
          <a:ln w="12700">
            <a:solidFill>
              <a:srgbClr val="EBF7F2"/>
            </a:solidFill>
            <a:prstDash val="solid"/>
          </a:ln>
        </p:spPr>
        <p:txBody>
          <a:bodyPr/>
          <a:lstStyle/>
          <a:p>
            <a:endParaRPr lang="en-US"/>
          </a:p>
        </p:txBody>
      </p:sp>
      <p:sp>
        <p:nvSpPr>
          <p:cNvPr id="24" name="Text 22"/>
          <p:cNvSpPr/>
          <p:nvPr/>
        </p:nvSpPr>
        <p:spPr>
          <a:xfrm>
            <a:off x="621792" y="3438144"/>
            <a:ext cx="1828800" cy="256032"/>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Urinary urgency or frequency</a:t>
            </a:r>
            <a:endParaRPr lang="en-US" sz="1050" dirty="0"/>
          </a:p>
        </p:txBody>
      </p:sp>
      <p:sp>
        <p:nvSpPr>
          <p:cNvPr id="25" name="Text 23"/>
          <p:cNvSpPr/>
          <p:nvPr/>
        </p:nvSpPr>
        <p:spPr>
          <a:xfrm>
            <a:off x="2468880" y="3438144"/>
            <a:ext cx="1920240" cy="256032"/>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New change from baseline</a:t>
            </a:r>
            <a:endParaRPr lang="en-US" sz="1000" dirty="0"/>
          </a:p>
        </p:txBody>
      </p:sp>
      <p:sp>
        <p:nvSpPr>
          <p:cNvPr id="26" name="Shape 24"/>
          <p:cNvSpPr/>
          <p:nvPr/>
        </p:nvSpPr>
        <p:spPr>
          <a:xfrm>
            <a:off x="411480" y="3749040"/>
            <a:ext cx="4069080" cy="329184"/>
          </a:xfrm>
          <a:prstGeom prst="rect">
            <a:avLst/>
          </a:prstGeom>
          <a:solidFill>
            <a:srgbClr val="FFFFFF"/>
          </a:solidFill>
          <a:ln w="12700">
            <a:solidFill>
              <a:srgbClr val="FFFFFF"/>
            </a:solidFill>
            <a:prstDash val="solid"/>
          </a:ln>
        </p:spPr>
        <p:txBody>
          <a:bodyPr/>
          <a:lstStyle/>
          <a:p>
            <a:endParaRPr lang="en-US"/>
          </a:p>
        </p:txBody>
      </p:sp>
      <p:sp>
        <p:nvSpPr>
          <p:cNvPr id="28" name="Text 26"/>
          <p:cNvSpPr/>
          <p:nvPr/>
        </p:nvSpPr>
        <p:spPr>
          <a:xfrm>
            <a:off x="621792" y="3785616"/>
            <a:ext cx="1828800" cy="256032"/>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Unexplained weight loss</a:t>
            </a:r>
            <a:endParaRPr lang="en-US" sz="1050" dirty="0"/>
          </a:p>
        </p:txBody>
      </p:sp>
      <p:sp>
        <p:nvSpPr>
          <p:cNvPr id="29" name="Text 27"/>
          <p:cNvSpPr/>
          <p:nvPr/>
        </p:nvSpPr>
        <p:spPr>
          <a:xfrm>
            <a:off x="2468880" y="3785616"/>
            <a:ext cx="1920240" cy="256032"/>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Or abdominal swelling</a:t>
            </a:r>
            <a:endParaRPr lang="en-US" sz="1000" dirty="0"/>
          </a:p>
        </p:txBody>
      </p:sp>
      <p:sp>
        <p:nvSpPr>
          <p:cNvPr id="30" name="Shape 28"/>
          <p:cNvSpPr/>
          <p:nvPr/>
        </p:nvSpPr>
        <p:spPr>
          <a:xfrm>
            <a:off x="411480" y="4096512"/>
            <a:ext cx="4069080" cy="329184"/>
          </a:xfrm>
          <a:prstGeom prst="rect">
            <a:avLst/>
          </a:prstGeom>
          <a:solidFill>
            <a:srgbClr val="EBF7F2"/>
          </a:solidFill>
          <a:ln w="12700">
            <a:solidFill>
              <a:srgbClr val="EBF7F2"/>
            </a:solidFill>
            <a:prstDash val="solid"/>
          </a:ln>
        </p:spPr>
        <p:txBody>
          <a:bodyPr/>
          <a:lstStyle/>
          <a:p>
            <a:endParaRPr lang="en-US"/>
          </a:p>
        </p:txBody>
      </p:sp>
      <p:sp>
        <p:nvSpPr>
          <p:cNvPr id="32" name="Text 30"/>
          <p:cNvSpPr/>
          <p:nvPr/>
        </p:nvSpPr>
        <p:spPr>
          <a:xfrm>
            <a:off x="621792" y="4133088"/>
            <a:ext cx="1828800" cy="256032"/>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Change in bowel habits</a:t>
            </a:r>
            <a:endParaRPr lang="en-US" sz="1050" dirty="0"/>
          </a:p>
        </p:txBody>
      </p:sp>
      <p:sp>
        <p:nvSpPr>
          <p:cNvPr id="33" name="Text 31"/>
          <p:cNvSpPr/>
          <p:nvPr/>
        </p:nvSpPr>
        <p:spPr>
          <a:xfrm>
            <a:off x="2468880" y="4133088"/>
            <a:ext cx="1920240" cy="256032"/>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Not explained by diet change</a:t>
            </a:r>
            <a:endParaRPr lang="en-US" sz="1000" dirty="0"/>
          </a:p>
        </p:txBody>
      </p:sp>
      <p:sp>
        <p:nvSpPr>
          <p:cNvPr id="34" name="Shape 32"/>
          <p:cNvSpPr/>
          <p:nvPr/>
        </p:nvSpPr>
        <p:spPr>
          <a:xfrm>
            <a:off x="411480" y="4434840"/>
            <a:ext cx="4069080" cy="475488"/>
          </a:xfrm>
          <a:prstGeom prst="rect">
            <a:avLst/>
          </a:prstGeom>
          <a:solidFill>
            <a:srgbClr val="FAEEDA"/>
          </a:solidFill>
          <a:ln w="12700">
            <a:solidFill>
              <a:srgbClr val="FAEEDA"/>
            </a:solidFill>
            <a:prstDash val="solid"/>
          </a:ln>
        </p:spPr>
        <p:txBody>
          <a:bodyPr/>
          <a:lstStyle/>
          <a:p>
            <a:endParaRPr lang="en-US"/>
          </a:p>
        </p:txBody>
      </p:sp>
      <p:sp>
        <p:nvSpPr>
          <p:cNvPr id="35" name="Shape 33"/>
          <p:cNvSpPr/>
          <p:nvPr/>
        </p:nvSpPr>
        <p:spPr>
          <a:xfrm>
            <a:off x="411480" y="4434840"/>
            <a:ext cx="64008" cy="475488"/>
          </a:xfrm>
          <a:prstGeom prst="rect">
            <a:avLst/>
          </a:prstGeom>
          <a:solidFill>
            <a:srgbClr val="BA7517"/>
          </a:solidFill>
          <a:ln w="12700">
            <a:solidFill>
              <a:srgbClr val="BA7517"/>
            </a:solidFill>
            <a:prstDash val="solid"/>
          </a:ln>
        </p:spPr>
        <p:txBody>
          <a:bodyPr/>
          <a:lstStyle/>
          <a:p>
            <a:endParaRPr lang="en-US"/>
          </a:p>
        </p:txBody>
      </p:sp>
      <p:sp>
        <p:nvSpPr>
          <p:cNvPr id="36" name="Text 34"/>
          <p:cNvSpPr/>
          <p:nvPr/>
        </p:nvSpPr>
        <p:spPr>
          <a:xfrm>
            <a:off x="548640" y="4480560"/>
            <a:ext cx="3840480" cy="365760"/>
          </a:xfrm>
          <a:prstGeom prst="rect">
            <a:avLst/>
          </a:prstGeom>
          <a:noFill/>
          <a:ln/>
        </p:spPr>
        <p:txBody>
          <a:bodyPr wrap="square" lIns="0" tIns="0" rIns="0" bIns="0" rtlCol="0" anchor="ctr"/>
          <a:lstStyle/>
          <a:p>
            <a:pPr marL="0" indent="0" algn="l">
              <a:buNone/>
            </a:pPr>
            <a:r>
              <a:rPr lang="en-US" sz="1100" b="1" dirty="0">
                <a:solidFill>
                  <a:srgbClr val="854F0B"/>
                </a:solidFill>
                <a:latin typeface="Calibri" pitchFamily="34" charset="0"/>
                <a:ea typeface="Calibri" pitchFamily="34" charset="-122"/>
                <a:cs typeface="Calibri" pitchFamily="34" charset="-120"/>
              </a:rPr>
              <a:t>Investigate if symptoms occur 12 or more times per month AND are new or represent a change from the patient's baseline.</a:t>
            </a:r>
            <a:endParaRPr lang="en-US" sz="1100" dirty="0"/>
          </a:p>
        </p:txBody>
      </p:sp>
      <p:sp>
        <p:nvSpPr>
          <p:cNvPr id="37" name="Text 35"/>
          <p:cNvSpPr/>
          <p:nvPr/>
        </p:nvSpPr>
        <p:spPr>
          <a:xfrm>
            <a:off x="4663440" y="1956816"/>
            <a:ext cx="4114800" cy="292608"/>
          </a:xfrm>
          <a:prstGeom prst="rect">
            <a:avLst/>
          </a:prstGeom>
          <a:noFill/>
          <a:ln/>
        </p:spPr>
        <p:txBody>
          <a:bodyPr wrap="square" lIns="0" tIns="0" rIns="0" bIns="0" rtlCol="0" anchor="ctr"/>
          <a:lstStyle/>
          <a:p>
            <a:pPr marL="0" indent="0" algn="l">
              <a:buNone/>
            </a:pPr>
            <a:r>
              <a:rPr lang="en-US" sz="1300" b="1" dirty="0">
                <a:solidFill>
                  <a:srgbClr val="0F6E56"/>
                </a:solidFill>
                <a:latin typeface="Calibri" pitchFamily="34" charset="0"/>
                <a:ea typeface="Calibri" pitchFamily="34" charset="-122"/>
                <a:cs typeface="Calibri" pitchFamily="34" charset="-120"/>
              </a:rPr>
              <a:t>Initial investigation steps</a:t>
            </a:r>
            <a:endParaRPr lang="en-US" sz="1300" dirty="0"/>
          </a:p>
        </p:txBody>
      </p:sp>
      <p:sp>
        <p:nvSpPr>
          <p:cNvPr id="38" name="Shape 36"/>
          <p:cNvSpPr/>
          <p:nvPr/>
        </p:nvSpPr>
        <p:spPr>
          <a:xfrm>
            <a:off x="4663440" y="2231136"/>
            <a:ext cx="4114800" cy="566928"/>
          </a:xfrm>
          <a:prstGeom prst="rect">
            <a:avLst/>
          </a:prstGeom>
          <a:solidFill>
            <a:srgbClr val="EBF7F2"/>
          </a:solidFill>
          <a:ln w="12700">
            <a:solidFill>
              <a:srgbClr val="EBF7F2"/>
            </a:solidFill>
            <a:prstDash val="solid"/>
          </a:ln>
        </p:spPr>
        <p:txBody>
          <a:bodyPr/>
          <a:lstStyle/>
          <a:p>
            <a:endParaRPr lang="en-US"/>
          </a:p>
        </p:txBody>
      </p:sp>
      <p:sp>
        <p:nvSpPr>
          <p:cNvPr id="40" name="Text 38"/>
          <p:cNvSpPr/>
          <p:nvPr/>
        </p:nvSpPr>
        <p:spPr>
          <a:xfrm>
            <a:off x="4718304" y="2423160"/>
            <a:ext cx="274320" cy="274320"/>
          </a:xfrm>
          <a:prstGeom prst="rect">
            <a:avLst/>
          </a:prstGeom>
          <a:noFill/>
          <a:ln/>
        </p:spPr>
        <p:txBody>
          <a:bodyPr wrap="square" lIns="0" tIns="0" rIns="0" bIns="0" rtlCol="0" anchor="ctr"/>
          <a:lstStyle/>
          <a:p>
            <a:pPr marL="0" indent="0" algn="ctr">
              <a:buNone/>
            </a:pPr>
            <a:r>
              <a:rPr lang="en-US" sz="1000" b="1" dirty="0">
                <a:solidFill>
                  <a:schemeClr val="accent6">
                    <a:lumMod val="50000"/>
                  </a:schemeClr>
                </a:solidFill>
                <a:latin typeface="Calibri" pitchFamily="34" charset="0"/>
                <a:ea typeface="Calibri" pitchFamily="34" charset="-122"/>
                <a:cs typeface="Calibri" pitchFamily="34" charset="-120"/>
              </a:rPr>
              <a:t>1</a:t>
            </a:r>
            <a:endParaRPr lang="en-US" sz="1000" dirty="0">
              <a:solidFill>
                <a:schemeClr val="accent6">
                  <a:lumMod val="50000"/>
                </a:schemeClr>
              </a:solidFill>
            </a:endParaRPr>
          </a:p>
        </p:txBody>
      </p:sp>
      <p:sp>
        <p:nvSpPr>
          <p:cNvPr id="41" name="Text 39"/>
          <p:cNvSpPr/>
          <p:nvPr/>
        </p:nvSpPr>
        <p:spPr>
          <a:xfrm>
            <a:off x="5065776" y="2377440"/>
            <a:ext cx="1554480" cy="365760"/>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Take a symptom history</a:t>
            </a:r>
            <a:endParaRPr lang="en-US" sz="1050" dirty="0"/>
          </a:p>
        </p:txBody>
      </p:sp>
      <p:sp>
        <p:nvSpPr>
          <p:cNvPr id="42" name="Text 40"/>
          <p:cNvSpPr/>
          <p:nvPr/>
        </p:nvSpPr>
        <p:spPr>
          <a:xfrm>
            <a:off x="6656832" y="2318420"/>
            <a:ext cx="2157984" cy="402336"/>
          </a:xfrm>
          <a:prstGeom prst="rect">
            <a:avLst/>
          </a:prstGeom>
          <a:noFill/>
          <a:ln/>
        </p:spPr>
        <p:txBody>
          <a:bodyPr wrap="square" lIns="0" tIns="0" rIns="0" bIns="0" rtlCol="0" anchor="ctr"/>
          <a:lstStyle/>
          <a:p>
            <a:pPr marL="0" indent="0" algn="l">
              <a:buNone/>
            </a:pPr>
            <a:r>
              <a:rPr lang="en-US" sz="1000" dirty="0">
                <a:solidFill>
                  <a:srgbClr val="2E4A40"/>
                </a:solidFill>
                <a:latin typeface="Calibri" pitchFamily="34" charset="0"/>
                <a:ea typeface="Calibri" pitchFamily="34" charset="-122"/>
                <a:cs typeface="Calibri" pitchFamily="34" charset="-120"/>
              </a:rPr>
              <a:t>Duration, frequency, change from baseline. Ask specifically about bloating, pelvic pain, satiety, and urinary changes.</a:t>
            </a:r>
            <a:endParaRPr lang="en-US" sz="1000" dirty="0"/>
          </a:p>
        </p:txBody>
      </p:sp>
      <p:sp>
        <p:nvSpPr>
          <p:cNvPr id="43" name="Shape 41"/>
          <p:cNvSpPr/>
          <p:nvPr/>
        </p:nvSpPr>
        <p:spPr>
          <a:xfrm>
            <a:off x="4663440" y="2834640"/>
            <a:ext cx="4114800" cy="475488"/>
          </a:xfrm>
          <a:prstGeom prst="rect">
            <a:avLst/>
          </a:prstGeom>
          <a:solidFill>
            <a:srgbClr val="FFFFFF"/>
          </a:solidFill>
          <a:ln w="12700">
            <a:solidFill>
              <a:srgbClr val="FFFFFF"/>
            </a:solidFill>
            <a:prstDash val="solid"/>
          </a:ln>
        </p:spPr>
        <p:txBody>
          <a:bodyPr/>
          <a:lstStyle/>
          <a:p>
            <a:endParaRPr lang="en-US"/>
          </a:p>
        </p:txBody>
      </p:sp>
      <p:sp>
        <p:nvSpPr>
          <p:cNvPr id="45" name="Text 43"/>
          <p:cNvSpPr/>
          <p:nvPr/>
        </p:nvSpPr>
        <p:spPr>
          <a:xfrm>
            <a:off x="4718304" y="2935224"/>
            <a:ext cx="274320" cy="274320"/>
          </a:xfrm>
          <a:prstGeom prst="rect">
            <a:avLst/>
          </a:prstGeom>
          <a:noFill/>
          <a:ln/>
        </p:spPr>
        <p:txBody>
          <a:bodyPr wrap="square" lIns="0" tIns="0" rIns="0" bIns="0" rtlCol="0" anchor="ctr"/>
          <a:lstStyle/>
          <a:p>
            <a:pPr marL="0" indent="0" algn="ctr">
              <a:buNone/>
            </a:pPr>
            <a:r>
              <a:rPr lang="en-US" sz="1000" b="1" dirty="0">
                <a:solidFill>
                  <a:schemeClr val="accent6">
                    <a:lumMod val="50000"/>
                  </a:schemeClr>
                </a:solidFill>
                <a:latin typeface="Calibri" pitchFamily="34" charset="0"/>
                <a:ea typeface="Calibri" pitchFamily="34" charset="-122"/>
                <a:cs typeface="Calibri" pitchFamily="34" charset="-120"/>
              </a:rPr>
              <a:t>2</a:t>
            </a:r>
            <a:endParaRPr lang="en-US" sz="1000" dirty="0">
              <a:solidFill>
                <a:schemeClr val="accent6">
                  <a:lumMod val="50000"/>
                </a:schemeClr>
              </a:solidFill>
            </a:endParaRPr>
          </a:p>
        </p:txBody>
      </p:sp>
      <p:sp>
        <p:nvSpPr>
          <p:cNvPr id="46" name="Text 44"/>
          <p:cNvSpPr/>
          <p:nvPr/>
        </p:nvSpPr>
        <p:spPr>
          <a:xfrm>
            <a:off x="5065776" y="2889504"/>
            <a:ext cx="1554480" cy="365760"/>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Pelvic examination</a:t>
            </a:r>
            <a:endParaRPr lang="en-US" sz="1050" dirty="0"/>
          </a:p>
        </p:txBody>
      </p:sp>
      <p:sp>
        <p:nvSpPr>
          <p:cNvPr id="47" name="Text 45"/>
          <p:cNvSpPr/>
          <p:nvPr/>
        </p:nvSpPr>
        <p:spPr>
          <a:xfrm>
            <a:off x="6675120" y="2871216"/>
            <a:ext cx="2029968" cy="402336"/>
          </a:xfrm>
          <a:prstGeom prst="rect">
            <a:avLst/>
          </a:prstGeom>
          <a:noFill/>
          <a:ln/>
        </p:spPr>
        <p:txBody>
          <a:bodyPr wrap="square" lIns="0" tIns="0" rIns="0" bIns="0" rtlCol="0" anchor="ctr"/>
          <a:lstStyle/>
          <a:p>
            <a:pPr marL="0" indent="0" algn="l">
              <a:buNone/>
            </a:pPr>
            <a:r>
              <a:rPr lang="en-US" sz="1000" dirty="0">
                <a:solidFill>
                  <a:srgbClr val="2E4A40"/>
                </a:solidFill>
                <a:latin typeface="Calibri" pitchFamily="34" charset="0"/>
                <a:ea typeface="Calibri" pitchFamily="34" charset="-122"/>
                <a:cs typeface="Calibri" pitchFamily="34" charset="-120"/>
              </a:rPr>
              <a:t>Including bimanual and speculum examination to assess for adnexal mass or abnormality.</a:t>
            </a:r>
            <a:endParaRPr lang="en-US" sz="1000" dirty="0"/>
          </a:p>
        </p:txBody>
      </p:sp>
      <p:sp>
        <p:nvSpPr>
          <p:cNvPr id="48" name="Shape 46"/>
          <p:cNvSpPr/>
          <p:nvPr/>
        </p:nvSpPr>
        <p:spPr>
          <a:xfrm>
            <a:off x="4663440" y="3346704"/>
            <a:ext cx="4114800" cy="475488"/>
          </a:xfrm>
          <a:prstGeom prst="rect">
            <a:avLst/>
          </a:prstGeom>
          <a:solidFill>
            <a:srgbClr val="EBF7F2"/>
          </a:solidFill>
          <a:ln w="12700">
            <a:solidFill>
              <a:srgbClr val="EBF7F2"/>
            </a:solidFill>
            <a:prstDash val="solid"/>
          </a:ln>
        </p:spPr>
        <p:txBody>
          <a:bodyPr/>
          <a:lstStyle/>
          <a:p>
            <a:endParaRPr lang="en-US"/>
          </a:p>
        </p:txBody>
      </p:sp>
      <p:sp>
        <p:nvSpPr>
          <p:cNvPr id="50" name="Text 48"/>
          <p:cNvSpPr/>
          <p:nvPr/>
        </p:nvSpPr>
        <p:spPr>
          <a:xfrm>
            <a:off x="4718304" y="3447288"/>
            <a:ext cx="274320" cy="274320"/>
          </a:xfrm>
          <a:prstGeom prst="rect">
            <a:avLst/>
          </a:prstGeom>
          <a:noFill/>
          <a:ln/>
        </p:spPr>
        <p:txBody>
          <a:bodyPr wrap="square" lIns="0" tIns="0" rIns="0" bIns="0" rtlCol="0" anchor="ctr"/>
          <a:lstStyle/>
          <a:p>
            <a:pPr marL="0" indent="0" algn="ctr">
              <a:buNone/>
            </a:pPr>
            <a:r>
              <a:rPr lang="en-US" sz="1000" b="1" dirty="0">
                <a:solidFill>
                  <a:schemeClr val="accent6">
                    <a:lumMod val="50000"/>
                  </a:schemeClr>
                </a:solidFill>
                <a:latin typeface="Calibri" pitchFamily="34" charset="0"/>
                <a:ea typeface="Calibri" pitchFamily="34" charset="-122"/>
                <a:cs typeface="Calibri" pitchFamily="34" charset="-120"/>
              </a:rPr>
              <a:t>3</a:t>
            </a:r>
            <a:endParaRPr lang="en-US" sz="1000" dirty="0">
              <a:solidFill>
                <a:schemeClr val="accent6">
                  <a:lumMod val="50000"/>
                </a:schemeClr>
              </a:solidFill>
            </a:endParaRPr>
          </a:p>
        </p:txBody>
      </p:sp>
      <p:sp>
        <p:nvSpPr>
          <p:cNvPr id="51" name="Text 49"/>
          <p:cNvSpPr/>
          <p:nvPr/>
        </p:nvSpPr>
        <p:spPr>
          <a:xfrm>
            <a:off x="5065776" y="3401568"/>
            <a:ext cx="1554480" cy="365760"/>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CA-125 blood test</a:t>
            </a:r>
            <a:endParaRPr lang="en-US" sz="1050" dirty="0"/>
          </a:p>
        </p:txBody>
      </p:sp>
      <p:sp>
        <p:nvSpPr>
          <p:cNvPr id="52" name="Text 50"/>
          <p:cNvSpPr/>
          <p:nvPr/>
        </p:nvSpPr>
        <p:spPr>
          <a:xfrm>
            <a:off x="6675120" y="3383280"/>
            <a:ext cx="2029968" cy="402336"/>
          </a:xfrm>
          <a:prstGeom prst="rect">
            <a:avLst/>
          </a:prstGeom>
          <a:noFill/>
          <a:ln/>
        </p:spPr>
        <p:txBody>
          <a:bodyPr wrap="square" lIns="0" tIns="0" rIns="0" bIns="0" rtlCol="0" anchor="ctr"/>
          <a:lstStyle/>
          <a:p>
            <a:pPr marL="0" indent="0" algn="l">
              <a:buNone/>
            </a:pPr>
            <a:r>
              <a:rPr lang="en-US" sz="1000" dirty="0">
                <a:solidFill>
                  <a:srgbClr val="2E4A40"/>
                </a:solidFill>
                <a:latin typeface="Calibri" pitchFamily="34" charset="0"/>
                <a:ea typeface="Calibri" pitchFamily="34" charset="-122"/>
                <a:cs typeface="Calibri" pitchFamily="34" charset="-120"/>
              </a:rPr>
              <a:t>Order alongside pelvic ultrasound when symptoms meet the investigation threshold.</a:t>
            </a:r>
            <a:endParaRPr lang="en-US" sz="1000" dirty="0"/>
          </a:p>
        </p:txBody>
      </p:sp>
      <p:sp>
        <p:nvSpPr>
          <p:cNvPr id="53" name="Shape 51"/>
          <p:cNvSpPr/>
          <p:nvPr/>
        </p:nvSpPr>
        <p:spPr>
          <a:xfrm>
            <a:off x="4663440" y="3858768"/>
            <a:ext cx="4114800" cy="475488"/>
          </a:xfrm>
          <a:prstGeom prst="rect">
            <a:avLst/>
          </a:prstGeom>
          <a:solidFill>
            <a:srgbClr val="FFFFFF"/>
          </a:solidFill>
          <a:ln w="12700">
            <a:solidFill>
              <a:srgbClr val="FFFFFF"/>
            </a:solidFill>
            <a:prstDash val="solid"/>
          </a:ln>
        </p:spPr>
        <p:txBody>
          <a:bodyPr/>
          <a:lstStyle/>
          <a:p>
            <a:endParaRPr lang="en-US"/>
          </a:p>
        </p:txBody>
      </p:sp>
      <p:sp>
        <p:nvSpPr>
          <p:cNvPr id="55" name="Text 53"/>
          <p:cNvSpPr/>
          <p:nvPr/>
        </p:nvSpPr>
        <p:spPr>
          <a:xfrm>
            <a:off x="4718304" y="3959352"/>
            <a:ext cx="274320" cy="274320"/>
          </a:xfrm>
          <a:prstGeom prst="rect">
            <a:avLst/>
          </a:prstGeom>
          <a:noFill/>
          <a:ln/>
        </p:spPr>
        <p:txBody>
          <a:bodyPr wrap="square" lIns="0" tIns="0" rIns="0" bIns="0" rtlCol="0" anchor="ctr"/>
          <a:lstStyle/>
          <a:p>
            <a:pPr marL="0" indent="0" algn="ctr">
              <a:buNone/>
            </a:pPr>
            <a:r>
              <a:rPr lang="en-US" sz="1000" b="1" dirty="0">
                <a:solidFill>
                  <a:schemeClr val="accent6">
                    <a:lumMod val="50000"/>
                  </a:schemeClr>
                </a:solidFill>
                <a:latin typeface="Calibri" pitchFamily="34" charset="0"/>
                <a:ea typeface="Calibri" pitchFamily="34" charset="-122"/>
                <a:cs typeface="Calibri" pitchFamily="34" charset="-120"/>
              </a:rPr>
              <a:t>4</a:t>
            </a:r>
            <a:endParaRPr lang="en-US" sz="1000" dirty="0">
              <a:solidFill>
                <a:schemeClr val="accent6">
                  <a:lumMod val="50000"/>
                </a:schemeClr>
              </a:solidFill>
            </a:endParaRPr>
          </a:p>
        </p:txBody>
      </p:sp>
      <p:sp>
        <p:nvSpPr>
          <p:cNvPr id="56" name="Text 54"/>
          <p:cNvSpPr/>
          <p:nvPr/>
        </p:nvSpPr>
        <p:spPr>
          <a:xfrm>
            <a:off x="5065776" y="3913632"/>
            <a:ext cx="1554480" cy="365760"/>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Transvaginal ultrasound</a:t>
            </a:r>
            <a:endParaRPr lang="en-US" sz="1050" dirty="0"/>
          </a:p>
        </p:txBody>
      </p:sp>
      <p:sp>
        <p:nvSpPr>
          <p:cNvPr id="57" name="Text 55"/>
          <p:cNvSpPr/>
          <p:nvPr/>
        </p:nvSpPr>
        <p:spPr>
          <a:xfrm>
            <a:off x="6684264" y="3877056"/>
            <a:ext cx="2029968" cy="402336"/>
          </a:xfrm>
          <a:prstGeom prst="rect">
            <a:avLst/>
          </a:prstGeom>
          <a:noFill/>
          <a:ln/>
        </p:spPr>
        <p:txBody>
          <a:bodyPr wrap="square" lIns="0" tIns="0" rIns="0" bIns="0" rtlCol="0" anchor="ctr"/>
          <a:lstStyle/>
          <a:p>
            <a:pPr marL="0" indent="0" algn="l">
              <a:buNone/>
            </a:pPr>
            <a:r>
              <a:rPr lang="en-US" sz="1000" dirty="0">
                <a:solidFill>
                  <a:srgbClr val="2E4A40"/>
                </a:solidFill>
                <a:latin typeface="Calibri" pitchFamily="34" charset="0"/>
                <a:ea typeface="Calibri" pitchFamily="34" charset="-122"/>
                <a:cs typeface="Calibri" pitchFamily="34" charset="-120"/>
              </a:rPr>
              <a:t>Preferred over transabdominal. If result is abnormal or CA-125 is elevated, refer urgently.</a:t>
            </a:r>
            <a:endParaRPr lang="en-US" sz="1000" dirty="0"/>
          </a:p>
        </p:txBody>
      </p:sp>
      <p:sp>
        <p:nvSpPr>
          <p:cNvPr id="58" name="Shape 56"/>
          <p:cNvSpPr/>
          <p:nvPr/>
        </p:nvSpPr>
        <p:spPr>
          <a:xfrm>
            <a:off x="4663440" y="4370832"/>
            <a:ext cx="4114800" cy="772668"/>
          </a:xfrm>
          <a:prstGeom prst="rect">
            <a:avLst/>
          </a:prstGeom>
          <a:solidFill>
            <a:srgbClr val="EBF7F2"/>
          </a:solidFill>
          <a:ln w="12700">
            <a:solidFill>
              <a:srgbClr val="EBF7F2"/>
            </a:solidFill>
            <a:prstDash val="solid"/>
          </a:ln>
        </p:spPr>
        <p:txBody>
          <a:bodyPr/>
          <a:lstStyle/>
          <a:p>
            <a:endParaRPr lang="en-US"/>
          </a:p>
        </p:txBody>
      </p:sp>
      <p:sp>
        <p:nvSpPr>
          <p:cNvPr id="60" name="Text 58"/>
          <p:cNvSpPr/>
          <p:nvPr/>
        </p:nvSpPr>
        <p:spPr>
          <a:xfrm>
            <a:off x="4718304" y="4471416"/>
            <a:ext cx="274320" cy="274320"/>
          </a:xfrm>
          <a:prstGeom prst="rect">
            <a:avLst/>
          </a:prstGeom>
          <a:noFill/>
          <a:ln/>
        </p:spPr>
        <p:txBody>
          <a:bodyPr wrap="square" lIns="0" tIns="0" rIns="0" bIns="0" rtlCol="0" anchor="ctr"/>
          <a:lstStyle/>
          <a:p>
            <a:pPr marL="0" indent="0" algn="ctr">
              <a:buNone/>
            </a:pPr>
            <a:r>
              <a:rPr lang="en-US" sz="1000" b="1" dirty="0">
                <a:solidFill>
                  <a:schemeClr val="accent6">
                    <a:lumMod val="50000"/>
                  </a:schemeClr>
                </a:solidFill>
                <a:latin typeface="Calibri" pitchFamily="34" charset="0"/>
                <a:ea typeface="Calibri" pitchFamily="34" charset="-122"/>
                <a:cs typeface="Calibri" pitchFamily="34" charset="-120"/>
              </a:rPr>
              <a:t>5</a:t>
            </a:r>
            <a:endParaRPr lang="en-US" sz="1000" dirty="0">
              <a:solidFill>
                <a:schemeClr val="accent6">
                  <a:lumMod val="50000"/>
                </a:schemeClr>
              </a:solidFill>
            </a:endParaRPr>
          </a:p>
        </p:txBody>
      </p:sp>
      <p:sp>
        <p:nvSpPr>
          <p:cNvPr id="61" name="Text 59"/>
          <p:cNvSpPr/>
          <p:nvPr/>
        </p:nvSpPr>
        <p:spPr>
          <a:xfrm>
            <a:off x="5065776" y="4425696"/>
            <a:ext cx="1554480" cy="365760"/>
          </a:xfrm>
          <a:prstGeom prst="rect">
            <a:avLst/>
          </a:prstGeom>
          <a:noFill/>
          <a:ln/>
        </p:spPr>
        <p:txBody>
          <a:bodyPr wrap="square" lIns="0" tIns="0" rIns="0" bIns="0" rtlCol="0" anchor="ctr"/>
          <a:lstStyle/>
          <a:p>
            <a:pPr marL="0" indent="0" algn="l">
              <a:buNone/>
            </a:pPr>
            <a:r>
              <a:rPr lang="en-US" sz="1050" b="1" dirty="0">
                <a:solidFill>
                  <a:srgbClr val="0A5C46"/>
                </a:solidFill>
                <a:latin typeface="Calibri" pitchFamily="34" charset="0"/>
                <a:ea typeface="Calibri" pitchFamily="34" charset="-122"/>
                <a:cs typeface="Calibri" pitchFamily="34" charset="-120"/>
              </a:rPr>
              <a:t>Document and follow up</a:t>
            </a:r>
            <a:endParaRPr lang="en-US" sz="1050" dirty="0"/>
          </a:p>
        </p:txBody>
      </p:sp>
      <p:sp>
        <p:nvSpPr>
          <p:cNvPr id="62" name="Text 60"/>
          <p:cNvSpPr/>
          <p:nvPr/>
        </p:nvSpPr>
        <p:spPr>
          <a:xfrm>
            <a:off x="6702552" y="4576572"/>
            <a:ext cx="2112264" cy="402336"/>
          </a:xfrm>
          <a:prstGeom prst="rect">
            <a:avLst/>
          </a:prstGeom>
          <a:noFill/>
          <a:ln/>
        </p:spPr>
        <p:txBody>
          <a:bodyPr wrap="square" lIns="0" tIns="0" rIns="0" bIns="0" rtlCol="0" anchor="ctr"/>
          <a:lstStyle/>
          <a:p>
            <a:pPr marL="0" indent="0" algn="l">
              <a:buNone/>
            </a:pPr>
            <a:r>
              <a:rPr lang="en-US" sz="1000" dirty="0">
                <a:solidFill>
                  <a:srgbClr val="2E4A40"/>
                </a:solidFill>
                <a:latin typeface="Calibri" pitchFamily="34" charset="0"/>
                <a:ea typeface="Calibri" pitchFamily="34" charset="-122"/>
                <a:cs typeface="Calibri" pitchFamily="34" charset="-120"/>
              </a:rPr>
              <a:t>If first investigation is negative but symptoms persist, reassess rather than discharge. </a:t>
            </a:r>
            <a:r>
              <a:rPr lang="en-US" sz="1000" b="1" dirty="0">
                <a:solidFill>
                  <a:srgbClr val="2E4A40"/>
                </a:solidFill>
                <a:latin typeface="Calibri" pitchFamily="34" charset="0"/>
                <a:ea typeface="Calibri" pitchFamily="34" charset="-122"/>
                <a:cs typeface="Calibri" pitchFamily="34" charset="-120"/>
              </a:rPr>
              <a:t>Do not offer reassurance alone in response to ongoing symptoms.</a:t>
            </a:r>
            <a:endParaRPr lang="en-US" sz="1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SECTIONS 5 AND 6  --  Managing uncertainty over time and referral pathway</a:t>
            </a:r>
            <a:endParaRPr lang="en-US" sz="800" dirty="0"/>
          </a:p>
        </p:txBody>
      </p:sp>
      <p:sp>
        <p:nvSpPr>
          <p:cNvPr id="3" name="Shape 1"/>
          <p:cNvSpPr/>
          <p:nvPr/>
        </p:nvSpPr>
        <p:spPr>
          <a:xfrm>
            <a:off x="0" y="0"/>
            <a:ext cx="9144000" cy="1298448"/>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28016"/>
            <a:ext cx="832104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SECTIONS 5 AND 6</a:t>
            </a:r>
            <a:endParaRPr lang="en-US" sz="800" dirty="0"/>
          </a:p>
        </p:txBody>
      </p:sp>
      <p:sp>
        <p:nvSpPr>
          <p:cNvPr id="5" name="Text 3"/>
          <p:cNvSpPr/>
          <p:nvPr/>
        </p:nvSpPr>
        <p:spPr>
          <a:xfrm>
            <a:off x="411480" y="365760"/>
            <a:ext cx="832104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Managing uncertainty over time and the referral pathway</a:t>
            </a:r>
            <a:endParaRPr lang="en-US" sz="2600" dirty="0"/>
          </a:p>
        </p:txBody>
      </p:sp>
      <p:sp>
        <p:nvSpPr>
          <p:cNvPr id="6" name="Text 4"/>
          <p:cNvSpPr/>
          <p:nvPr/>
        </p:nvSpPr>
        <p:spPr>
          <a:xfrm>
            <a:off x="411480" y="1389888"/>
            <a:ext cx="4069080" cy="347472"/>
          </a:xfrm>
          <a:prstGeom prst="rect">
            <a:avLst/>
          </a:prstGeom>
          <a:noFill/>
          <a:ln/>
        </p:spPr>
        <p:txBody>
          <a:bodyPr wrap="square" lIns="0" tIns="0" rIns="0" bIns="0" rtlCol="0" anchor="ctr"/>
          <a:lstStyle/>
          <a:p>
            <a:pPr marL="0" indent="0" algn="l">
              <a:buNone/>
            </a:pPr>
            <a:r>
              <a:rPr lang="en-US" sz="1300" b="1" dirty="0">
                <a:solidFill>
                  <a:srgbClr val="0F6E56"/>
                </a:solidFill>
                <a:latin typeface="Calibri" pitchFamily="34" charset="0"/>
                <a:ea typeface="Calibri" pitchFamily="34" charset="-122"/>
                <a:cs typeface="Calibri" pitchFamily="34" charset="-120"/>
              </a:rPr>
              <a:t>Managing uncertainty without false reassurance</a:t>
            </a:r>
            <a:endParaRPr lang="en-US" sz="1300" dirty="0"/>
          </a:p>
        </p:txBody>
      </p:sp>
      <p:sp>
        <p:nvSpPr>
          <p:cNvPr id="7" name="Text 5"/>
          <p:cNvSpPr/>
          <p:nvPr/>
        </p:nvSpPr>
        <p:spPr>
          <a:xfrm>
            <a:off x="411480" y="1792224"/>
            <a:ext cx="4069080" cy="530352"/>
          </a:xfrm>
          <a:prstGeom prst="rect">
            <a:avLst/>
          </a:prstGeom>
          <a:noFill/>
          <a:ln/>
        </p:spPr>
        <p:txBody>
          <a:bodyPr wrap="square" lIns="0" tIns="0" rIns="0" bIns="0" rtlCol="0" anchor="ctr"/>
          <a:lstStyle/>
          <a:p>
            <a:pPr marL="0" indent="0" algn="l">
              <a:buNone/>
            </a:pPr>
            <a:r>
              <a:rPr lang="en-US" sz="1100" dirty="0">
                <a:solidFill>
                  <a:srgbClr val="2E4A40"/>
                </a:solidFill>
                <a:latin typeface="Calibri" pitchFamily="34" charset="0"/>
                <a:ea typeface="Calibri" pitchFamily="34" charset="-122"/>
                <a:cs typeface="Calibri" pitchFamily="34" charset="-120"/>
              </a:rPr>
              <a:t>Studies show that patients sometimes feel dismissed at early healthcare encounters, and that symptom normalization or premature reassurance contributes to delayed diagnosis. These scripts support a better approach.</a:t>
            </a:r>
            <a:endParaRPr lang="en-US" sz="1100" dirty="0"/>
          </a:p>
        </p:txBody>
      </p:sp>
      <p:sp>
        <p:nvSpPr>
          <p:cNvPr id="8" name="Shape 6"/>
          <p:cNvSpPr/>
          <p:nvPr/>
        </p:nvSpPr>
        <p:spPr>
          <a:xfrm>
            <a:off x="411480" y="2395728"/>
            <a:ext cx="4069080" cy="749808"/>
          </a:xfrm>
          <a:prstGeom prst="rect">
            <a:avLst/>
          </a:prstGeom>
          <a:solidFill>
            <a:srgbClr val="F2FAF7"/>
          </a:solidFill>
          <a:ln w="12700">
            <a:solidFill>
              <a:srgbClr val="F2FAF7"/>
            </a:solidFill>
            <a:prstDash val="solid"/>
          </a:ln>
        </p:spPr>
        <p:txBody>
          <a:bodyPr/>
          <a:lstStyle/>
          <a:p>
            <a:endParaRPr lang="en-US"/>
          </a:p>
        </p:txBody>
      </p:sp>
      <p:sp>
        <p:nvSpPr>
          <p:cNvPr id="9" name="Shape 7"/>
          <p:cNvSpPr/>
          <p:nvPr/>
        </p:nvSpPr>
        <p:spPr>
          <a:xfrm>
            <a:off x="411480" y="2395728"/>
            <a:ext cx="64008" cy="749808"/>
          </a:xfrm>
          <a:prstGeom prst="rect">
            <a:avLst/>
          </a:prstGeom>
          <a:solidFill>
            <a:srgbClr val="1D9E75"/>
          </a:solidFill>
          <a:ln w="12700">
            <a:solidFill>
              <a:srgbClr val="1D9E75"/>
            </a:solidFill>
            <a:prstDash val="solid"/>
          </a:ln>
        </p:spPr>
        <p:txBody>
          <a:bodyPr/>
          <a:lstStyle/>
          <a:p>
            <a:endParaRPr lang="en-US"/>
          </a:p>
        </p:txBody>
      </p:sp>
      <p:sp>
        <p:nvSpPr>
          <p:cNvPr id="10" name="Text 8"/>
          <p:cNvSpPr/>
          <p:nvPr/>
        </p:nvSpPr>
        <p:spPr>
          <a:xfrm>
            <a:off x="576072" y="2414016"/>
            <a:ext cx="3813048" cy="182880"/>
          </a:xfrm>
          <a:prstGeom prst="rect">
            <a:avLst/>
          </a:prstGeom>
          <a:noFill/>
          <a:ln/>
        </p:spPr>
        <p:txBody>
          <a:bodyPr wrap="square" lIns="0" tIns="0" rIns="0" bIns="0" rtlCol="0" anchor="ctr"/>
          <a:lstStyle/>
          <a:p>
            <a:pPr marL="0" indent="0" algn="l">
              <a:buNone/>
            </a:pPr>
            <a:r>
              <a:rPr lang="en-US" sz="700" b="1" kern="0" spc="100" dirty="0">
                <a:solidFill>
                  <a:srgbClr val="7BBFAA"/>
                </a:solidFill>
                <a:latin typeface="Calibri" pitchFamily="34" charset="0"/>
                <a:ea typeface="Calibri" pitchFamily="34" charset="-122"/>
                <a:cs typeface="Calibri" pitchFamily="34" charset="-120"/>
              </a:rPr>
              <a:t>WHEN INITIAL INVESTIGATION IS NEGATIVE</a:t>
            </a:r>
            <a:endParaRPr lang="en-US" sz="700" dirty="0"/>
          </a:p>
        </p:txBody>
      </p:sp>
      <p:sp>
        <p:nvSpPr>
          <p:cNvPr id="11" name="Text 9"/>
          <p:cNvSpPr/>
          <p:nvPr/>
        </p:nvSpPr>
        <p:spPr>
          <a:xfrm>
            <a:off x="571500" y="2557546"/>
            <a:ext cx="3813048" cy="347472"/>
          </a:xfrm>
          <a:prstGeom prst="rect">
            <a:avLst/>
          </a:prstGeom>
          <a:noFill/>
          <a:ln/>
        </p:spPr>
        <p:txBody>
          <a:bodyPr wrap="square" lIns="0" tIns="0" rIns="0" bIns="0" rtlCol="0" anchor="t"/>
          <a:lstStyle/>
          <a:p>
            <a:pPr marL="0" indent="0" algn="l">
              <a:buNone/>
            </a:pPr>
            <a:r>
              <a:rPr lang="en-US" sz="1050" i="1" dirty="0">
                <a:solidFill>
                  <a:srgbClr val="053D30"/>
                </a:solidFill>
                <a:latin typeface="Calibri" pitchFamily="34" charset="0"/>
                <a:ea typeface="Calibri" pitchFamily="34" charset="-122"/>
                <a:cs typeface="Calibri" pitchFamily="34" charset="-120"/>
              </a:rPr>
              <a:t>"The results today are reassuring, but I do not want to just leave it there. If these symptoms continue or get worse over the next few weeks, I want you to come back in. We would look at this again rather than assuming everything is fine."</a:t>
            </a:r>
            <a:endParaRPr lang="en-US" sz="1050" dirty="0"/>
          </a:p>
        </p:txBody>
      </p:sp>
      <p:sp>
        <p:nvSpPr>
          <p:cNvPr id="12" name="Shape 10"/>
          <p:cNvSpPr/>
          <p:nvPr/>
        </p:nvSpPr>
        <p:spPr>
          <a:xfrm>
            <a:off x="411480" y="3218688"/>
            <a:ext cx="4069080" cy="749808"/>
          </a:xfrm>
          <a:prstGeom prst="rect">
            <a:avLst/>
          </a:prstGeom>
          <a:solidFill>
            <a:srgbClr val="F2FAF7"/>
          </a:solidFill>
          <a:ln w="12700">
            <a:solidFill>
              <a:srgbClr val="F2FAF7"/>
            </a:solidFill>
            <a:prstDash val="solid"/>
          </a:ln>
        </p:spPr>
        <p:txBody>
          <a:bodyPr/>
          <a:lstStyle/>
          <a:p>
            <a:endParaRPr lang="en-US"/>
          </a:p>
        </p:txBody>
      </p:sp>
      <p:sp>
        <p:nvSpPr>
          <p:cNvPr id="13" name="Shape 11"/>
          <p:cNvSpPr/>
          <p:nvPr/>
        </p:nvSpPr>
        <p:spPr>
          <a:xfrm>
            <a:off x="411480" y="3218688"/>
            <a:ext cx="64008" cy="749808"/>
          </a:xfrm>
          <a:prstGeom prst="rect">
            <a:avLst/>
          </a:prstGeom>
          <a:solidFill>
            <a:srgbClr val="1D9E75"/>
          </a:solidFill>
          <a:ln w="12700">
            <a:solidFill>
              <a:srgbClr val="1D9E75"/>
            </a:solidFill>
            <a:prstDash val="solid"/>
          </a:ln>
        </p:spPr>
        <p:txBody>
          <a:bodyPr/>
          <a:lstStyle/>
          <a:p>
            <a:endParaRPr lang="en-US"/>
          </a:p>
        </p:txBody>
      </p:sp>
      <p:sp>
        <p:nvSpPr>
          <p:cNvPr id="14" name="Text 12"/>
          <p:cNvSpPr/>
          <p:nvPr/>
        </p:nvSpPr>
        <p:spPr>
          <a:xfrm>
            <a:off x="571500" y="3255264"/>
            <a:ext cx="3813048" cy="182880"/>
          </a:xfrm>
          <a:prstGeom prst="rect">
            <a:avLst/>
          </a:prstGeom>
          <a:noFill/>
          <a:ln/>
        </p:spPr>
        <p:txBody>
          <a:bodyPr wrap="square" lIns="0" tIns="0" rIns="0" bIns="0" rtlCol="0" anchor="ctr"/>
          <a:lstStyle/>
          <a:p>
            <a:pPr marL="0" indent="0" algn="l">
              <a:buNone/>
            </a:pPr>
            <a:r>
              <a:rPr lang="en-US" sz="700" b="1" kern="0" spc="100" dirty="0">
                <a:solidFill>
                  <a:srgbClr val="7BBFAA"/>
                </a:solidFill>
                <a:latin typeface="Calibri" pitchFamily="34" charset="0"/>
                <a:ea typeface="Calibri" pitchFamily="34" charset="-122"/>
                <a:cs typeface="Calibri" pitchFamily="34" charset="-120"/>
              </a:rPr>
              <a:t>WHEN A PATIENT FEELS THEIR SYMPTOMS ARE BEING DISMISSED</a:t>
            </a:r>
            <a:endParaRPr lang="en-US" sz="700" dirty="0"/>
          </a:p>
        </p:txBody>
      </p:sp>
      <p:sp>
        <p:nvSpPr>
          <p:cNvPr id="15" name="Text 13"/>
          <p:cNvSpPr/>
          <p:nvPr/>
        </p:nvSpPr>
        <p:spPr>
          <a:xfrm>
            <a:off x="561634" y="3415861"/>
            <a:ext cx="3813048" cy="347472"/>
          </a:xfrm>
          <a:prstGeom prst="rect">
            <a:avLst/>
          </a:prstGeom>
          <a:noFill/>
          <a:ln/>
        </p:spPr>
        <p:txBody>
          <a:bodyPr wrap="square" lIns="0" tIns="0" rIns="0" bIns="0" rtlCol="0" anchor="t"/>
          <a:lstStyle/>
          <a:p>
            <a:pPr marL="0" indent="0" algn="l">
              <a:buNone/>
            </a:pPr>
            <a:r>
              <a:rPr lang="en-US" sz="1050" i="1" dirty="0">
                <a:solidFill>
                  <a:srgbClr val="053D30"/>
                </a:solidFill>
                <a:latin typeface="Calibri" pitchFamily="34" charset="0"/>
                <a:ea typeface="Calibri" pitchFamily="34" charset="-122"/>
                <a:cs typeface="Calibri" pitchFamily="34" charset="-120"/>
              </a:rPr>
              <a:t>"I hear you, and I want to take this seriously. You know your body better than anyone. Let us go through what you have been experiencing in detail, and we will make sure we have done a thorough assessment."</a:t>
            </a:r>
            <a:endParaRPr lang="en-US" sz="1050" dirty="0"/>
          </a:p>
        </p:txBody>
      </p:sp>
      <p:sp>
        <p:nvSpPr>
          <p:cNvPr id="16" name="Shape 14"/>
          <p:cNvSpPr/>
          <p:nvPr/>
        </p:nvSpPr>
        <p:spPr>
          <a:xfrm>
            <a:off x="411480" y="4041648"/>
            <a:ext cx="4069080" cy="822960"/>
          </a:xfrm>
          <a:prstGeom prst="rect">
            <a:avLst/>
          </a:prstGeom>
          <a:solidFill>
            <a:srgbClr val="D2EFE4"/>
          </a:solidFill>
          <a:ln w="12700">
            <a:solidFill>
              <a:srgbClr val="D2EFE4"/>
            </a:solidFill>
            <a:prstDash val="solid"/>
          </a:ln>
        </p:spPr>
        <p:txBody>
          <a:bodyPr/>
          <a:lstStyle/>
          <a:p>
            <a:endParaRPr lang="en-US"/>
          </a:p>
        </p:txBody>
      </p:sp>
      <p:sp>
        <p:nvSpPr>
          <p:cNvPr id="17" name="Shape 15"/>
          <p:cNvSpPr/>
          <p:nvPr/>
        </p:nvSpPr>
        <p:spPr>
          <a:xfrm>
            <a:off x="411480" y="4041648"/>
            <a:ext cx="64008" cy="822960"/>
          </a:xfrm>
          <a:prstGeom prst="rect">
            <a:avLst/>
          </a:prstGeom>
          <a:solidFill>
            <a:srgbClr val="1D9E75"/>
          </a:solidFill>
          <a:ln w="12700">
            <a:solidFill>
              <a:srgbClr val="1D9E75"/>
            </a:solidFill>
            <a:prstDash val="solid"/>
          </a:ln>
        </p:spPr>
        <p:txBody>
          <a:bodyPr/>
          <a:lstStyle/>
          <a:p>
            <a:endParaRPr lang="en-US"/>
          </a:p>
        </p:txBody>
      </p:sp>
      <p:sp>
        <p:nvSpPr>
          <p:cNvPr id="18" name="Text 16"/>
          <p:cNvSpPr/>
          <p:nvPr/>
        </p:nvSpPr>
        <p:spPr>
          <a:xfrm>
            <a:off x="576072" y="4096512"/>
            <a:ext cx="3813048" cy="201168"/>
          </a:xfrm>
          <a:prstGeom prst="rect">
            <a:avLst/>
          </a:prstGeom>
          <a:noFill/>
          <a:ln/>
        </p:spPr>
        <p:txBody>
          <a:bodyPr wrap="square" lIns="0" tIns="0" rIns="0" bIns="0" rtlCol="0" anchor="ctr"/>
          <a:lstStyle/>
          <a:p>
            <a:pPr marL="0" indent="0" algn="l">
              <a:buNone/>
            </a:pPr>
            <a:r>
              <a:rPr lang="en-US" sz="1150" b="1" dirty="0">
                <a:solidFill>
                  <a:srgbClr val="0A5C46"/>
                </a:solidFill>
                <a:latin typeface="Calibri" pitchFamily="34" charset="0"/>
                <a:ea typeface="Calibri" pitchFamily="34" charset="-122"/>
                <a:cs typeface="Calibri" pitchFamily="34" charset="-120"/>
              </a:rPr>
              <a:t>Core principle</a:t>
            </a:r>
            <a:endParaRPr lang="en-US" sz="1150" dirty="0"/>
          </a:p>
        </p:txBody>
      </p:sp>
      <p:sp>
        <p:nvSpPr>
          <p:cNvPr id="19" name="Text 17"/>
          <p:cNvSpPr/>
          <p:nvPr/>
        </p:nvSpPr>
        <p:spPr>
          <a:xfrm>
            <a:off x="576072" y="4315968"/>
            <a:ext cx="3813048" cy="493776"/>
          </a:xfrm>
          <a:prstGeom prst="rect">
            <a:avLst/>
          </a:prstGeom>
          <a:noFill/>
          <a:ln/>
        </p:spPr>
        <p:txBody>
          <a:bodyPr wrap="square" lIns="0" tIns="0" rIns="0" bIns="0" rtlCol="0" anchor="t"/>
          <a:lstStyle/>
          <a:p>
            <a:pPr marL="0" indent="0" algn="l">
              <a:buNone/>
            </a:pPr>
            <a:r>
              <a:rPr lang="en-US" sz="1100" dirty="0">
                <a:solidFill>
                  <a:srgbClr val="2E4A40"/>
                </a:solidFill>
                <a:latin typeface="Calibri" pitchFamily="34" charset="0"/>
                <a:ea typeface="Calibri" pitchFamily="34" charset="-122"/>
                <a:cs typeface="Calibri" pitchFamily="34" charset="-120"/>
              </a:rPr>
              <a:t>Reassurance alone is not an appropriate response to persistent or worsening symptoms. Document the symptom pattern, set a clear review date, and specify the threshold for further action.</a:t>
            </a:r>
            <a:endParaRPr lang="en-US" sz="1100" dirty="0"/>
          </a:p>
        </p:txBody>
      </p:sp>
      <p:sp>
        <p:nvSpPr>
          <p:cNvPr id="20" name="Shape 18"/>
          <p:cNvSpPr/>
          <p:nvPr/>
        </p:nvSpPr>
        <p:spPr>
          <a:xfrm>
            <a:off x="4663440" y="1371600"/>
            <a:ext cx="18288" cy="3511296"/>
          </a:xfrm>
          <a:prstGeom prst="rect">
            <a:avLst/>
          </a:prstGeom>
          <a:solidFill>
            <a:srgbClr val="C4E5D8"/>
          </a:solidFill>
          <a:ln w="12700">
            <a:solidFill>
              <a:srgbClr val="C4E5D8"/>
            </a:solidFill>
            <a:prstDash val="solid"/>
          </a:ln>
        </p:spPr>
        <p:txBody>
          <a:bodyPr/>
          <a:lstStyle/>
          <a:p>
            <a:endParaRPr lang="en-US"/>
          </a:p>
        </p:txBody>
      </p:sp>
      <p:sp>
        <p:nvSpPr>
          <p:cNvPr id="21" name="Text 19"/>
          <p:cNvSpPr/>
          <p:nvPr/>
        </p:nvSpPr>
        <p:spPr>
          <a:xfrm>
            <a:off x="4846320" y="1389888"/>
            <a:ext cx="3886200" cy="292608"/>
          </a:xfrm>
          <a:prstGeom prst="rect">
            <a:avLst/>
          </a:prstGeom>
          <a:noFill/>
          <a:ln/>
        </p:spPr>
        <p:txBody>
          <a:bodyPr wrap="square" lIns="0" tIns="0" rIns="0" bIns="0" rtlCol="0" anchor="ctr"/>
          <a:lstStyle/>
          <a:p>
            <a:pPr marL="0" indent="0" algn="l">
              <a:buNone/>
            </a:pPr>
            <a:r>
              <a:rPr lang="en-US" sz="1300" b="1" dirty="0">
                <a:solidFill>
                  <a:srgbClr val="0F6E56"/>
                </a:solidFill>
                <a:latin typeface="Calibri" pitchFamily="34" charset="0"/>
                <a:ea typeface="Calibri" pitchFamily="34" charset="-122"/>
                <a:cs typeface="Calibri" pitchFamily="34" charset="-120"/>
              </a:rPr>
              <a:t>Referral pathway</a:t>
            </a:r>
            <a:endParaRPr lang="en-US" sz="1300" dirty="0"/>
          </a:p>
        </p:txBody>
      </p:sp>
      <p:sp>
        <p:nvSpPr>
          <p:cNvPr id="22" name="Shape 20"/>
          <p:cNvSpPr/>
          <p:nvPr/>
        </p:nvSpPr>
        <p:spPr>
          <a:xfrm>
            <a:off x="4846320" y="1755648"/>
            <a:ext cx="3000195" cy="1591056"/>
          </a:xfrm>
          <a:prstGeom prst="rect">
            <a:avLst/>
          </a:prstGeom>
          <a:solidFill>
            <a:srgbClr val="FAECE7"/>
          </a:solidFill>
          <a:ln w="12700">
            <a:solidFill>
              <a:srgbClr val="FAECE7"/>
            </a:solidFill>
            <a:prstDash val="solid"/>
          </a:ln>
        </p:spPr>
        <p:txBody>
          <a:bodyPr/>
          <a:lstStyle/>
          <a:p>
            <a:endParaRPr lang="en-US"/>
          </a:p>
        </p:txBody>
      </p:sp>
      <p:sp>
        <p:nvSpPr>
          <p:cNvPr id="23" name="Shape 21"/>
          <p:cNvSpPr/>
          <p:nvPr/>
        </p:nvSpPr>
        <p:spPr>
          <a:xfrm>
            <a:off x="4846320" y="1755648"/>
            <a:ext cx="64008" cy="1591056"/>
          </a:xfrm>
          <a:prstGeom prst="rect">
            <a:avLst/>
          </a:prstGeom>
          <a:solidFill>
            <a:srgbClr val="993C1D"/>
          </a:solidFill>
          <a:ln w="12700">
            <a:solidFill>
              <a:srgbClr val="993C1D"/>
            </a:solidFill>
            <a:prstDash val="solid"/>
          </a:ln>
        </p:spPr>
        <p:txBody>
          <a:bodyPr/>
          <a:lstStyle/>
          <a:p>
            <a:endParaRPr lang="en-US"/>
          </a:p>
        </p:txBody>
      </p:sp>
      <p:sp>
        <p:nvSpPr>
          <p:cNvPr id="24" name="Text 22"/>
          <p:cNvSpPr/>
          <p:nvPr/>
        </p:nvSpPr>
        <p:spPr>
          <a:xfrm>
            <a:off x="5010912" y="1810512"/>
            <a:ext cx="3630168" cy="201168"/>
          </a:xfrm>
          <a:prstGeom prst="rect">
            <a:avLst/>
          </a:prstGeom>
          <a:noFill/>
          <a:ln/>
        </p:spPr>
        <p:txBody>
          <a:bodyPr wrap="square" lIns="0" tIns="0" rIns="0" bIns="0" rtlCol="0" anchor="ctr"/>
          <a:lstStyle/>
          <a:p>
            <a:pPr marL="0" indent="0" algn="l">
              <a:buNone/>
            </a:pPr>
            <a:r>
              <a:rPr lang="en-US" sz="1050" b="1" dirty="0">
                <a:solidFill>
                  <a:srgbClr val="993C1D"/>
                </a:solidFill>
                <a:latin typeface="Calibri" pitchFamily="34" charset="0"/>
                <a:ea typeface="Calibri" pitchFamily="34" charset="-122"/>
                <a:cs typeface="Calibri" pitchFamily="34" charset="-120"/>
              </a:rPr>
              <a:t>Urgent referral to gynecology</a:t>
            </a:r>
            <a:endParaRPr lang="en-US" sz="1050" dirty="0"/>
          </a:p>
        </p:txBody>
      </p:sp>
      <p:sp>
        <p:nvSpPr>
          <p:cNvPr id="25" name="Shape 23"/>
          <p:cNvSpPr/>
          <p:nvPr/>
        </p:nvSpPr>
        <p:spPr>
          <a:xfrm>
            <a:off x="5047488" y="2121408"/>
            <a:ext cx="73152" cy="73152"/>
          </a:xfrm>
          <a:prstGeom prst="line">
            <a:avLst/>
          </a:prstGeom>
          <a:solidFill>
            <a:srgbClr val="993C1D"/>
          </a:solidFill>
          <a:ln w="12700">
            <a:solidFill>
              <a:srgbClr val="993C1D"/>
            </a:solidFill>
            <a:prstDash val="solid"/>
          </a:ln>
        </p:spPr>
        <p:txBody>
          <a:bodyPr/>
          <a:lstStyle/>
          <a:p>
            <a:endParaRPr lang="en-US"/>
          </a:p>
        </p:txBody>
      </p:sp>
      <p:sp>
        <p:nvSpPr>
          <p:cNvPr id="26" name="Text 24"/>
          <p:cNvSpPr/>
          <p:nvPr/>
        </p:nvSpPr>
        <p:spPr>
          <a:xfrm>
            <a:off x="5175504" y="2029968"/>
            <a:ext cx="3465576" cy="274320"/>
          </a:xfrm>
          <a:prstGeom prst="rect">
            <a:avLst/>
          </a:prstGeom>
          <a:noFill/>
          <a:ln/>
        </p:spPr>
        <p:txBody>
          <a:bodyPr wrap="square" lIns="0" tIns="0" rIns="0" bIns="0" rtlCol="0" anchor="ctr"/>
          <a:lstStyle/>
          <a:p>
            <a:pPr marL="0" indent="0" algn="l">
              <a:buNone/>
            </a:pPr>
            <a:r>
              <a:rPr lang="en-US" sz="1050" dirty="0">
                <a:solidFill>
                  <a:srgbClr val="993C1D"/>
                </a:solidFill>
                <a:latin typeface="Calibri" pitchFamily="34" charset="0"/>
                <a:ea typeface="Calibri" pitchFamily="34" charset="-122"/>
                <a:cs typeface="Calibri" pitchFamily="34" charset="-120"/>
              </a:rPr>
              <a:t>Elevated CA-125 with pelvic symptoms</a:t>
            </a:r>
            <a:endParaRPr lang="en-US" sz="1050" dirty="0"/>
          </a:p>
        </p:txBody>
      </p:sp>
      <p:sp>
        <p:nvSpPr>
          <p:cNvPr id="27" name="Shape 25"/>
          <p:cNvSpPr/>
          <p:nvPr/>
        </p:nvSpPr>
        <p:spPr>
          <a:xfrm>
            <a:off x="5047488" y="2432304"/>
            <a:ext cx="73152" cy="73152"/>
          </a:xfrm>
          <a:prstGeom prst="line">
            <a:avLst/>
          </a:prstGeom>
          <a:solidFill>
            <a:srgbClr val="993C1D"/>
          </a:solidFill>
          <a:ln w="12700">
            <a:solidFill>
              <a:srgbClr val="993C1D"/>
            </a:solidFill>
            <a:prstDash val="solid"/>
          </a:ln>
        </p:spPr>
        <p:txBody>
          <a:bodyPr/>
          <a:lstStyle/>
          <a:p>
            <a:endParaRPr lang="en-US"/>
          </a:p>
        </p:txBody>
      </p:sp>
      <p:sp>
        <p:nvSpPr>
          <p:cNvPr id="28" name="Text 26"/>
          <p:cNvSpPr/>
          <p:nvPr/>
        </p:nvSpPr>
        <p:spPr>
          <a:xfrm>
            <a:off x="5175504" y="2340864"/>
            <a:ext cx="3465576" cy="274320"/>
          </a:xfrm>
          <a:prstGeom prst="rect">
            <a:avLst/>
          </a:prstGeom>
          <a:noFill/>
          <a:ln/>
        </p:spPr>
        <p:txBody>
          <a:bodyPr wrap="square" lIns="0" tIns="0" rIns="0" bIns="0" rtlCol="0" anchor="ctr"/>
          <a:lstStyle/>
          <a:p>
            <a:pPr marL="0" indent="0" algn="l">
              <a:buNone/>
            </a:pPr>
            <a:r>
              <a:rPr lang="en-US" sz="1050" dirty="0">
                <a:solidFill>
                  <a:srgbClr val="993C1D"/>
                </a:solidFill>
                <a:latin typeface="Calibri" pitchFamily="34" charset="0"/>
                <a:ea typeface="Calibri" pitchFamily="34" charset="-122"/>
                <a:cs typeface="Calibri" pitchFamily="34" charset="-120"/>
              </a:rPr>
              <a:t>Adnexal mass or pelvic abnormality on exam</a:t>
            </a:r>
            <a:endParaRPr lang="en-US" sz="1050" dirty="0"/>
          </a:p>
        </p:txBody>
      </p:sp>
      <p:sp>
        <p:nvSpPr>
          <p:cNvPr id="29" name="Shape 27"/>
          <p:cNvSpPr/>
          <p:nvPr/>
        </p:nvSpPr>
        <p:spPr>
          <a:xfrm>
            <a:off x="5047488" y="2743200"/>
            <a:ext cx="73152" cy="73152"/>
          </a:xfrm>
          <a:prstGeom prst="line">
            <a:avLst/>
          </a:prstGeom>
          <a:solidFill>
            <a:srgbClr val="993C1D"/>
          </a:solidFill>
          <a:ln w="12700">
            <a:solidFill>
              <a:srgbClr val="993C1D"/>
            </a:solidFill>
            <a:prstDash val="solid"/>
          </a:ln>
        </p:spPr>
        <p:txBody>
          <a:bodyPr/>
          <a:lstStyle/>
          <a:p>
            <a:endParaRPr lang="en-US"/>
          </a:p>
        </p:txBody>
      </p:sp>
      <p:sp>
        <p:nvSpPr>
          <p:cNvPr id="30" name="Text 28"/>
          <p:cNvSpPr/>
          <p:nvPr/>
        </p:nvSpPr>
        <p:spPr>
          <a:xfrm>
            <a:off x="5175504" y="2651760"/>
            <a:ext cx="3465576" cy="274320"/>
          </a:xfrm>
          <a:prstGeom prst="rect">
            <a:avLst/>
          </a:prstGeom>
          <a:noFill/>
          <a:ln/>
        </p:spPr>
        <p:txBody>
          <a:bodyPr wrap="square" lIns="0" tIns="0" rIns="0" bIns="0" rtlCol="0" anchor="ctr"/>
          <a:lstStyle/>
          <a:p>
            <a:pPr marL="0" indent="0" algn="l">
              <a:buNone/>
            </a:pPr>
            <a:r>
              <a:rPr lang="en-US" sz="1050" dirty="0">
                <a:solidFill>
                  <a:srgbClr val="993C1D"/>
                </a:solidFill>
                <a:latin typeface="Calibri" pitchFamily="34" charset="0"/>
                <a:ea typeface="Calibri" pitchFamily="34" charset="-122"/>
                <a:cs typeface="Calibri" pitchFamily="34" charset="-120"/>
              </a:rPr>
              <a:t>Ascites or unexplained abdominal swelling</a:t>
            </a:r>
            <a:endParaRPr lang="en-US" sz="1050" dirty="0"/>
          </a:p>
        </p:txBody>
      </p:sp>
      <p:sp>
        <p:nvSpPr>
          <p:cNvPr id="31" name="Shape 29"/>
          <p:cNvSpPr/>
          <p:nvPr/>
        </p:nvSpPr>
        <p:spPr>
          <a:xfrm>
            <a:off x="5047488" y="3054096"/>
            <a:ext cx="73152" cy="73152"/>
          </a:xfrm>
          <a:prstGeom prst="line">
            <a:avLst/>
          </a:prstGeom>
          <a:solidFill>
            <a:srgbClr val="993C1D"/>
          </a:solidFill>
          <a:ln w="12700">
            <a:solidFill>
              <a:srgbClr val="993C1D"/>
            </a:solidFill>
            <a:prstDash val="solid"/>
          </a:ln>
        </p:spPr>
        <p:txBody>
          <a:bodyPr/>
          <a:lstStyle/>
          <a:p>
            <a:endParaRPr lang="en-US"/>
          </a:p>
        </p:txBody>
      </p:sp>
      <p:sp>
        <p:nvSpPr>
          <p:cNvPr id="32" name="Text 30"/>
          <p:cNvSpPr/>
          <p:nvPr/>
        </p:nvSpPr>
        <p:spPr>
          <a:xfrm>
            <a:off x="5175504" y="2962656"/>
            <a:ext cx="3465576" cy="274320"/>
          </a:xfrm>
          <a:prstGeom prst="rect">
            <a:avLst/>
          </a:prstGeom>
          <a:noFill/>
          <a:ln/>
        </p:spPr>
        <p:txBody>
          <a:bodyPr wrap="square" lIns="0" tIns="0" rIns="0" bIns="0" rtlCol="0" anchor="ctr"/>
          <a:lstStyle/>
          <a:p>
            <a:pPr marL="0" indent="0" algn="l">
              <a:buNone/>
            </a:pPr>
            <a:r>
              <a:rPr lang="en-US" sz="1050" dirty="0">
                <a:solidFill>
                  <a:srgbClr val="993C1D"/>
                </a:solidFill>
                <a:latin typeface="Calibri" pitchFamily="34" charset="0"/>
                <a:ea typeface="Calibri" pitchFamily="34" charset="-122"/>
                <a:cs typeface="Calibri" pitchFamily="34" charset="-120"/>
              </a:rPr>
              <a:t>Strong family history plus new pelvic symptoms</a:t>
            </a:r>
            <a:endParaRPr lang="en-US" sz="1050" dirty="0"/>
          </a:p>
        </p:txBody>
      </p:sp>
      <p:sp>
        <p:nvSpPr>
          <p:cNvPr id="33" name="Shape 31"/>
          <p:cNvSpPr/>
          <p:nvPr/>
        </p:nvSpPr>
        <p:spPr>
          <a:xfrm>
            <a:off x="4846320" y="3438144"/>
            <a:ext cx="3000195" cy="1261872"/>
          </a:xfrm>
          <a:prstGeom prst="rect">
            <a:avLst/>
          </a:prstGeom>
          <a:solidFill>
            <a:srgbClr val="FAEEDA"/>
          </a:solidFill>
          <a:ln w="12700">
            <a:solidFill>
              <a:srgbClr val="FAEEDA"/>
            </a:solidFill>
            <a:prstDash val="solid"/>
          </a:ln>
        </p:spPr>
        <p:txBody>
          <a:bodyPr/>
          <a:lstStyle/>
          <a:p>
            <a:endParaRPr lang="en-US"/>
          </a:p>
        </p:txBody>
      </p:sp>
      <p:sp>
        <p:nvSpPr>
          <p:cNvPr id="34" name="Shape 32"/>
          <p:cNvSpPr/>
          <p:nvPr/>
        </p:nvSpPr>
        <p:spPr>
          <a:xfrm>
            <a:off x="4846320" y="3438144"/>
            <a:ext cx="64008" cy="1261872"/>
          </a:xfrm>
          <a:prstGeom prst="rect">
            <a:avLst/>
          </a:prstGeom>
          <a:solidFill>
            <a:srgbClr val="854F0B"/>
          </a:solidFill>
          <a:ln w="12700">
            <a:solidFill>
              <a:srgbClr val="854F0B"/>
            </a:solidFill>
            <a:prstDash val="solid"/>
          </a:ln>
        </p:spPr>
        <p:txBody>
          <a:bodyPr/>
          <a:lstStyle/>
          <a:p>
            <a:endParaRPr lang="en-US"/>
          </a:p>
        </p:txBody>
      </p:sp>
      <p:sp>
        <p:nvSpPr>
          <p:cNvPr id="35" name="Text 33"/>
          <p:cNvSpPr/>
          <p:nvPr/>
        </p:nvSpPr>
        <p:spPr>
          <a:xfrm>
            <a:off x="5010912" y="3493008"/>
            <a:ext cx="3630168" cy="201168"/>
          </a:xfrm>
          <a:prstGeom prst="rect">
            <a:avLst/>
          </a:prstGeom>
          <a:noFill/>
          <a:ln/>
        </p:spPr>
        <p:txBody>
          <a:bodyPr wrap="square" lIns="0" tIns="0" rIns="0" bIns="0" rtlCol="0" anchor="ctr"/>
          <a:lstStyle/>
          <a:p>
            <a:pPr marL="0" indent="0" algn="l">
              <a:buNone/>
            </a:pPr>
            <a:r>
              <a:rPr lang="en-US" sz="1050" b="1" dirty="0">
                <a:solidFill>
                  <a:srgbClr val="854F0B"/>
                </a:solidFill>
                <a:latin typeface="Calibri" pitchFamily="34" charset="0"/>
                <a:ea typeface="Calibri" pitchFamily="34" charset="-122"/>
                <a:cs typeface="Calibri" pitchFamily="34" charset="-120"/>
              </a:rPr>
              <a:t>Non-urgent referral or repeat assessment</a:t>
            </a:r>
            <a:endParaRPr lang="en-US" sz="1050" dirty="0"/>
          </a:p>
        </p:txBody>
      </p:sp>
      <p:sp>
        <p:nvSpPr>
          <p:cNvPr id="36" name="Shape 34"/>
          <p:cNvSpPr/>
          <p:nvPr/>
        </p:nvSpPr>
        <p:spPr>
          <a:xfrm>
            <a:off x="5047488" y="3803904"/>
            <a:ext cx="73152" cy="73152"/>
          </a:xfrm>
          <a:prstGeom prst="line">
            <a:avLst/>
          </a:prstGeom>
          <a:solidFill>
            <a:srgbClr val="854F0B"/>
          </a:solidFill>
          <a:ln w="12700">
            <a:solidFill>
              <a:srgbClr val="854F0B"/>
            </a:solidFill>
            <a:prstDash val="solid"/>
          </a:ln>
        </p:spPr>
        <p:txBody>
          <a:bodyPr/>
          <a:lstStyle/>
          <a:p>
            <a:endParaRPr lang="en-US"/>
          </a:p>
        </p:txBody>
      </p:sp>
      <p:sp>
        <p:nvSpPr>
          <p:cNvPr id="37" name="Text 35"/>
          <p:cNvSpPr/>
          <p:nvPr/>
        </p:nvSpPr>
        <p:spPr>
          <a:xfrm>
            <a:off x="5175504" y="3712464"/>
            <a:ext cx="2431823" cy="274320"/>
          </a:xfrm>
          <a:prstGeom prst="rect">
            <a:avLst/>
          </a:prstGeom>
          <a:noFill/>
          <a:ln/>
        </p:spPr>
        <p:txBody>
          <a:bodyPr wrap="square" lIns="0" tIns="0" rIns="0" bIns="0" rtlCol="0" anchor="ctr"/>
          <a:lstStyle/>
          <a:p>
            <a:pPr marL="0" indent="0" algn="l">
              <a:buNone/>
            </a:pPr>
            <a:r>
              <a:rPr lang="en-US" sz="1050" dirty="0">
                <a:solidFill>
                  <a:srgbClr val="854F0B"/>
                </a:solidFill>
                <a:latin typeface="Calibri" pitchFamily="34" charset="0"/>
                <a:ea typeface="Calibri" pitchFamily="34" charset="-122"/>
                <a:cs typeface="Calibri" pitchFamily="34" charset="-120"/>
              </a:rPr>
              <a:t>Persistent symptoms after initial negative investigation</a:t>
            </a:r>
            <a:endParaRPr lang="en-US" sz="1050" dirty="0"/>
          </a:p>
        </p:txBody>
      </p:sp>
      <p:sp>
        <p:nvSpPr>
          <p:cNvPr id="38" name="Shape 36"/>
          <p:cNvSpPr/>
          <p:nvPr/>
        </p:nvSpPr>
        <p:spPr>
          <a:xfrm>
            <a:off x="5047488" y="4114800"/>
            <a:ext cx="73152" cy="73152"/>
          </a:xfrm>
          <a:prstGeom prst="line">
            <a:avLst/>
          </a:prstGeom>
          <a:solidFill>
            <a:srgbClr val="854F0B"/>
          </a:solidFill>
          <a:ln w="12700">
            <a:solidFill>
              <a:srgbClr val="854F0B"/>
            </a:solidFill>
            <a:prstDash val="solid"/>
          </a:ln>
        </p:spPr>
        <p:txBody>
          <a:bodyPr/>
          <a:lstStyle/>
          <a:p>
            <a:endParaRPr lang="en-US"/>
          </a:p>
        </p:txBody>
      </p:sp>
      <p:sp>
        <p:nvSpPr>
          <p:cNvPr id="39" name="Text 37"/>
          <p:cNvSpPr/>
          <p:nvPr/>
        </p:nvSpPr>
        <p:spPr>
          <a:xfrm>
            <a:off x="5175504" y="4023360"/>
            <a:ext cx="3465576" cy="274320"/>
          </a:xfrm>
          <a:prstGeom prst="rect">
            <a:avLst/>
          </a:prstGeom>
          <a:noFill/>
          <a:ln/>
        </p:spPr>
        <p:txBody>
          <a:bodyPr wrap="square" lIns="0" tIns="0" rIns="0" bIns="0" rtlCol="0" anchor="ctr"/>
          <a:lstStyle/>
          <a:p>
            <a:pPr marL="0" indent="0" algn="l">
              <a:buNone/>
            </a:pPr>
            <a:r>
              <a:rPr lang="en-US" sz="1050" dirty="0">
                <a:solidFill>
                  <a:srgbClr val="854F0B"/>
                </a:solidFill>
                <a:latin typeface="Calibri" pitchFamily="34" charset="0"/>
                <a:ea typeface="Calibri" pitchFamily="34" charset="-122"/>
                <a:cs typeface="Calibri" pitchFamily="34" charset="-120"/>
              </a:rPr>
              <a:t>Patient anxiety warrants specialist reassurance</a:t>
            </a:r>
            <a:endParaRPr lang="en-US" sz="1050" dirty="0"/>
          </a:p>
        </p:txBody>
      </p:sp>
      <p:sp>
        <p:nvSpPr>
          <p:cNvPr id="40" name="Shape 38"/>
          <p:cNvSpPr/>
          <p:nvPr/>
        </p:nvSpPr>
        <p:spPr>
          <a:xfrm>
            <a:off x="5047488" y="4425696"/>
            <a:ext cx="73152" cy="73152"/>
          </a:xfrm>
          <a:prstGeom prst="line">
            <a:avLst/>
          </a:prstGeom>
          <a:solidFill>
            <a:srgbClr val="854F0B"/>
          </a:solidFill>
          <a:ln w="12700">
            <a:solidFill>
              <a:srgbClr val="854F0B"/>
            </a:solidFill>
            <a:prstDash val="solid"/>
          </a:ln>
        </p:spPr>
        <p:txBody>
          <a:bodyPr/>
          <a:lstStyle/>
          <a:p>
            <a:endParaRPr lang="en-US"/>
          </a:p>
        </p:txBody>
      </p:sp>
      <p:sp>
        <p:nvSpPr>
          <p:cNvPr id="41" name="Text 39"/>
          <p:cNvSpPr/>
          <p:nvPr/>
        </p:nvSpPr>
        <p:spPr>
          <a:xfrm>
            <a:off x="5175504" y="4334256"/>
            <a:ext cx="2671011" cy="274320"/>
          </a:xfrm>
          <a:prstGeom prst="rect">
            <a:avLst/>
          </a:prstGeom>
          <a:noFill/>
          <a:ln/>
        </p:spPr>
        <p:txBody>
          <a:bodyPr wrap="square" lIns="0" tIns="0" rIns="0" bIns="0" rtlCol="0" anchor="ctr"/>
          <a:lstStyle/>
          <a:p>
            <a:pPr marL="0" indent="0" algn="l">
              <a:buNone/>
            </a:pPr>
            <a:r>
              <a:rPr lang="en-US" sz="1050" dirty="0">
                <a:solidFill>
                  <a:srgbClr val="854F0B"/>
                </a:solidFill>
                <a:latin typeface="Calibri" pitchFamily="34" charset="0"/>
                <a:ea typeface="Calibri" pitchFamily="34" charset="-122"/>
                <a:cs typeface="Calibri" pitchFamily="34" charset="-120"/>
              </a:rPr>
              <a:t>Symptoms not clearly meeting threshold but recurrent</a:t>
            </a:r>
            <a:endParaRPr lang="en-US" sz="1050" dirty="0"/>
          </a:p>
        </p:txBody>
      </p:sp>
      <p:sp>
        <p:nvSpPr>
          <p:cNvPr id="42" name="Shape 40"/>
          <p:cNvSpPr/>
          <p:nvPr/>
        </p:nvSpPr>
        <p:spPr>
          <a:xfrm>
            <a:off x="7947099" y="1764792"/>
            <a:ext cx="1143481" cy="2935224"/>
          </a:xfrm>
          <a:prstGeom prst="rect">
            <a:avLst/>
          </a:prstGeom>
          <a:solidFill>
            <a:srgbClr val="E1F5EE"/>
          </a:solidFill>
          <a:ln w="12700">
            <a:solidFill>
              <a:srgbClr val="E1F5EE"/>
            </a:solidFill>
            <a:prstDash val="solid"/>
          </a:ln>
        </p:spPr>
        <p:txBody>
          <a:bodyPr/>
          <a:lstStyle/>
          <a:p>
            <a:endParaRPr lang="en-US" dirty="0"/>
          </a:p>
        </p:txBody>
      </p:sp>
      <p:sp>
        <p:nvSpPr>
          <p:cNvPr id="43" name="Shape 41"/>
          <p:cNvSpPr/>
          <p:nvPr/>
        </p:nvSpPr>
        <p:spPr>
          <a:xfrm>
            <a:off x="7932661" y="1764792"/>
            <a:ext cx="62564" cy="2944368"/>
          </a:xfrm>
          <a:prstGeom prst="rect">
            <a:avLst/>
          </a:prstGeom>
          <a:solidFill>
            <a:srgbClr val="0F6E56"/>
          </a:solidFill>
          <a:ln w="12700">
            <a:solidFill>
              <a:srgbClr val="0F6E56"/>
            </a:solidFill>
            <a:prstDash val="solid"/>
          </a:ln>
        </p:spPr>
        <p:txBody>
          <a:bodyPr/>
          <a:lstStyle/>
          <a:p>
            <a:endParaRPr lang="en-US"/>
          </a:p>
        </p:txBody>
      </p:sp>
      <p:sp>
        <p:nvSpPr>
          <p:cNvPr id="44" name="Text 42"/>
          <p:cNvSpPr/>
          <p:nvPr/>
        </p:nvSpPr>
        <p:spPr>
          <a:xfrm>
            <a:off x="8175699" y="1911096"/>
            <a:ext cx="730557" cy="429768"/>
          </a:xfrm>
          <a:prstGeom prst="rect">
            <a:avLst/>
          </a:prstGeom>
          <a:noFill/>
          <a:ln/>
        </p:spPr>
        <p:txBody>
          <a:bodyPr wrap="square" lIns="0" tIns="0" rIns="0" bIns="0" rtlCol="0" anchor="ctr"/>
          <a:lstStyle/>
          <a:p>
            <a:pPr marL="0" indent="0" algn="l">
              <a:buNone/>
            </a:pPr>
            <a:r>
              <a:rPr lang="en-US" sz="1050" b="1" dirty="0">
                <a:solidFill>
                  <a:srgbClr val="0F6E56"/>
                </a:solidFill>
                <a:latin typeface="Calibri" pitchFamily="34" charset="0"/>
                <a:ea typeface="Calibri" pitchFamily="34" charset="-122"/>
                <a:cs typeface="Calibri" pitchFamily="34" charset="-120"/>
              </a:rPr>
              <a:t>Manage in primary care with follow-up plan</a:t>
            </a:r>
            <a:endParaRPr lang="en-US" sz="1050" dirty="0"/>
          </a:p>
        </p:txBody>
      </p:sp>
      <p:sp>
        <p:nvSpPr>
          <p:cNvPr id="46" name="Text 44"/>
          <p:cNvSpPr/>
          <p:nvPr/>
        </p:nvSpPr>
        <p:spPr>
          <a:xfrm>
            <a:off x="8225509" y="3019084"/>
            <a:ext cx="879509" cy="362632"/>
          </a:xfrm>
          <a:prstGeom prst="rect">
            <a:avLst/>
          </a:prstGeom>
          <a:noFill/>
          <a:ln/>
        </p:spPr>
        <p:txBody>
          <a:bodyPr wrap="square" lIns="0" tIns="0" rIns="0" bIns="0" rtlCol="0" anchor="ctr"/>
          <a:lstStyle/>
          <a:p>
            <a:pPr marL="0" indent="0" algn="l">
              <a:buNone/>
            </a:pPr>
            <a:r>
              <a:rPr lang="en-US" sz="1050" dirty="0">
                <a:solidFill>
                  <a:srgbClr val="0F6E56"/>
                </a:solidFill>
                <a:latin typeface="Calibri" pitchFamily="34" charset="0"/>
                <a:ea typeface="Calibri" pitchFamily="34" charset="-122"/>
                <a:cs typeface="Calibri" pitchFamily="34" charset="-120"/>
              </a:rPr>
              <a:t>Initial investigation negative and symptoms resolving</a:t>
            </a:r>
            <a:endParaRPr lang="en-US" sz="1050" dirty="0"/>
          </a:p>
        </p:txBody>
      </p:sp>
      <p:sp>
        <p:nvSpPr>
          <p:cNvPr id="48" name="Text 46"/>
          <p:cNvSpPr/>
          <p:nvPr/>
        </p:nvSpPr>
        <p:spPr>
          <a:xfrm>
            <a:off x="8211071" y="4014216"/>
            <a:ext cx="860017" cy="274320"/>
          </a:xfrm>
          <a:prstGeom prst="rect">
            <a:avLst/>
          </a:prstGeom>
          <a:noFill/>
          <a:ln/>
        </p:spPr>
        <p:txBody>
          <a:bodyPr wrap="square" lIns="0" tIns="0" rIns="0" bIns="0" rtlCol="0" anchor="ctr"/>
          <a:lstStyle/>
          <a:p>
            <a:pPr marL="0" indent="0" algn="l">
              <a:buNone/>
            </a:pPr>
            <a:r>
              <a:rPr lang="en-US" sz="1050" dirty="0">
                <a:solidFill>
                  <a:srgbClr val="0F6E56"/>
                </a:solidFill>
                <a:latin typeface="Calibri" pitchFamily="34" charset="0"/>
                <a:ea typeface="Calibri" pitchFamily="34" charset="-122"/>
                <a:cs typeface="Calibri" pitchFamily="34" charset="-120"/>
              </a:rPr>
              <a:t>Document and set clear return threshold for the patient</a:t>
            </a:r>
            <a:endParaRPr lang="en-US" sz="1050" dirty="0"/>
          </a:p>
        </p:txBody>
      </p:sp>
      <p:sp>
        <p:nvSpPr>
          <p:cNvPr id="52" name="Shape 25">
            <a:extLst>
              <a:ext uri="{FF2B5EF4-FFF2-40B4-BE49-F238E27FC236}">
                <a16:creationId xmlns:a16="http://schemas.microsoft.com/office/drawing/2014/main" id="{AA1B5C20-BCDF-0789-1415-D69D03E55F6B}"/>
              </a:ext>
            </a:extLst>
          </p:cNvPr>
          <p:cNvSpPr/>
          <p:nvPr/>
        </p:nvSpPr>
        <p:spPr>
          <a:xfrm>
            <a:off x="0" y="4910328"/>
            <a:ext cx="9144000" cy="228601"/>
          </a:xfrm>
          <a:prstGeom prst="rect">
            <a:avLst/>
          </a:prstGeom>
          <a:solidFill>
            <a:srgbClr val="053D30"/>
          </a:solidFill>
          <a:ln w="12700">
            <a:solidFill>
              <a:srgbClr val="053D30"/>
            </a:solidFill>
            <a:prstDash val="solid"/>
          </a:ln>
        </p:spPr>
        <p:txBody>
          <a:bodyPr/>
          <a:lstStyle/>
          <a:p>
            <a:endParaRPr lang="en-US"/>
          </a:p>
        </p:txBody>
      </p:sp>
      <p:sp>
        <p:nvSpPr>
          <p:cNvPr id="53" name="Text 48">
            <a:extLst>
              <a:ext uri="{FF2B5EF4-FFF2-40B4-BE49-F238E27FC236}">
                <a16:creationId xmlns:a16="http://schemas.microsoft.com/office/drawing/2014/main" id="{BC288510-B9B4-57FA-DF2A-C35E9D6853A3}"/>
              </a:ext>
            </a:extLst>
          </p:cNvPr>
          <p:cNvSpPr/>
          <p:nvPr/>
        </p:nvSpPr>
        <p:spPr>
          <a:xfrm>
            <a:off x="399448" y="4910328"/>
            <a:ext cx="6799766" cy="237744"/>
          </a:xfrm>
          <a:prstGeom prst="rect">
            <a:avLst/>
          </a:prstGeom>
          <a:noFill/>
          <a:ln/>
        </p:spPr>
        <p:txBody>
          <a:bodyPr wrap="square" lIns="0" tIns="0" rIns="0" bIns="0" rtlCol="0" anchor="ctr"/>
          <a:lstStyle/>
          <a:p>
            <a:pPr marL="0" indent="0" algn="l">
              <a:buNone/>
            </a:pPr>
            <a:r>
              <a:rPr lang="en-US" sz="800" dirty="0">
                <a:solidFill>
                  <a:srgbClr val="7BBFAA"/>
                </a:solidFill>
                <a:latin typeface="Calibri" pitchFamily="34" charset="0"/>
                <a:ea typeface="Calibri" pitchFamily="34" charset="-122"/>
                <a:cs typeface="Calibri" pitchFamily="34" charset="-120"/>
              </a:rPr>
              <a:t>Evidence base: Hess et al. (2012), Gajjar et al. (2012), Evans et al. (2007), Tone et al. (2022), Lawson-</a:t>
            </a:r>
            <a:r>
              <a:rPr lang="en-US" sz="800" dirty="0" err="1">
                <a:solidFill>
                  <a:srgbClr val="7BBFAA"/>
                </a:solidFill>
                <a:latin typeface="Calibri" pitchFamily="34" charset="0"/>
                <a:ea typeface="Calibri" pitchFamily="34" charset="-122"/>
                <a:cs typeface="Calibri" pitchFamily="34" charset="-120"/>
              </a:rPr>
              <a:t>Michod</a:t>
            </a:r>
            <a:r>
              <a:rPr lang="en-US" sz="800" dirty="0">
                <a:solidFill>
                  <a:srgbClr val="7BBFAA"/>
                </a:solidFill>
                <a:latin typeface="Calibri" pitchFamily="34" charset="0"/>
                <a:ea typeface="Calibri" pitchFamily="34" charset="-122"/>
                <a:cs typeface="Calibri" pitchFamily="34" charset="-120"/>
              </a:rPr>
              <a:t> et al. (2022), Vela-Vallespín et al. (2023).</a:t>
            </a:r>
            <a:endParaRPr lang="en-US" sz="800" dirty="0"/>
          </a:p>
        </p:txBody>
      </p:sp>
      <p:sp>
        <p:nvSpPr>
          <p:cNvPr id="55" name="Shape 31">
            <a:extLst>
              <a:ext uri="{FF2B5EF4-FFF2-40B4-BE49-F238E27FC236}">
                <a16:creationId xmlns:a16="http://schemas.microsoft.com/office/drawing/2014/main" id="{9B317B1C-5C90-EB97-35BC-FB9C35B080B8}"/>
              </a:ext>
            </a:extLst>
          </p:cNvPr>
          <p:cNvSpPr/>
          <p:nvPr/>
        </p:nvSpPr>
        <p:spPr>
          <a:xfrm>
            <a:off x="8081371" y="2852928"/>
            <a:ext cx="94327" cy="109728"/>
          </a:xfrm>
          <a:prstGeom prst="line">
            <a:avLst/>
          </a:prstGeom>
          <a:solidFill>
            <a:srgbClr val="0F6E56"/>
          </a:solidFill>
          <a:ln w="12700">
            <a:solidFill>
              <a:srgbClr val="0F6E56"/>
            </a:solidFill>
            <a:prstDash val="solid"/>
          </a:ln>
        </p:spPr>
        <p:txBody>
          <a:bodyPr/>
          <a:lstStyle/>
          <a:p>
            <a:endParaRPr lang="en-US"/>
          </a:p>
        </p:txBody>
      </p:sp>
      <p:sp>
        <p:nvSpPr>
          <p:cNvPr id="57" name="Shape 31">
            <a:extLst>
              <a:ext uri="{FF2B5EF4-FFF2-40B4-BE49-F238E27FC236}">
                <a16:creationId xmlns:a16="http://schemas.microsoft.com/office/drawing/2014/main" id="{42801EAB-9B51-1755-78A9-778BE454D298}"/>
              </a:ext>
            </a:extLst>
          </p:cNvPr>
          <p:cNvSpPr/>
          <p:nvPr/>
        </p:nvSpPr>
        <p:spPr>
          <a:xfrm flipH="1" flipV="1">
            <a:off x="8018807" y="3986784"/>
            <a:ext cx="92884" cy="118872"/>
          </a:xfrm>
          <a:prstGeom prst="line">
            <a:avLst/>
          </a:prstGeom>
          <a:solidFill>
            <a:srgbClr val="0F6E56"/>
          </a:solidFill>
          <a:ln w="12700">
            <a:solidFill>
              <a:srgbClr val="0F6E56"/>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QUICK REFERENCE  --  One-page summary for clinic use</a:t>
            </a:r>
            <a:endParaRPr lang="en-US" sz="800" dirty="0"/>
          </a:p>
        </p:txBody>
      </p:sp>
      <p:sp>
        <p:nvSpPr>
          <p:cNvPr id="3" name="Shape 1"/>
          <p:cNvSpPr/>
          <p:nvPr/>
        </p:nvSpPr>
        <p:spPr>
          <a:xfrm>
            <a:off x="0" y="0"/>
            <a:ext cx="9144000" cy="1298448"/>
          </a:xfrm>
          <a:prstGeom prst="rect">
            <a:avLst/>
          </a:prstGeom>
          <a:solidFill>
            <a:srgbClr val="053D30"/>
          </a:solidFill>
          <a:ln w="12700">
            <a:solidFill>
              <a:srgbClr val="053D30"/>
            </a:solidFill>
            <a:prstDash val="solid"/>
          </a:ln>
        </p:spPr>
        <p:txBody>
          <a:bodyPr/>
          <a:lstStyle/>
          <a:p>
            <a:endParaRPr lang="en-US"/>
          </a:p>
        </p:txBody>
      </p:sp>
      <p:sp>
        <p:nvSpPr>
          <p:cNvPr id="4" name="Text 2"/>
          <p:cNvSpPr/>
          <p:nvPr/>
        </p:nvSpPr>
        <p:spPr>
          <a:xfrm>
            <a:off x="411480" y="128016"/>
            <a:ext cx="832104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QUICK REFERENCE CARD</a:t>
            </a:r>
            <a:endParaRPr lang="en-US" sz="800" dirty="0"/>
          </a:p>
        </p:txBody>
      </p:sp>
      <p:sp>
        <p:nvSpPr>
          <p:cNvPr id="5" name="Text 3"/>
          <p:cNvSpPr/>
          <p:nvPr/>
        </p:nvSpPr>
        <p:spPr>
          <a:xfrm>
            <a:off x="411480" y="365760"/>
            <a:ext cx="8321040" cy="749808"/>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Ovarian cancer in primary care: the key points at a glance</a:t>
            </a:r>
            <a:endParaRPr lang="en-US" sz="2200" dirty="0"/>
          </a:p>
        </p:txBody>
      </p:sp>
      <p:sp>
        <p:nvSpPr>
          <p:cNvPr id="6" name="Shape 4"/>
          <p:cNvSpPr/>
          <p:nvPr/>
        </p:nvSpPr>
        <p:spPr>
          <a:xfrm>
            <a:off x="274320" y="1426464"/>
            <a:ext cx="2798064" cy="3310128"/>
          </a:xfrm>
          <a:prstGeom prst="rect">
            <a:avLst/>
          </a:prstGeom>
          <a:solidFill>
            <a:srgbClr val="EBF7F2"/>
          </a:solidFill>
          <a:ln w="12700">
            <a:solidFill>
              <a:srgbClr val="EBF7F2"/>
            </a:solidFill>
            <a:prstDash val="solid"/>
          </a:ln>
        </p:spPr>
        <p:txBody>
          <a:bodyPr/>
          <a:lstStyle/>
          <a:p>
            <a:endParaRPr lang="en-US"/>
          </a:p>
        </p:txBody>
      </p:sp>
      <p:sp>
        <p:nvSpPr>
          <p:cNvPr id="7" name="Shape 5"/>
          <p:cNvSpPr/>
          <p:nvPr/>
        </p:nvSpPr>
        <p:spPr>
          <a:xfrm>
            <a:off x="274320" y="1426464"/>
            <a:ext cx="2798064" cy="329184"/>
          </a:xfrm>
          <a:prstGeom prst="rect">
            <a:avLst/>
          </a:prstGeom>
          <a:solidFill>
            <a:srgbClr val="0F6E56"/>
          </a:solidFill>
          <a:ln w="12700">
            <a:solidFill>
              <a:srgbClr val="0F6E56"/>
            </a:solidFill>
            <a:prstDash val="solid"/>
          </a:ln>
        </p:spPr>
        <p:txBody>
          <a:bodyPr/>
          <a:lstStyle/>
          <a:p>
            <a:endParaRPr lang="en-US"/>
          </a:p>
        </p:txBody>
      </p:sp>
      <p:sp>
        <p:nvSpPr>
          <p:cNvPr id="8" name="Text 6"/>
          <p:cNvSpPr/>
          <p:nvPr/>
        </p:nvSpPr>
        <p:spPr>
          <a:xfrm>
            <a:off x="384048" y="1481328"/>
            <a:ext cx="2615184"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The evidence base</a:t>
            </a:r>
            <a:endParaRPr lang="en-US" sz="1100" dirty="0"/>
          </a:p>
        </p:txBody>
      </p:sp>
      <p:sp>
        <p:nvSpPr>
          <p:cNvPr id="9" name="Shape 7"/>
          <p:cNvSpPr/>
          <p:nvPr/>
        </p:nvSpPr>
        <p:spPr>
          <a:xfrm>
            <a:off x="402336" y="1901952"/>
            <a:ext cx="91440" cy="91440"/>
          </a:xfrm>
          <a:prstGeom prst="line">
            <a:avLst/>
          </a:prstGeom>
          <a:solidFill>
            <a:srgbClr val="0F6E56"/>
          </a:solidFill>
          <a:ln w="12700">
            <a:solidFill>
              <a:srgbClr val="0F6E56"/>
            </a:solidFill>
            <a:prstDash val="solid"/>
          </a:ln>
        </p:spPr>
        <p:txBody>
          <a:bodyPr/>
          <a:lstStyle/>
          <a:p>
            <a:endParaRPr lang="en-US"/>
          </a:p>
        </p:txBody>
      </p:sp>
      <p:sp>
        <p:nvSpPr>
          <p:cNvPr id="10" name="Text 8"/>
          <p:cNvSpPr/>
          <p:nvPr/>
        </p:nvSpPr>
        <p:spPr>
          <a:xfrm>
            <a:off x="548640" y="1828800"/>
            <a:ext cx="2542032"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No population screening test is recommended for average-risk asymptomatic women (ACOG, NICE, UKCTOCS)</a:t>
            </a:r>
            <a:endParaRPr lang="en-US" sz="1050" dirty="0"/>
          </a:p>
        </p:txBody>
      </p:sp>
      <p:sp>
        <p:nvSpPr>
          <p:cNvPr id="11" name="Shape 9"/>
          <p:cNvSpPr/>
          <p:nvPr/>
        </p:nvSpPr>
        <p:spPr>
          <a:xfrm>
            <a:off x="402336" y="2468880"/>
            <a:ext cx="91440" cy="91440"/>
          </a:xfrm>
          <a:prstGeom prst="line">
            <a:avLst/>
          </a:prstGeom>
          <a:solidFill>
            <a:srgbClr val="0F6E56"/>
          </a:solidFill>
          <a:ln w="12700">
            <a:solidFill>
              <a:srgbClr val="0F6E56"/>
            </a:solidFill>
            <a:prstDash val="solid"/>
          </a:ln>
        </p:spPr>
        <p:txBody>
          <a:bodyPr/>
          <a:lstStyle/>
          <a:p>
            <a:endParaRPr lang="en-US"/>
          </a:p>
        </p:txBody>
      </p:sp>
      <p:sp>
        <p:nvSpPr>
          <p:cNvPr id="12" name="Text 10"/>
          <p:cNvSpPr/>
          <p:nvPr/>
        </p:nvSpPr>
        <p:spPr>
          <a:xfrm>
            <a:off x="548640" y="2395728"/>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CA-125 and TVUS are diagnostic tools, not screening tools</a:t>
            </a:r>
            <a:endParaRPr lang="en-US" sz="1050" dirty="0"/>
          </a:p>
        </p:txBody>
      </p:sp>
      <p:sp>
        <p:nvSpPr>
          <p:cNvPr id="13" name="Shape 11"/>
          <p:cNvSpPr/>
          <p:nvPr/>
        </p:nvSpPr>
        <p:spPr>
          <a:xfrm>
            <a:off x="402336" y="3035808"/>
            <a:ext cx="91440" cy="91440"/>
          </a:xfrm>
          <a:prstGeom prst="lin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548640" y="2962656"/>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Many physicians incorrectly believe CA-125 is a valid screening test. Check your own assumptions</a:t>
            </a:r>
            <a:endParaRPr lang="en-US" sz="1050" dirty="0"/>
          </a:p>
        </p:txBody>
      </p:sp>
      <p:sp>
        <p:nvSpPr>
          <p:cNvPr id="15" name="Shape 13"/>
          <p:cNvSpPr/>
          <p:nvPr/>
        </p:nvSpPr>
        <p:spPr>
          <a:xfrm>
            <a:off x="402336" y="3602736"/>
            <a:ext cx="91440" cy="91440"/>
          </a:xfrm>
          <a:prstGeom prst="lin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548640" y="3529584"/>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Pap test screens for cervical cancer only, it provides no information about the ovaries</a:t>
            </a:r>
            <a:endParaRPr lang="en-US" sz="1050" dirty="0"/>
          </a:p>
        </p:txBody>
      </p:sp>
      <p:sp>
        <p:nvSpPr>
          <p:cNvPr id="17" name="Shape 15"/>
          <p:cNvSpPr/>
          <p:nvPr/>
        </p:nvSpPr>
        <p:spPr>
          <a:xfrm>
            <a:off x="3200400" y="1426464"/>
            <a:ext cx="2798064" cy="3310128"/>
          </a:xfrm>
          <a:prstGeom prst="rect">
            <a:avLst/>
          </a:prstGeom>
          <a:solidFill>
            <a:srgbClr val="FAEEDA"/>
          </a:solidFill>
          <a:ln w="12700">
            <a:solidFill>
              <a:srgbClr val="FAEEDA"/>
            </a:solidFill>
            <a:prstDash val="solid"/>
          </a:ln>
        </p:spPr>
        <p:txBody>
          <a:bodyPr/>
          <a:lstStyle/>
          <a:p>
            <a:endParaRPr lang="en-US"/>
          </a:p>
        </p:txBody>
      </p:sp>
      <p:sp>
        <p:nvSpPr>
          <p:cNvPr id="18" name="Shape 16"/>
          <p:cNvSpPr/>
          <p:nvPr/>
        </p:nvSpPr>
        <p:spPr>
          <a:xfrm>
            <a:off x="3200400" y="1426464"/>
            <a:ext cx="2798064" cy="329184"/>
          </a:xfrm>
          <a:prstGeom prst="rect">
            <a:avLst/>
          </a:prstGeom>
          <a:solidFill>
            <a:srgbClr val="854F0B"/>
          </a:solidFill>
          <a:ln w="12700">
            <a:solidFill>
              <a:srgbClr val="854F0B"/>
            </a:solidFill>
            <a:prstDash val="solid"/>
          </a:ln>
        </p:spPr>
        <p:txBody>
          <a:bodyPr/>
          <a:lstStyle/>
          <a:p>
            <a:endParaRPr lang="en-US"/>
          </a:p>
        </p:txBody>
      </p:sp>
      <p:sp>
        <p:nvSpPr>
          <p:cNvPr id="19" name="Text 17"/>
          <p:cNvSpPr/>
          <p:nvPr/>
        </p:nvSpPr>
        <p:spPr>
          <a:xfrm>
            <a:off x="3310128" y="1481328"/>
            <a:ext cx="2615184"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When to investigate</a:t>
            </a:r>
            <a:endParaRPr lang="en-US" sz="1100" dirty="0"/>
          </a:p>
        </p:txBody>
      </p:sp>
      <p:sp>
        <p:nvSpPr>
          <p:cNvPr id="20" name="Shape 18"/>
          <p:cNvSpPr/>
          <p:nvPr/>
        </p:nvSpPr>
        <p:spPr>
          <a:xfrm>
            <a:off x="3328416" y="1901952"/>
            <a:ext cx="91440" cy="91440"/>
          </a:xfrm>
          <a:prstGeom prst="line">
            <a:avLst/>
          </a:prstGeom>
          <a:solidFill>
            <a:srgbClr val="854F0B"/>
          </a:solidFill>
          <a:ln w="12700">
            <a:solidFill>
              <a:srgbClr val="854F0B"/>
            </a:solidFill>
            <a:prstDash val="solid"/>
          </a:ln>
        </p:spPr>
        <p:txBody>
          <a:bodyPr/>
          <a:lstStyle/>
          <a:p>
            <a:endParaRPr lang="en-US"/>
          </a:p>
        </p:txBody>
      </p:sp>
      <p:sp>
        <p:nvSpPr>
          <p:cNvPr id="21" name="Text 19"/>
          <p:cNvSpPr/>
          <p:nvPr/>
        </p:nvSpPr>
        <p:spPr>
          <a:xfrm>
            <a:off x="3474720" y="1828800"/>
            <a:ext cx="2414016" cy="530352"/>
          </a:xfrm>
          <a:prstGeom prst="rect">
            <a:avLst/>
          </a:prstGeom>
          <a:noFill/>
          <a:ln/>
        </p:spPr>
        <p:txBody>
          <a:bodyPr wrap="square" lIns="0" tIns="0" rIns="0" bIns="0" rtlCol="0" anchor="t"/>
          <a:lstStyle/>
          <a:p>
            <a:pPr marL="0" indent="0" algn="l">
              <a:buNone/>
            </a:pPr>
            <a:r>
              <a:rPr lang="en-US" sz="1050" dirty="0">
                <a:solidFill>
                  <a:srgbClr val="854F0B"/>
                </a:solidFill>
                <a:latin typeface="Calibri" pitchFamily="34" charset="0"/>
                <a:ea typeface="Calibri" pitchFamily="34" charset="-122"/>
                <a:cs typeface="Calibri" pitchFamily="34" charset="-120"/>
              </a:rPr>
              <a:t>Symptoms new or different from baseline</a:t>
            </a:r>
            <a:endParaRPr lang="en-US" sz="1050" dirty="0"/>
          </a:p>
        </p:txBody>
      </p:sp>
      <p:sp>
        <p:nvSpPr>
          <p:cNvPr id="22" name="Shape 20"/>
          <p:cNvSpPr/>
          <p:nvPr/>
        </p:nvSpPr>
        <p:spPr>
          <a:xfrm>
            <a:off x="3328416" y="2468880"/>
            <a:ext cx="91440" cy="91440"/>
          </a:xfrm>
          <a:prstGeom prst="line">
            <a:avLst/>
          </a:prstGeom>
          <a:solidFill>
            <a:srgbClr val="854F0B"/>
          </a:solidFill>
          <a:ln w="12700">
            <a:solidFill>
              <a:srgbClr val="854F0B"/>
            </a:solidFill>
            <a:prstDash val="solid"/>
          </a:ln>
        </p:spPr>
        <p:txBody>
          <a:bodyPr/>
          <a:lstStyle/>
          <a:p>
            <a:endParaRPr lang="en-US"/>
          </a:p>
        </p:txBody>
      </p:sp>
      <p:sp>
        <p:nvSpPr>
          <p:cNvPr id="23" name="Text 21"/>
          <p:cNvSpPr/>
          <p:nvPr/>
        </p:nvSpPr>
        <p:spPr>
          <a:xfrm>
            <a:off x="3474720" y="2467637"/>
            <a:ext cx="2414016" cy="530352"/>
          </a:xfrm>
          <a:prstGeom prst="rect">
            <a:avLst/>
          </a:prstGeom>
          <a:noFill/>
          <a:ln/>
        </p:spPr>
        <p:txBody>
          <a:bodyPr wrap="square" lIns="0" tIns="0" rIns="0" bIns="0" rtlCol="0" anchor="t"/>
          <a:lstStyle/>
          <a:p>
            <a:pPr marL="0" indent="0" algn="l">
              <a:buNone/>
            </a:pPr>
            <a:r>
              <a:rPr lang="en-US" sz="1050" dirty="0">
                <a:solidFill>
                  <a:srgbClr val="854F0B"/>
                </a:solidFill>
                <a:latin typeface="Calibri" pitchFamily="34" charset="0"/>
                <a:ea typeface="Calibri" pitchFamily="34" charset="-122"/>
                <a:cs typeface="Calibri" pitchFamily="34" charset="-120"/>
              </a:rPr>
              <a:t>Occurring 12 or more times per month</a:t>
            </a:r>
            <a:endParaRPr lang="en-US" sz="1050" dirty="0"/>
          </a:p>
        </p:txBody>
      </p:sp>
      <p:sp>
        <p:nvSpPr>
          <p:cNvPr id="24" name="Shape 22"/>
          <p:cNvSpPr/>
          <p:nvPr/>
        </p:nvSpPr>
        <p:spPr>
          <a:xfrm>
            <a:off x="3328416" y="3035808"/>
            <a:ext cx="91440" cy="91440"/>
          </a:xfrm>
          <a:prstGeom prst="line">
            <a:avLst/>
          </a:prstGeom>
          <a:solidFill>
            <a:srgbClr val="854F0B"/>
          </a:solidFill>
          <a:ln w="12700">
            <a:solidFill>
              <a:srgbClr val="854F0B"/>
            </a:solidFill>
            <a:prstDash val="solid"/>
          </a:ln>
        </p:spPr>
        <p:txBody>
          <a:bodyPr/>
          <a:lstStyle/>
          <a:p>
            <a:endParaRPr lang="en-US"/>
          </a:p>
        </p:txBody>
      </p:sp>
      <p:sp>
        <p:nvSpPr>
          <p:cNvPr id="25" name="Text 23"/>
          <p:cNvSpPr/>
          <p:nvPr/>
        </p:nvSpPr>
        <p:spPr>
          <a:xfrm>
            <a:off x="3474720" y="2962656"/>
            <a:ext cx="2414016" cy="530352"/>
          </a:xfrm>
          <a:prstGeom prst="rect">
            <a:avLst/>
          </a:prstGeom>
          <a:noFill/>
          <a:ln/>
        </p:spPr>
        <p:txBody>
          <a:bodyPr wrap="square" lIns="0" tIns="0" rIns="0" bIns="0" rtlCol="0" anchor="t"/>
          <a:lstStyle/>
          <a:p>
            <a:pPr marL="0" indent="0" algn="l">
              <a:buNone/>
            </a:pPr>
            <a:r>
              <a:rPr lang="en-US" sz="1050" dirty="0">
                <a:solidFill>
                  <a:srgbClr val="854F0B"/>
                </a:solidFill>
                <a:latin typeface="Calibri" pitchFamily="34" charset="0"/>
                <a:ea typeface="Calibri" pitchFamily="34" charset="-122"/>
                <a:cs typeface="Calibri" pitchFamily="34" charset="-120"/>
              </a:rPr>
              <a:t>Bloating, pelvic pain, early satiety, urinary urgency or frequency</a:t>
            </a:r>
            <a:endParaRPr lang="en-US" sz="1050" dirty="0"/>
          </a:p>
        </p:txBody>
      </p:sp>
      <p:sp>
        <p:nvSpPr>
          <p:cNvPr id="26" name="Shape 24"/>
          <p:cNvSpPr/>
          <p:nvPr/>
        </p:nvSpPr>
        <p:spPr>
          <a:xfrm>
            <a:off x="3328416" y="3602736"/>
            <a:ext cx="91440" cy="91440"/>
          </a:xfrm>
          <a:prstGeom prst="line">
            <a:avLst/>
          </a:prstGeom>
          <a:solidFill>
            <a:srgbClr val="854F0B"/>
          </a:solidFill>
          <a:ln w="12700">
            <a:solidFill>
              <a:srgbClr val="854F0B"/>
            </a:solidFill>
            <a:prstDash val="solid"/>
          </a:ln>
        </p:spPr>
        <p:txBody>
          <a:bodyPr/>
          <a:lstStyle/>
          <a:p>
            <a:endParaRPr lang="en-US"/>
          </a:p>
        </p:txBody>
      </p:sp>
      <p:sp>
        <p:nvSpPr>
          <p:cNvPr id="27" name="Text 25"/>
          <p:cNvSpPr/>
          <p:nvPr/>
        </p:nvSpPr>
        <p:spPr>
          <a:xfrm>
            <a:off x="3474720" y="3529584"/>
            <a:ext cx="2414016" cy="530352"/>
          </a:xfrm>
          <a:prstGeom prst="rect">
            <a:avLst/>
          </a:prstGeom>
          <a:noFill/>
          <a:ln/>
        </p:spPr>
        <p:txBody>
          <a:bodyPr wrap="square" lIns="0" tIns="0" rIns="0" bIns="0" rtlCol="0" anchor="t"/>
          <a:lstStyle/>
          <a:p>
            <a:pPr marL="0" indent="0" algn="l">
              <a:buNone/>
            </a:pPr>
            <a:r>
              <a:rPr lang="en-US" sz="1050" dirty="0">
                <a:solidFill>
                  <a:srgbClr val="854F0B"/>
                </a:solidFill>
                <a:latin typeface="Calibri" pitchFamily="34" charset="0"/>
                <a:ea typeface="Calibri" pitchFamily="34" charset="-122"/>
                <a:cs typeface="Calibri" pitchFamily="34" charset="-120"/>
              </a:rPr>
              <a:t>Investigate with: pelvic exam, CA-125, transvaginal ultrasound</a:t>
            </a:r>
            <a:endParaRPr lang="en-US" sz="1050" dirty="0"/>
          </a:p>
        </p:txBody>
      </p:sp>
      <p:sp>
        <p:nvSpPr>
          <p:cNvPr id="28" name="Shape 26"/>
          <p:cNvSpPr/>
          <p:nvPr/>
        </p:nvSpPr>
        <p:spPr>
          <a:xfrm>
            <a:off x="3328416" y="4169664"/>
            <a:ext cx="91440" cy="91440"/>
          </a:xfrm>
          <a:prstGeom prst="line">
            <a:avLst/>
          </a:prstGeom>
          <a:solidFill>
            <a:srgbClr val="854F0B"/>
          </a:solidFill>
          <a:ln w="12700">
            <a:solidFill>
              <a:srgbClr val="854F0B"/>
            </a:solidFill>
            <a:prstDash val="solid"/>
          </a:ln>
        </p:spPr>
        <p:txBody>
          <a:bodyPr/>
          <a:lstStyle/>
          <a:p>
            <a:endParaRPr lang="en-US"/>
          </a:p>
        </p:txBody>
      </p:sp>
      <p:sp>
        <p:nvSpPr>
          <p:cNvPr id="29" name="Text 27"/>
          <p:cNvSpPr/>
          <p:nvPr/>
        </p:nvSpPr>
        <p:spPr>
          <a:xfrm>
            <a:off x="3474720" y="4096512"/>
            <a:ext cx="2414016" cy="530352"/>
          </a:xfrm>
          <a:prstGeom prst="rect">
            <a:avLst/>
          </a:prstGeom>
          <a:noFill/>
          <a:ln/>
        </p:spPr>
        <p:txBody>
          <a:bodyPr wrap="square" lIns="0" tIns="0" rIns="0" bIns="0" rtlCol="0" anchor="t"/>
          <a:lstStyle/>
          <a:p>
            <a:pPr marL="0" indent="0" algn="l">
              <a:buNone/>
            </a:pPr>
            <a:r>
              <a:rPr lang="en-US" sz="1050" dirty="0">
                <a:solidFill>
                  <a:srgbClr val="854F0B"/>
                </a:solidFill>
                <a:latin typeface="Calibri" pitchFamily="34" charset="0"/>
                <a:ea typeface="Calibri" pitchFamily="34" charset="-122"/>
                <a:cs typeface="Calibri" pitchFamily="34" charset="-120"/>
              </a:rPr>
              <a:t>If negative but symptoms persist: reassess, do not just reassure</a:t>
            </a:r>
            <a:endParaRPr lang="en-US" sz="1050" dirty="0"/>
          </a:p>
        </p:txBody>
      </p:sp>
      <p:sp>
        <p:nvSpPr>
          <p:cNvPr id="30" name="Shape 28"/>
          <p:cNvSpPr/>
          <p:nvPr/>
        </p:nvSpPr>
        <p:spPr>
          <a:xfrm>
            <a:off x="6126480" y="1426464"/>
            <a:ext cx="2798064" cy="3310128"/>
          </a:xfrm>
          <a:prstGeom prst="rect">
            <a:avLst/>
          </a:prstGeom>
          <a:solidFill>
            <a:srgbClr val="E1F5EE"/>
          </a:solidFill>
          <a:ln w="12700">
            <a:solidFill>
              <a:srgbClr val="E1F5EE"/>
            </a:solidFill>
            <a:prstDash val="solid"/>
          </a:ln>
        </p:spPr>
        <p:txBody>
          <a:bodyPr/>
          <a:lstStyle/>
          <a:p>
            <a:endParaRPr lang="en-US"/>
          </a:p>
        </p:txBody>
      </p:sp>
      <p:sp>
        <p:nvSpPr>
          <p:cNvPr id="31" name="Shape 29"/>
          <p:cNvSpPr/>
          <p:nvPr/>
        </p:nvSpPr>
        <p:spPr>
          <a:xfrm>
            <a:off x="6126480" y="1426464"/>
            <a:ext cx="2798064" cy="329184"/>
          </a:xfrm>
          <a:prstGeom prst="rect">
            <a:avLst/>
          </a:prstGeom>
          <a:solidFill>
            <a:srgbClr val="0F6E56"/>
          </a:solidFill>
          <a:ln w="12700">
            <a:solidFill>
              <a:srgbClr val="0F6E56"/>
            </a:solidFill>
            <a:prstDash val="solid"/>
          </a:ln>
        </p:spPr>
        <p:txBody>
          <a:bodyPr/>
          <a:lstStyle/>
          <a:p>
            <a:endParaRPr lang="en-US"/>
          </a:p>
        </p:txBody>
      </p:sp>
      <p:sp>
        <p:nvSpPr>
          <p:cNvPr id="32" name="Text 30"/>
          <p:cNvSpPr/>
          <p:nvPr/>
        </p:nvSpPr>
        <p:spPr>
          <a:xfrm>
            <a:off x="6236208" y="1481328"/>
            <a:ext cx="2615184"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What to say</a:t>
            </a:r>
            <a:endParaRPr lang="en-US" sz="1100" dirty="0"/>
          </a:p>
        </p:txBody>
      </p:sp>
      <p:sp>
        <p:nvSpPr>
          <p:cNvPr id="33" name="Shape 31"/>
          <p:cNvSpPr/>
          <p:nvPr/>
        </p:nvSpPr>
        <p:spPr>
          <a:xfrm>
            <a:off x="6254496" y="1901952"/>
            <a:ext cx="91440" cy="91440"/>
          </a:xfrm>
          <a:prstGeom prst="line">
            <a:avLst/>
          </a:prstGeom>
          <a:solidFill>
            <a:srgbClr val="0F6E56"/>
          </a:solidFill>
          <a:ln w="12700">
            <a:solidFill>
              <a:srgbClr val="0F6E56"/>
            </a:solidFill>
            <a:prstDash val="solid"/>
          </a:ln>
        </p:spPr>
        <p:txBody>
          <a:bodyPr/>
          <a:lstStyle/>
          <a:p>
            <a:endParaRPr lang="en-US"/>
          </a:p>
        </p:txBody>
      </p:sp>
      <p:sp>
        <p:nvSpPr>
          <p:cNvPr id="34" name="Text 32"/>
          <p:cNvSpPr/>
          <p:nvPr/>
        </p:nvSpPr>
        <p:spPr>
          <a:xfrm>
            <a:off x="6400800" y="1828800"/>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"There is no reliable screening test, this is based on evidence, not a gap in care"</a:t>
            </a:r>
            <a:endParaRPr lang="en-US" sz="1050" dirty="0"/>
          </a:p>
        </p:txBody>
      </p:sp>
      <p:sp>
        <p:nvSpPr>
          <p:cNvPr id="35" name="Shape 33"/>
          <p:cNvSpPr/>
          <p:nvPr/>
        </p:nvSpPr>
        <p:spPr>
          <a:xfrm>
            <a:off x="6254496" y="2468880"/>
            <a:ext cx="91440" cy="91440"/>
          </a:xfrm>
          <a:prstGeom prst="line">
            <a:avLst/>
          </a:prstGeom>
          <a:solidFill>
            <a:srgbClr val="0F6E56"/>
          </a:solidFill>
          <a:ln w="12700">
            <a:solidFill>
              <a:srgbClr val="0F6E56"/>
            </a:solidFill>
            <a:prstDash val="solid"/>
          </a:ln>
        </p:spPr>
        <p:txBody>
          <a:bodyPr/>
          <a:lstStyle/>
          <a:p>
            <a:endParaRPr lang="en-US"/>
          </a:p>
        </p:txBody>
      </p:sp>
      <p:sp>
        <p:nvSpPr>
          <p:cNvPr id="36" name="Text 34"/>
          <p:cNvSpPr/>
          <p:nvPr/>
        </p:nvSpPr>
        <p:spPr>
          <a:xfrm>
            <a:off x="6400800" y="2395728"/>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"Your Pap test was for your cervix, it tells us nothing about your ovaries"</a:t>
            </a:r>
            <a:endParaRPr lang="en-US" sz="1050" dirty="0"/>
          </a:p>
        </p:txBody>
      </p:sp>
      <p:sp>
        <p:nvSpPr>
          <p:cNvPr id="37" name="Shape 35"/>
          <p:cNvSpPr/>
          <p:nvPr/>
        </p:nvSpPr>
        <p:spPr>
          <a:xfrm>
            <a:off x="6254496" y="3035808"/>
            <a:ext cx="91440" cy="91440"/>
          </a:xfrm>
          <a:prstGeom prst="line">
            <a:avLst/>
          </a:prstGeom>
          <a:solidFill>
            <a:srgbClr val="0F6E56"/>
          </a:solidFill>
          <a:ln w="12700">
            <a:solidFill>
              <a:srgbClr val="0F6E56"/>
            </a:solidFill>
            <a:prstDash val="solid"/>
          </a:ln>
        </p:spPr>
        <p:txBody>
          <a:bodyPr/>
          <a:lstStyle/>
          <a:p>
            <a:endParaRPr lang="en-US"/>
          </a:p>
        </p:txBody>
      </p:sp>
      <p:sp>
        <p:nvSpPr>
          <p:cNvPr id="38" name="Text 36"/>
          <p:cNvSpPr/>
          <p:nvPr/>
        </p:nvSpPr>
        <p:spPr>
          <a:xfrm>
            <a:off x="6400800" y="2962656"/>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"CA-125 is for investigating symptoms, not for routine checks"</a:t>
            </a:r>
            <a:endParaRPr lang="en-US" sz="1050" dirty="0"/>
          </a:p>
        </p:txBody>
      </p:sp>
      <p:sp>
        <p:nvSpPr>
          <p:cNvPr id="39" name="Shape 37"/>
          <p:cNvSpPr/>
          <p:nvPr/>
        </p:nvSpPr>
        <p:spPr>
          <a:xfrm>
            <a:off x="6254496" y="3602736"/>
            <a:ext cx="91440" cy="91440"/>
          </a:xfrm>
          <a:prstGeom prst="line">
            <a:avLst/>
          </a:prstGeom>
          <a:solidFill>
            <a:srgbClr val="0F6E56"/>
          </a:solidFill>
          <a:ln w="12700">
            <a:solidFill>
              <a:srgbClr val="0F6E56"/>
            </a:solidFill>
            <a:prstDash val="solid"/>
          </a:ln>
        </p:spPr>
        <p:txBody>
          <a:bodyPr/>
          <a:lstStyle/>
          <a:p>
            <a:endParaRPr lang="en-US"/>
          </a:p>
        </p:txBody>
      </p:sp>
      <p:sp>
        <p:nvSpPr>
          <p:cNvPr id="40" name="Text 38"/>
          <p:cNvSpPr/>
          <p:nvPr/>
        </p:nvSpPr>
        <p:spPr>
          <a:xfrm>
            <a:off x="6400800" y="3529584"/>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"If these symptoms continue, come back we will look at this again"</a:t>
            </a:r>
            <a:endParaRPr lang="en-US" sz="1050" dirty="0"/>
          </a:p>
        </p:txBody>
      </p:sp>
      <p:sp>
        <p:nvSpPr>
          <p:cNvPr id="41" name="Shape 39"/>
          <p:cNvSpPr/>
          <p:nvPr/>
        </p:nvSpPr>
        <p:spPr>
          <a:xfrm>
            <a:off x="6254496" y="4169664"/>
            <a:ext cx="91440" cy="91440"/>
          </a:xfrm>
          <a:prstGeom prst="line">
            <a:avLst/>
          </a:prstGeom>
          <a:solidFill>
            <a:srgbClr val="0F6E56"/>
          </a:solidFill>
          <a:ln w="12700">
            <a:solidFill>
              <a:srgbClr val="0F6E56"/>
            </a:solidFill>
            <a:prstDash val="solid"/>
          </a:ln>
        </p:spPr>
        <p:txBody>
          <a:bodyPr/>
          <a:lstStyle/>
          <a:p>
            <a:endParaRPr lang="en-US"/>
          </a:p>
        </p:txBody>
      </p:sp>
      <p:sp>
        <p:nvSpPr>
          <p:cNvPr id="42" name="Text 40"/>
          <p:cNvSpPr/>
          <p:nvPr/>
        </p:nvSpPr>
        <p:spPr>
          <a:xfrm>
            <a:off x="6400800" y="4096512"/>
            <a:ext cx="2414016" cy="530352"/>
          </a:xfrm>
          <a:prstGeom prst="rect">
            <a:avLst/>
          </a:prstGeom>
          <a:noFill/>
          <a:ln/>
        </p:spPr>
        <p:txBody>
          <a:bodyPr wrap="square" lIns="0" tIns="0" rIns="0" bIns="0" rtlCol="0" anchor="t"/>
          <a:lstStyle/>
          <a:p>
            <a:pPr marL="0" indent="0" algn="l">
              <a:buNone/>
            </a:pPr>
            <a:r>
              <a:rPr lang="en-US" sz="1050" dirty="0">
                <a:solidFill>
                  <a:srgbClr val="0F6E56"/>
                </a:solidFill>
                <a:latin typeface="Calibri" pitchFamily="34" charset="0"/>
                <a:ea typeface="Calibri" pitchFamily="34" charset="-122"/>
                <a:cs typeface="Calibri" pitchFamily="34" charset="-120"/>
              </a:rPr>
              <a:t>Validate concern before correcting the misconception</a:t>
            </a:r>
            <a:endParaRPr lang="en-US" sz="1050" dirty="0"/>
          </a:p>
        </p:txBody>
      </p:sp>
      <p:sp>
        <p:nvSpPr>
          <p:cNvPr id="43" name="Shape 41"/>
          <p:cNvSpPr/>
          <p:nvPr/>
        </p:nvSpPr>
        <p:spPr>
          <a:xfrm>
            <a:off x="0" y="4809744"/>
            <a:ext cx="9144000" cy="338328"/>
          </a:xfrm>
          <a:prstGeom prst="rect">
            <a:avLst/>
          </a:prstGeom>
          <a:solidFill>
            <a:srgbClr val="053D30"/>
          </a:solidFill>
          <a:ln w="12700">
            <a:solidFill>
              <a:srgbClr val="053D30"/>
            </a:solidFill>
            <a:prstDash val="solid"/>
          </a:ln>
        </p:spPr>
        <p:txBody>
          <a:bodyPr/>
          <a:lstStyle/>
          <a:p>
            <a:endParaRPr lang="en-US"/>
          </a:p>
        </p:txBody>
      </p:sp>
      <p:sp>
        <p:nvSpPr>
          <p:cNvPr id="44" name="Text 42"/>
          <p:cNvSpPr/>
          <p:nvPr/>
        </p:nvSpPr>
        <p:spPr>
          <a:xfrm>
            <a:off x="411480" y="4837176"/>
            <a:ext cx="8321040" cy="256032"/>
          </a:xfrm>
          <a:prstGeom prst="rect">
            <a:avLst/>
          </a:prstGeom>
          <a:noFill/>
          <a:ln/>
        </p:spPr>
        <p:txBody>
          <a:bodyPr wrap="square" lIns="0" tIns="0" rIns="0" bIns="0" rtlCol="0" anchor="ctr"/>
          <a:lstStyle/>
          <a:p>
            <a:pPr marL="0" indent="0" algn="l">
              <a:buNone/>
            </a:pPr>
            <a:r>
              <a:rPr lang="en-US" sz="850" dirty="0">
                <a:solidFill>
                  <a:srgbClr val="7BBFAA"/>
                </a:solidFill>
                <a:latin typeface="Calibri" pitchFamily="34" charset="0"/>
                <a:ea typeface="Calibri" pitchFamily="34" charset="-122"/>
                <a:cs typeface="Calibri" pitchFamily="34" charset="-120"/>
              </a:rPr>
              <a:t>Print this slide and laminate for the consultation room. Based on ACOG 716, NICE NG12, and scoping review findings (AHCP Capstone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1745</Words>
  <Application>Microsoft Macintosh PowerPoint</Application>
  <PresentationFormat>On-screen Show (16:9)</PresentationFormat>
  <Paragraphs>145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Clinician Conversation Guide: Ovarian Cancer Detection</dc:title>
  <dc:subject>PptxGenJS Presentation</dc:subject>
  <dc:creator>AHCP Capstone Project</dc:creator>
  <cp:lastModifiedBy>dana haidar</cp:lastModifiedBy>
  <cp:revision>8</cp:revision>
  <dcterms:created xsi:type="dcterms:W3CDTF">2026-05-22T02:27:48Z</dcterms:created>
  <dcterms:modified xsi:type="dcterms:W3CDTF">2026-06-21T17:10:03Z</dcterms:modified>
</cp:coreProperties>
</file>